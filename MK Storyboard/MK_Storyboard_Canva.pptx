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14662404" cy="868680"/>
          </a:xfrm>
          <a:prstGeom prst="roundRect">
            <a:avLst>
              <a:gd name="adj" fmla="val 8421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92608"/>
            <a:ext cx="960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292608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ใส่โลโก้ MK</a:t>
            </a:r>
            <a:endParaRPr lang="th-TH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46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MK Restaurant Group  </a:t>
            </a:r>
            <a:pPr indent="0" marL="0">
              <a:buNone/>
            </a:pPr>
            <a:r>
              <a:rPr lang="th-TH" altLang="en-US" sz="2100" b="1" dirty="0">
                <a:solidFill>
                  <a:srgbClr val="F7C87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Strategy Storyboard 2569–2573</a:t>
            </a:r>
            <a:endParaRPr lang="th-TH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713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dirty="0">
                <a:solidFill>
                  <a:srgbClr val="FBE3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ฟื้นฟูกำไรก่อน แล้วจึงเติบโต: กลยุทธ์ฟื้นฟู (Turnaround) ปี 2569–2571 → เติบโตในแนวนอน (Horizontal Growth) ปี 2572–2573</a:t>
            </a:r>
            <a:endParaRPr lang="th-TH" sz="1100" dirty="0"/>
          </a:p>
        </p:txBody>
      </p:sp>
      <p:sp>
        <p:nvSpPr>
          <p:cNvPr id="7" name="Shape 5"/>
          <p:cNvSpPr/>
          <p:nvPr/>
        </p:nvSpPr>
        <p:spPr>
          <a:xfrm>
            <a:off x="9281160" y="4754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7E1414"/>
          </a:solidFill>
          <a:ln w="9525">
            <a:solidFill>
              <a:srgbClr val="F7C8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81160" y="475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 สถานการณ์</a:t>
            </a:r>
            <a:endParaRPr lang="th-TH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22408" y="457200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rgbClr val="F7C87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›</a:t>
            </a:r>
            <a:endParaRPr lang="th-TH" sz="1300" dirty="0"/>
          </a:p>
        </p:txBody>
      </p:sp>
      <p:sp>
        <p:nvSpPr>
          <p:cNvPr id="10" name="Shape 8"/>
          <p:cNvSpPr/>
          <p:nvPr/>
        </p:nvSpPr>
        <p:spPr>
          <a:xfrm>
            <a:off x="10213848" y="4754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B33A33"/>
          </a:solidFill>
          <a:ln w="9525">
            <a:solidFill>
              <a:srgbClr val="F7C8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13848" y="475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 SFAS</a:t>
            </a:r>
            <a:endParaRPr lang="th-TH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55096" y="457200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rgbClr val="F7C87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›</a:t>
            </a:r>
            <a:endParaRPr lang="th-TH" sz="1300" dirty="0"/>
          </a:p>
        </p:txBody>
      </p:sp>
      <p:sp>
        <p:nvSpPr>
          <p:cNvPr id="13" name="Shape 11"/>
          <p:cNvSpPr/>
          <p:nvPr/>
        </p:nvSpPr>
        <p:spPr>
          <a:xfrm>
            <a:off x="11146536" y="4754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7E1414"/>
          </a:solidFill>
          <a:ln w="9525">
            <a:solidFill>
              <a:srgbClr val="F7C8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46536" y="475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 TOWS</a:t>
            </a:r>
            <a:endParaRPr lang="th-TH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987784" y="457200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rgbClr val="F7C87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›</a:t>
            </a:r>
            <a:endParaRPr lang="th-TH" sz="1300" dirty="0"/>
          </a:p>
        </p:txBody>
      </p:sp>
      <p:sp>
        <p:nvSpPr>
          <p:cNvPr id="16" name="Shape 14"/>
          <p:cNvSpPr/>
          <p:nvPr/>
        </p:nvSpPr>
        <p:spPr>
          <a:xfrm>
            <a:off x="12079224" y="4754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B33A33"/>
          </a:solidFill>
          <a:ln w="9525">
            <a:solidFill>
              <a:srgbClr val="F7C8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9224" y="475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 กลยุทธ์</a:t>
            </a:r>
            <a:endParaRPr lang="th-TH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920472" y="457200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rgbClr val="F7C87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›</a:t>
            </a:r>
            <a:endParaRPr lang="th-TH" sz="1300" dirty="0"/>
          </a:p>
        </p:txBody>
      </p:sp>
      <p:sp>
        <p:nvSpPr>
          <p:cNvPr id="19" name="Shape 17"/>
          <p:cNvSpPr/>
          <p:nvPr/>
        </p:nvSpPr>
        <p:spPr>
          <a:xfrm>
            <a:off x="13011912" y="4754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7E1414"/>
          </a:solidFill>
          <a:ln w="9525">
            <a:solidFill>
              <a:srgbClr val="F7C8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011912" y="475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 ประเมินผล</a:t>
            </a:r>
            <a:endParaRPr lang="th-TH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3853160" y="457200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rgbClr val="F7C87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›</a:t>
            </a:r>
            <a:endParaRPr lang="th-TH" sz="1300" dirty="0"/>
          </a:p>
        </p:txBody>
      </p:sp>
      <p:sp>
        <p:nvSpPr>
          <p:cNvPr id="22" name="Shape 20"/>
          <p:cNvSpPr/>
          <p:nvPr/>
        </p:nvSpPr>
        <p:spPr>
          <a:xfrm>
            <a:off x="13944600" y="4754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B33A33"/>
          </a:solidFill>
          <a:ln w="9525">
            <a:solidFill>
              <a:srgbClr val="F7C87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944600" y="4754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 ประมาณการ</a:t>
            </a:r>
            <a:endParaRPr lang="th-TH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1207008"/>
            <a:ext cx="370332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1207008"/>
            <a:ext cx="3703320" cy="384048"/>
          </a:xfrm>
          <a:prstGeom prst="roundRect">
            <a:avLst>
              <a:gd name="adj" fmla="val 19048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1435608"/>
            <a:ext cx="3703320" cy="155448"/>
          </a:xfrm>
          <a:prstGeom prst="rect">
            <a:avLst/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12252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วิสัยทัศน์ &amp; พันธกิจ</a:t>
            </a:r>
            <a:endParaRPr lang="th-TH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1664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วิสัยทัศน์ (คงไว้)</a:t>
            </a:r>
            <a:endParaRPr lang="th-TH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18470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“เติมเต็มความสุขให้ทุกครอบครัว”</a:t>
            </a:r>
            <a:endParaRPr lang="th-TH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21579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พันธกิจ (เพิ่มแนวทางเชื่อมกับการดำเนินธุรกิจ)</a:t>
            </a:r>
            <a:endParaRPr lang="th-TH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23500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อาหารและบริการคุณภาพ ปลอดภัย คุ้มค่า มีทางเลือกเพื่อสุขภาพ</a:t>
            </a:r>
            <a:endParaRPr lang="th-TH" sz="9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ประสบการณ์ที่น่าจดจำผ่านแบรนด์ในเครือ ทั้งหน้าร้านและออนไลน์</a:t>
            </a:r>
            <a:endParaRPr lang="th-TH" sz="9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ใช้เทคโนโลยี ข้อมูล และทรัพยากรร่วมกัน ลดความสูญเสีย</a:t>
            </a:r>
            <a:endParaRPr lang="th-TH" sz="9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พัฒนาบุคลากรอย่างเป็นธรรม พร้อมรับการเปลี่ยนแปลง</a:t>
            </a:r>
            <a:endParaRPr lang="th-TH" sz="9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ลงทุนรอบคอบ รับผิดชอบต่อสังคมและสิ่งแวดล้อม</a:t>
            </a:r>
            <a:endParaRPr lang="th-TH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255264"/>
            <a:ext cx="370332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255264"/>
            <a:ext cx="3703320" cy="384048"/>
          </a:xfrm>
          <a:prstGeom prst="roundRect">
            <a:avLst>
              <a:gd name="adj" fmla="val 19048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483864"/>
            <a:ext cx="3703320" cy="155448"/>
          </a:xfrm>
          <a:prstGeom prst="rect">
            <a:avLst/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" y="3273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สถานการณ์ปัจจุบัน (ปี 2568)</a:t>
            </a:r>
            <a:endParaRPr lang="th-TH" sz="1400" dirty="0"/>
          </a:p>
        </p:txBody>
      </p:sp>
      <p:sp>
        <p:nvSpPr>
          <p:cNvPr id="36" name="Shape 34"/>
          <p:cNvSpPr/>
          <p:nvPr/>
        </p:nvSpPr>
        <p:spPr>
          <a:xfrm>
            <a:off x="338328" y="372160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3192" y="37490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15,109</a:t>
            </a:r>
            <a:pPr indent="0" marL="0">
              <a:buNone/>
            </a:pPr>
            <a:r>
              <a:rPr lang="th-TH" altLang="en-US" sz="8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ล้านบาท</a:t>
            </a:r>
            <a:endParaRPr lang="th-TH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93192" y="405079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รายได้จากการขายและบริการ</a:t>
            </a:r>
            <a:endParaRPr lang="th-TH" sz="750" dirty="0"/>
          </a:p>
        </p:txBody>
      </p:sp>
      <p:sp>
        <p:nvSpPr>
          <p:cNvPr id="39" name="Shape 37"/>
          <p:cNvSpPr/>
          <p:nvPr/>
        </p:nvSpPr>
        <p:spPr>
          <a:xfrm>
            <a:off x="1517904" y="372160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BE9E7"/>
          </a:solidFill>
          <a:ln w="9525">
            <a:solidFill>
              <a:srgbClr val="FBE9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572768" y="37490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838</a:t>
            </a:r>
            <a:pPr indent="0" marL="0">
              <a:buNone/>
            </a:pPr>
            <a:r>
              <a:rPr lang="th-TH" altLang="en-US" sz="8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ล้านบาท</a:t>
            </a:r>
            <a:endParaRPr lang="th-TH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572768" y="405079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กำไรส่วนบริษัทใหญ่ (2566: 1,682)</a:t>
            </a:r>
            <a:endParaRPr lang="th-TH" sz="750" dirty="0"/>
          </a:p>
        </p:txBody>
      </p:sp>
      <p:sp>
        <p:nvSpPr>
          <p:cNvPr id="42" name="Shape 40"/>
          <p:cNvSpPr/>
          <p:nvPr/>
        </p:nvSpPr>
        <p:spPr>
          <a:xfrm>
            <a:off x="2697480" y="372160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BE9E7"/>
          </a:solidFill>
          <a:ln w="9525">
            <a:solidFill>
              <a:srgbClr val="FBE9E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52344" y="37490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64.6%</a:t>
            </a:r>
            <a:pPr indent="0" marL="0">
              <a:buNone/>
            </a:pPr>
            <a:endParaRPr lang="th-TH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752344" y="405079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อัตรากำไรขั้นต้น (จาก 67.4%)</a:t>
            </a:r>
            <a:endParaRPr lang="th-TH" sz="750" dirty="0"/>
          </a:p>
        </p:txBody>
      </p:sp>
      <p:sp>
        <p:nvSpPr>
          <p:cNvPr id="45" name="Shape 43"/>
          <p:cNvSpPr/>
          <p:nvPr/>
        </p:nvSpPr>
        <p:spPr>
          <a:xfrm>
            <a:off x="338328" y="447141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BE9E7"/>
          </a:solidFill>
          <a:ln w="9525">
            <a:solidFill>
              <a:srgbClr val="FBE9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3192" y="449884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−2.8%</a:t>
            </a:r>
            <a:pPr indent="0" marL="0">
              <a:buNone/>
            </a:pPr>
            <a:endParaRPr lang="th-TH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393192" y="480060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ยอดขายสาขาเดิม</a:t>
            </a:r>
            <a:endParaRPr lang="th-TH" sz="750" dirty="0"/>
          </a:p>
        </p:txBody>
      </p:sp>
      <p:sp>
        <p:nvSpPr>
          <p:cNvPr id="48" name="Shape 46"/>
          <p:cNvSpPr/>
          <p:nvPr/>
        </p:nvSpPr>
        <p:spPr>
          <a:xfrm>
            <a:off x="1517904" y="447141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572768" y="449884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689</a:t>
            </a:r>
            <a:pPr indent="0" marL="0">
              <a:buNone/>
            </a:pPr>
            <a:r>
              <a:rPr lang="th-TH" altLang="en-US" sz="8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สาขา</a:t>
            </a:r>
            <a:endParaRPr lang="th-TH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572768" y="480060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ร้านอาหารในเครือ ณ สิ้นปี</a:t>
            </a:r>
            <a:endParaRPr lang="th-TH" sz="750" dirty="0"/>
          </a:p>
        </p:txBody>
      </p:sp>
      <p:sp>
        <p:nvSpPr>
          <p:cNvPr id="51" name="Shape 49"/>
          <p:cNvSpPr/>
          <p:nvPr/>
        </p:nvSpPr>
        <p:spPr>
          <a:xfrm>
            <a:off x="2697480" y="447141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752344" y="449884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0.4</a:t>
            </a:r>
            <a:pPr indent="0" marL="0">
              <a:buNone/>
            </a:pPr>
            <a:r>
              <a:rPr lang="th-TH" altLang="en-US" sz="8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เท่า</a:t>
            </a:r>
            <a:endParaRPr lang="th-TH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2752344" y="480060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D/E · CFO 2,542 ล้านบาท</a:t>
            </a:r>
            <a:endParaRPr lang="th-TH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365760" y="52395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9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ครึ่งแรกปี 2569: </a:t>
            </a:r>
            <a:pPr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ยอดขาย +12.4% แต่กำไร −24% (GM 61.9%)</a:t>
            </a:r>
            <a:endParaRPr lang="th-TH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557784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5577840"/>
            <a:ext cx="3703320" cy="384048"/>
          </a:xfrm>
          <a:prstGeom prst="roundRect">
            <a:avLst>
              <a:gd name="adj" fmla="val 19048"/>
            </a:avLst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5806440"/>
            <a:ext cx="3703320" cy="155448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" y="564184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38328" y="5641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th-TH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67512" y="55961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SFAS ปัจจัยเชิงกลยุทธ์</a:t>
            </a:r>
            <a:endParaRPr lang="th-TH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365760" y="6035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ปัจจัย</a:t>
            </a:r>
            <a:endParaRPr lang="th-TH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2624328" y="6035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</a:t>
            </a:r>
            <a:endParaRPr lang="th-TH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2953512" y="6035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</a:t>
            </a:r>
            <a:endParaRPr lang="th-TH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3246120" y="6035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WS</a:t>
            </a:r>
            <a:endParaRPr lang="th-TH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3502152" y="6035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ระยะ</a:t>
            </a:r>
            <a:endParaRPr lang="th-TH" sz="850" dirty="0"/>
          </a:p>
        </p:txBody>
      </p:sp>
      <p:sp>
        <p:nvSpPr>
          <p:cNvPr id="66" name="Shape 64"/>
          <p:cNvSpPr/>
          <p:nvPr/>
        </p:nvSpPr>
        <p:spPr>
          <a:xfrm>
            <a:off x="338328" y="6254496"/>
            <a:ext cx="3483864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" y="6281928"/>
            <a:ext cx="3520440" cy="301752"/>
          </a:xfrm>
          <a:prstGeom prst="rect">
            <a:avLst/>
          </a:prstGeom>
          <a:solidFill>
            <a:srgbClr val="FAF7F3"/>
          </a:solidFill>
          <a:ln w="9525">
            <a:solidFill>
              <a:srgbClr val="FAF7F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6336792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65760" y="63367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S3</a:t>
            </a:r>
            <a:endParaRPr lang="th-TH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740664" y="63002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ครัวกลางและจัดซื้อรวมศูนย์</a:t>
            </a:r>
            <a:endParaRPr lang="th-TH" sz="860" dirty="0"/>
          </a:p>
        </p:txBody>
      </p:sp>
      <p:sp>
        <p:nvSpPr>
          <p:cNvPr id="71" name="Text 69"/>
          <p:cNvSpPr txBox="1"/>
          <p:nvPr/>
        </p:nvSpPr>
        <p:spPr>
          <a:xfrm>
            <a:off x="2624328" y="6300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.10</a:t>
            </a:r>
            <a:endParaRPr lang="th-TH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2953512" y="6300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th-TH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3246120" y="6300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.40</a:t>
            </a:r>
            <a:endParaRPr lang="th-TH" sz="900" dirty="0"/>
          </a:p>
        </p:txBody>
      </p:sp>
      <p:sp>
        <p:nvSpPr>
          <p:cNvPr id="74" name="Shape 72"/>
          <p:cNvSpPr/>
          <p:nvPr/>
        </p:nvSpPr>
        <p:spPr>
          <a:xfrm>
            <a:off x="3611880" y="6345936"/>
            <a:ext cx="182880" cy="18288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611880" y="6345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</a:t>
            </a:r>
            <a:endParaRPr lang="th-TH" sz="700" dirty="0"/>
          </a:p>
        </p:txBody>
      </p:sp>
      <p:sp>
        <p:nvSpPr>
          <p:cNvPr id="76" name="Shape 74"/>
          <p:cNvSpPr/>
          <p:nvPr/>
        </p:nvSpPr>
        <p:spPr>
          <a:xfrm>
            <a:off x="365760" y="6643116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65760" y="664311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S1</a:t>
            </a:r>
            <a:endParaRPr lang="th-TH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740664" y="66065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แบรนด์หลักเป็นที่รู้จักยาวนาน</a:t>
            </a:r>
            <a:endParaRPr lang="th-TH" sz="860" dirty="0"/>
          </a:p>
        </p:txBody>
      </p:sp>
      <p:sp>
        <p:nvSpPr>
          <p:cNvPr id="79" name="Text 77"/>
          <p:cNvSpPr txBox="1"/>
          <p:nvPr/>
        </p:nvSpPr>
        <p:spPr>
          <a:xfrm>
            <a:off x="2624328" y="66065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.08</a:t>
            </a:r>
            <a:endParaRPr lang="th-TH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2953512" y="66065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th-TH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3246120" y="66065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.32</a:t>
            </a:r>
            <a:endParaRPr lang="th-TH" sz="900" dirty="0"/>
          </a:p>
        </p:txBody>
      </p:sp>
      <p:sp>
        <p:nvSpPr>
          <p:cNvPr id="82" name="Shape 80"/>
          <p:cNvSpPr/>
          <p:nvPr/>
        </p:nvSpPr>
        <p:spPr>
          <a:xfrm>
            <a:off x="3611880" y="6652260"/>
            <a:ext cx="182880" cy="18288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11880" y="6652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</a:t>
            </a:r>
            <a:endParaRPr lang="th-TH" sz="700" dirty="0"/>
          </a:p>
        </p:txBody>
      </p:sp>
      <p:sp>
        <p:nvSpPr>
          <p:cNvPr id="84" name="Shape 82"/>
          <p:cNvSpPr/>
          <p:nvPr/>
        </p:nvSpPr>
        <p:spPr>
          <a:xfrm>
            <a:off x="320040" y="6894576"/>
            <a:ext cx="3520440" cy="301752"/>
          </a:xfrm>
          <a:prstGeom prst="rect">
            <a:avLst/>
          </a:prstGeom>
          <a:solidFill>
            <a:srgbClr val="FAF7F3"/>
          </a:solidFill>
          <a:ln w="9525">
            <a:solidFill>
              <a:srgbClr val="FAF7F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5760" y="6949440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65760" y="69494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S2</a:t>
            </a:r>
            <a:endParaRPr lang="th-TH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740664" y="6912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เครือข่ายร้านหลายแบรนด์ทั่วประเทศ</a:t>
            </a:r>
            <a:endParaRPr lang="th-TH" sz="860" dirty="0"/>
          </a:p>
        </p:txBody>
      </p:sp>
      <p:sp>
        <p:nvSpPr>
          <p:cNvPr id="88" name="Text 86"/>
          <p:cNvSpPr txBox="1"/>
          <p:nvPr/>
        </p:nvSpPr>
        <p:spPr>
          <a:xfrm>
            <a:off x="2624328" y="69128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.07</a:t>
            </a:r>
            <a:endParaRPr lang="th-TH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2953512" y="69128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th-TH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3246120" y="69128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.21</a:t>
            </a:r>
            <a:endParaRPr lang="th-TH" sz="900" dirty="0"/>
          </a:p>
        </p:txBody>
      </p:sp>
      <p:sp>
        <p:nvSpPr>
          <p:cNvPr id="91" name="Shape 89"/>
          <p:cNvSpPr/>
          <p:nvPr/>
        </p:nvSpPr>
        <p:spPr>
          <a:xfrm>
            <a:off x="3611880" y="6958584"/>
            <a:ext cx="182880" cy="18288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611880" y="6958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</a:t>
            </a:r>
            <a:endParaRPr lang="th-TH" sz="700" dirty="0"/>
          </a:p>
        </p:txBody>
      </p:sp>
      <p:sp>
        <p:nvSpPr>
          <p:cNvPr id="93" name="Shape 91"/>
          <p:cNvSpPr/>
          <p:nvPr/>
        </p:nvSpPr>
        <p:spPr>
          <a:xfrm>
            <a:off x="365760" y="7255764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65760" y="72557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W3</a:t>
            </a:r>
            <a:endParaRPr lang="th-TH" sz="800" dirty="0"/>
          </a:p>
        </p:txBody>
      </p:sp>
      <p:sp>
        <p:nvSpPr>
          <p:cNvPr id="95" name="Text 93"/>
          <p:cNvSpPr txBox="1"/>
          <p:nvPr/>
        </p:nvSpPr>
        <p:spPr>
          <a:xfrm>
            <a:off x="740664" y="72191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ค่าใช้จ่ายประจำสาขาและพนักงานสูง</a:t>
            </a:r>
            <a:endParaRPr lang="th-TH" sz="860" dirty="0"/>
          </a:p>
        </p:txBody>
      </p:sp>
      <p:sp>
        <p:nvSpPr>
          <p:cNvPr id="96" name="Text 94"/>
          <p:cNvSpPr txBox="1"/>
          <p:nvPr/>
        </p:nvSpPr>
        <p:spPr>
          <a:xfrm>
            <a:off x="2624328" y="72191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.10</a:t>
            </a:r>
            <a:endParaRPr lang="th-TH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2953512" y="72191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th-TH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3246120" y="72191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.20</a:t>
            </a:r>
            <a:endParaRPr lang="th-TH" sz="900" dirty="0"/>
          </a:p>
        </p:txBody>
      </p:sp>
      <p:sp>
        <p:nvSpPr>
          <p:cNvPr id="99" name="Shape 97"/>
          <p:cNvSpPr/>
          <p:nvPr/>
        </p:nvSpPr>
        <p:spPr>
          <a:xfrm>
            <a:off x="3611880" y="7264908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611880" y="7264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</a:t>
            </a:r>
            <a:endParaRPr lang="th-TH" sz="700" dirty="0"/>
          </a:p>
        </p:txBody>
      </p:sp>
      <p:sp>
        <p:nvSpPr>
          <p:cNvPr id="101" name="Shape 99"/>
          <p:cNvSpPr/>
          <p:nvPr/>
        </p:nvSpPr>
        <p:spPr>
          <a:xfrm>
            <a:off x="320040" y="7507224"/>
            <a:ext cx="3520440" cy="301752"/>
          </a:xfrm>
          <a:prstGeom prst="rect">
            <a:avLst/>
          </a:prstGeom>
          <a:solidFill>
            <a:srgbClr val="FAF7F3"/>
          </a:solidFill>
          <a:ln w="9525">
            <a:solidFill>
              <a:srgbClr val="FAF7F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5760" y="7562088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65760" y="756208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W4</a:t>
            </a:r>
            <a:endParaRPr lang="th-TH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740664" y="7525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อัตรากำไรภายใต้บุฟเฟต์ยังจำกัด</a:t>
            </a:r>
            <a:endParaRPr lang="th-TH" sz="860" dirty="0"/>
          </a:p>
        </p:txBody>
      </p:sp>
      <p:sp>
        <p:nvSpPr>
          <p:cNvPr id="105" name="Text 103"/>
          <p:cNvSpPr txBox="1"/>
          <p:nvPr/>
        </p:nvSpPr>
        <p:spPr>
          <a:xfrm>
            <a:off x="2624328" y="75255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.12</a:t>
            </a:r>
            <a:endParaRPr lang="th-TH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2953512" y="75255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th-TH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3246120" y="75255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.12</a:t>
            </a:r>
            <a:endParaRPr lang="th-TH" sz="900" dirty="0"/>
          </a:p>
        </p:txBody>
      </p:sp>
      <p:sp>
        <p:nvSpPr>
          <p:cNvPr id="108" name="Shape 106"/>
          <p:cNvSpPr/>
          <p:nvPr/>
        </p:nvSpPr>
        <p:spPr>
          <a:xfrm>
            <a:off x="3611880" y="7571232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611880" y="7571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</a:t>
            </a:r>
            <a:endParaRPr lang="th-TH" sz="700" dirty="0"/>
          </a:p>
        </p:txBody>
      </p:sp>
      <p:sp>
        <p:nvSpPr>
          <p:cNvPr id="110" name="Shape 108"/>
          <p:cNvSpPr/>
          <p:nvPr/>
        </p:nvSpPr>
        <p:spPr>
          <a:xfrm>
            <a:off x="365760" y="7868412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65760" y="786841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W1</a:t>
            </a:r>
            <a:endParaRPr lang="th-TH" sz="800" dirty="0"/>
          </a:p>
        </p:txBody>
      </p:sp>
      <p:sp>
        <p:nvSpPr>
          <p:cNvPr id="112" name="Text 110"/>
          <p:cNvSpPr txBox="1"/>
          <p:nvPr/>
        </p:nvSpPr>
        <p:spPr>
          <a:xfrm>
            <a:off x="740664" y="78318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รายได้กระจุกที่แบรนด์ MK (~71%)</a:t>
            </a:r>
            <a:endParaRPr lang="th-TH" sz="860" dirty="0"/>
          </a:p>
        </p:txBody>
      </p:sp>
      <p:sp>
        <p:nvSpPr>
          <p:cNvPr id="113" name="Text 111"/>
          <p:cNvSpPr txBox="1"/>
          <p:nvPr/>
        </p:nvSpPr>
        <p:spPr>
          <a:xfrm>
            <a:off x="2624328" y="78318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.07</a:t>
            </a:r>
            <a:endParaRPr lang="th-TH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2953512" y="78318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th-TH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3246120" y="78318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.14</a:t>
            </a:r>
            <a:endParaRPr lang="th-TH" sz="900" dirty="0"/>
          </a:p>
        </p:txBody>
      </p:sp>
      <p:sp>
        <p:nvSpPr>
          <p:cNvPr id="116" name="Shape 114"/>
          <p:cNvSpPr/>
          <p:nvPr/>
        </p:nvSpPr>
        <p:spPr>
          <a:xfrm>
            <a:off x="3611880" y="7877556"/>
            <a:ext cx="182880" cy="18288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611880" y="78775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</a:t>
            </a:r>
            <a:endParaRPr lang="th-TH" sz="700" dirty="0"/>
          </a:p>
        </p:txBody>
      </p:sp>
      <p:sp>
        <p:nvSpPr>
          <p:cNvPr id="118" name="Shape 116"/>
          <p:cNvSpPr/>
          <p:nvPr/>
        </p:nvSpPr>
        <p:spPr>
          <a:xfrm>
            <a:off x="320040" y="8119872"/>
            <a:ext cx="3520440" cy="301752"/>
          </a:xfrm>
          <a:prstGeom prst="rect">
            <a:avLst/>
          </a:prstGeom>
          <a:solidFill>
            <a:srgbClr val="FAF7F3"/>
          </a:solidFill>
          <a:ln w="9525">
            <a:solidFill>
              <a:srgbClr val="FAF7F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65760" y="8174736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9525">
            <a:solidFill>
              <a:srgbClr val="2F5D8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365760" y="817473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O4</a:t>
            </a:r>
            <a:endParaRPr lang="th-TH" sz="800" dirty="0"/>
          </a:p>
        </p:txBody>
      </p:sp>
      <p:sp>
        <p:nvSpPr>
          <p:cNvPr id="121" name="Text 119"/>
          <p:cNvSpPr txBox="1"/>
          <p:nvPr/>
        </p:nvSpPr>
        <p:spPr>
          <a:xfrm>
            <a:off x="740664" y="8138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ความต้องการอาหารที่หลากหลาย</a:t>
            </a:r>
            <a:endParaRPr lang="th-TH" sz="860" dirty="0"/>
          </a:p>
        </p:txBody>
      </p:sp>
      <p:sp>
        <p:nvSpPr>
          <p:cNvPr id="122" name="Text 120"/>
          <p:cNvSpPr txBox="1"/>
          <p:nvPr/>
        </p:nvSpPr>
        <p:spPr>
          <a:xfrm>
            <a:off x="2624328" y="81381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.09</a:t>
            </a:r>
            <a:endParaRPr lang="th-TH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2953512" y="81381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th-TH" sz="900" dirty="0"/>
          </a:p>
        </p:txBody>
      </p:sp>
      <p:sp>
        <p:nvSpPr>
          <p:cNvPr id="124" name="Text 122"/>
          <p:cNvSpPr txBox="1"/>
          <p:nvPr/>
        </p:nvSpPr>
        <p:spPr>
          <a:xfrm>
            <a:off x="3246120" y="81381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.27</a:t>
            </a:r>
            <a:endParaRPr lang="th-TH" sz="900" dirty="0"/>
          </a:p>
        </p:txBody>
      </p:sp>
      <p:sp>
        <p:nvSpPr>
          <p:cNvPr id="125" name="Shape 123"/>
          <p:cNvSpPr/>
          <p:nvPr/>
        </p:nvSpPr>
        <p:spPr>
          <a:xfrm>
            <a:off x="3611880" y="8183880"/>
            <a:ext cx="182880" cy="18288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3611880" y="8183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</a:t>
            </a:r>
            <a:endParaRPr lang="th-TH" sz="700" dirty="0"/>
          </a:p>
        </p:txBody>
      </p:sp>
      <p:sp>
        <p:nvSpPr>
          <p:cNvPr id="127" name="Shape 125"/>
          <p:cNvSpPr/>
          <p:nvPr/>
        </p:nvSpPr>
        <p:spPr>
          <a:xfrm>
            <a:off x="365760" y="8481060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9525">
            <a:solidFill>
              <a:srgbClr val="2F5D8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65760" y="84810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O1</a:t>
            </a:r>
            <a:endParaRPr lang="th-TH" sz="800" dirty="0"/>
          </a:p>
        </p:txBody>
      </p:sp>
      <p:sp>
        <p:nvSpPr>
          <p:cNvPr id="129" name="Text 127"/>
          <p:cNvSpPr txBox="1"/>
          <p:nvPr/>
        </p:nvSpPr>
        <p:spPr>
          <a:xfrm>
            <a:off x="740664" y="84444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ผู้บริโภคใส่ใจสุขภาพและคุณภาพ</a:t>
            </a:r>
            <a:endParaRPr lang="th-TH" sz="860" dirty="0"/>
          </a:p>
        </p:txBody>
      </p:sp>
      <p:sp>
        <p:nvSpPr>
          <p:cNvPr id="130" name="Text 128"/>
          <p:cNvSpPr txBox="1"/>
          <p:nvPr/>
        </p:nvSpPr>
        <p:spPr>
          <a:xfrm>
            <a:off x="2624328" y="84444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.06</a:t>
            </a:r>
            <a:endParaRPr lang="th-TH" sz="900" dirty="0"/>
          </a:p>
        </p:txBody>
      </p:sp>
      <p:sp>
        <p:nvSpPr>
          <p:cNvPr id="131" name="Text 129"/>
          <p:cNvSpPr txBox="1"/>
          <p:nvPr/>
        </p:nvSpPr>
        <p:spPr>
          <a:xfrm>
            <a:off x="2953512" y="84444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th-TH" sz="900" dirty="0"/>
          </a:p>
        </p:txBody>
      </p:sp>
      <p:sp>
        <p:nvSpPr>
          <p:cNvPr id="132" name="Text 130"/>
          <p:cNvSpPr txBox="1"/>
          <p:nvPr/>
        </p:nvSpPr>
        <p:spPr>
          <a:xfrm>
            <a:off x="3246120" y="84444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.18</a:t>
            </a:r>
            <a:endParaRPr lang="th-TH" sz="900" dirty="0"/>
          </a:p>
        </p:txBody>
      </p:sp>
      <p:sp>
        <p:nvSpPr>
          <p:cNvPr id="133" name="Shape 131"/>
          <p:cNvSpPr/>
          <p:nvPr/>
        </p:nvSpPr>
        <p:spPr>
          <a:xfrm>
            <a:off x="3611880" y="8490204"/>
            <a:ext cx="182880" cy="18288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3611880" y="84902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</a:t>
            </a:r>
            <a:endParaRPr lang="th-TH" sz="700" dirty="0"/>
          </a:p>
        </p:txBody>
      </p:sp>
      <p:sp>
        <p:nvSpPr>
          <p:cNvPr id="135" name="Shape 133"/>
          <p:cNvSpPr/>
          <p:nvPr/>
        </p:nvSpPr>
        <p:spPr>
          <a:xfrm>
            <a:off x="320040" y="8732520"/>
            <a:ext cx="3520440" cy="301752"/>
          </a:xfrm>
          <a:prstGeom prst="rect">
            <a:avLst/>
          </a:prstGeom>
          <a:solidFill>
            <a:srgbClr val="FAF7F3"/>
          </a:solidFill>
          <a:ln w="9525">
            <a:solidFill>
              <a:srgbClr val="FAF7F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65760" y="8787384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9525">
            <a:solidFill>
              <a:srgbClr val="2F5D8A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365760" y="8787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O2</a:t>
            </a:r>
            <a:endParaRPr lang="th-TH" sz="800" dirty="0"/>
          </a:p>
        </p:txBody>
      </p:sp>
      <p:sp>
        <p:nvSpPr>
          <p:cNvPr id="138" name="Text 136"/>
          <p:cNvSpPr txBox="1"/>
          <p:nvPr/>
        </p:nvSpPr>
        <p:spPr>
          <a:xfrm>
            <a:off x="740664" y="87508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ช่องทางสั่งอาหารออนไลน์</a:t>
            </a:r>
            <a:endParaRPr lang="th-TH" sz="860" dirty="0"/>
          </a:p>
        </p:txBody>
      </p:sp>
      <p:sp>
        <p:nvSpPr>
          <p:cNvPr id="139" name="Text 137"/>
          <p:cNvSpPr txBox="1"/>
          <p:nvPr/>
        </p:nvSpPr>
        <p:spPr>
          <a:xfrm>
            <a:off x="2624328" y="87508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.05</a:t>
            </a:r>
            <a:endParaRPr lang="th-TH" sz="900" dirty="0"/>
          </a:p>
        </p:txBody>
      </p:sp>
      <p:sp>
        <p:nvSpPr>
          <p:cNvPr id="140" name="Text 138"/>
          <p:cNvSpPr txBox="1"/>
          <p:nvPr/>
        </p:nvSpPr>
        <p:spPr>
          <a:xfrm>
            <a:off x="2953512" y="87508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th-TH" sz="900" dirty="0"/>
          </a:p>
        </p:txBody>
      </p:sp>
      <p:sp>
        <p:nvSpPr>
          <p:cNvPr id="141" name="Text 139"/>
          <p:cNvSpPr txBox="1"/>
          <p:nvPr/>
        </p:nvSpPr>
        <p:spPr>
          <a:xfrm>
            <a:off x="3246120" y="875080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.15</a:t>
            </a:r>
            <a:endParaRPr lang="th-TH" sz="900" dirty="0"/>
          </a:p>
        </p:txBody>
      </p:sp>
      <p:sp>
        <p:nvSpPr>
          <p:cNvPr id="142" name="Shape 140"/>
          <p:cNvSpPr/>
          <p:nvPr/>
        </p:nvSpPr>
        <p:spPr>
          <a:xfrm>
            <a:off x="3611880" y="8796528"/>
            <a:ext cx="182880" cy="18288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3611880" y="8796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</a:t>
            </a:r>
            <a:endParaRPr lang="th-TH" sz="700" dirty="0"/>
          </a:p>
        </p:txBody>
      </p:sp>
      <p:sp>
        <p:nvSpPr>
          <p:cNvPr id="144" name="Shape 142"/>
          <p:cNvSpPr/>
          <p:nvPr/>
        </p:nvSpPr>
        <p:spPr>
          <a:xfrm>
            <a:off x="365760" y="9093708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C77D12"/>
          </a:solidFill>
          <a:ln w="9525">
            <a:solidFill>
              <a:srgbClr val="C77D12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65760" y="90937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T1</a:t>
            </a:r>
            <a:endParaRPr lang="th-TH" sz="800" dirty="0"/>
          </a:p>
        </p:txBody>
      </p:sp>
      <p:sp>
        <p:nvSpPr>
          <p:cNvPr id="146" name="Text 144"/>
          <p:cNvSpPr txBox="1"/>
          <p:nvPr/>
        </p:nvSpPr>
        <p:spPr>
          <a:xfrm>
            <a:off x="740664" y="90571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การแข่งขันร้านอาหารรุนแรง</a:t>
            </a:r>
            <a:endParaRPr lang="th-TH" sz="860" dirty="0"/>
          </a:p>
        </p:txBody>
      </p:sp>
      <p:sp>
        <p:nvSpPr>
          <p:cNvPr id="147" name="Text 145"/>
          <p:cNvSpPr txBox="1"/>
          <p:nvPr/>
        </p:nvSpPr>
        <p:spPr>
          <a:xfrm>
            <a:off x="2624328" y="90571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.11</a:t>
            </a:r>
            <a:endParaRPr lang="th-TH" sz="900" dirty="0"/>
          </a:p>
        </p:txBody>
      </p:sp>
      <p:sp>
        <p:nvSpPr>
          <p:cNvPr id="148" name="Text 146"/>
          <p:cNvSpPr txBox="1"/>
          <p:nvPr/>
        </p:nvSpPr>
        <p:spPr>
          <a:xfrm>
            <a:off x="2953512" y="90571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th-TH" sz="900" dirty="0"/>
          </a:p>
        </p:txBody>
      </p:sp>
      <p:sp>
        <p:nvSpPr>
          <p:cNvPr id="149" name="Text 147"/>
          <p:cNvSpPr txBox="1"/>
          <p:nvPr/>
        </p:nvSpPr>
        <p:spPr>
          <a:xfrm>
            <a:off x="3246120" y="90571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.22</a:t>
            </a:r>
            <a:endParaRPr lang="th-TH" sz="900" dirty="0"/>
          </a:p>
        </p:txBody>
      </p:sp>
      <p:sp>
        <p:nvSpPr>
          <p:cNvPr id="150" name="Shape 148"/>
          <p:cNvSpPr/>
          <p:nvPr/>
        </p:nvSpPr>
        <p:spPr>
          <a:xfrm>
            <a:off x="3611880" y="9102852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3611880" y="91028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</a:t>
            </a:r>
            <a:endParaRPr lang="th-TH" sz="700" dirty="0"/>
          </a:p>
        </p:txBody>
      </p:sp>
      <p:sp>
        <p:nvSpPr>
          <p:cNvPr id="152" name="Shape 150"/>
          <p:cNvSpPr/>
          <p:nvPr/>
        </p:nvSpPr>
        <p:spPr>
          <a:xfrm>
            <a:off x="320040" y="9345168"/>
            <a:ext cx="3520440" cy="301752"/>
          </a:xfrm>
          <a:prstGeom prst="rect">
            <a:avLst/>
          </a:prstGeom>
          <a:solidFill>
            <a:srgbClr val="FAF7F3"/>
          </a:solidFill>
          <a:ln w="9525">
            <a:solidFill>
              <a:srgbClr val="FAF7F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5760" y="9400032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C77D12"/>
          </a:solidFill>
          <a:ln w="9525">
            <a:solidFill>
              <a:srgbClr val="C77D12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365760" y="94000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T2</a:t>
            </a:r>
            <a:endParaRPr lang="th-TH" sz="800" dirty="0"/>
          </a:p>
        </p:txBody>
      </p:sp>
      <p:sp>
        <p:nvSpPr>
          <p:cNvPr id="155" name="Text 153"/>
          <p:cNvSpPr txBox="1"/>
          <p:nvPr/>
        </p:nvSpPr>
        <p:spPr>
          <a:xfrm>
            <a:off x="740664" y="93634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กำลังซื้อจำกัด ผู้บริโภคระวังใช้จ่าย</a:t>
            </a:r>
            <a:endParaRPr lang="th-TH" sz="860" dirty="0"/>
          </a:p>
        </p:txBody>
      </p:sp>
      <p:sp>
        <p:nvSpPr>
          <p:cNvPr id="156" name="Text 154"/>
          <p:cNvSpPr txBox="1"/>
          <p:nvPr/>
        </p:nvSpPr>
        <p:spPr>
          <a:xfrm>
            <a:off x="2624328" y="9363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.08</a:t>
            </a:r>
            <a:endParaRPr lang="th-TH" sz="900" dirty="0"/>
          </a:p>
        </p:txBody>
      </p:sp>
      <p:sp>
        <p:nvSpPr>
          <p:cNvPr id="157" name="Text 155"/>
          <p:cNvSpPr txBox="1"/>
          <p:nvPr/>
        </p:nvSpPr>
        <p:spPr>
          <a:xfrm>
            <a:off x="2953512" y="9363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th-TH" sz="900" dirty="0"/>
          </a:p>
        </p:txBody>
      </p:sp>
      <p:sp>
        <p:nvSpPr>
          <p:cNvPr id="158" name="Text 156"/>
          <p:cNvSpPr txBox="1"/>
          <p:nvPr/>
        </p:nvSpPr>
        <p:spPr>
          <a:xfrm>
            <a:off x="3246120" y="93634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.16</a:t>
            </a:r>
            <a:endParaRPr lang="th-TH" sz="900" dirty="0"/>
          </a:p>
        </p:txBody>
      </p:sp>
      <p:sp>
        <p:nvSpPr>
          <p:cNvPr id="159" name="Shape 157"/>
          <p:cNvSpPr/>
          <p:nvPr/>
        </p:nvSpPr>
        <p:spPr>
          <a:xfrm>
            <a:off x="3611880" y="9409176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3611880" y="9409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</a:t>
            </a:r>
            <a:endParaRPr lang="th-TH" sz="700" dirty="0"/>
          </a:p>
        </p:txBody>
      </p:sp>
      <p:sp>
        <p:nvSpPr>
          <p:cNvPr id="161" name="Shape 159"/>
          <p:cNvSpPr/>
          <p:nvPr/>
        </p:nvSpPr>
        <p:spPr>
          <a:xfrm>
            <a:off x="365760" y="9706356"/>
            <a:ext cx="329184" cy="182880"/>
          </a:xfrm>
          <a:prstGeom prst="roundRect">
            <a:avLst>
              <a:gd name="adj" fmla="val 25000"/>
            </a:avLst>
          </a:prstGeom>
          <a:solidFill>
            <a:srgbClr val="C77D12"/>
          </a:solidFill>
          <a:ln w="9525">
            <a:solidFill>
              <a:srgbClr val="C77D12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65760" y="97063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T3</a:t>
            </a:r>
            <a:endParaRPr lang="th-TH" sz="800" dirty="0"/>
          </a:p>
        </p:txBody>
      </p:sp>
      <p:sp>
        <p:nvSpPr>
          <p:cNvPr id="163" name="Text 161"/>
          <p:cNvSpPr txBox="1"/>
          <p:nvPr/>
        </p:nvSpPr>
        <p:spPr>
          <a:xfrm>
            <a:off x="740664" y="96697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ราคาวัตถุดิบผันผวน ค่าใช้จ่ายสูง</a:t>
            </a:r>
            <a:endParaRPr lang="th-TH" sz="860" dirty="0"/>
          </a:p>
        </p:txBody>
      </p:sp>
      <p:sp>
        <p:nvSpPr>
          <p:cNvPr id="164" name="Text 162"/>
          <p:cNvSpPr txBox="1"/>
          <p:nvPr/>
        </p:nvSpPr>
        <p:spPr>
          <a:xfrm>
            <a:off x="2624328" y="96697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.07</a:t>
            </a:r>
            <a:endParaRPr lang="th-TH" sz="900" dirty="0"/>
          </a:p>
        </p:txBody>
      </p:sp>
      <p:sp>
        <p:nvSpPr>
          <p:cNvPr id="165" name="Text 163"/>
          <p:cNvSpPr txBox="1"/>
          <p:nvPr/>
        </p:nvSpPr>
        <p:spPr>
          <a:xfrm>
            <a:off x="2953512" y="96697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th-TH" sz="900" dirty="0"/>
          </a:p>
        </p:txBody>
      </p:sp>
      <p:sp>
        <p:nvSpPr>
          <p:cNvPr id="166" name="Text 164"/>
          <p:cNvSpPr txBox="1"/>
          <p:nvPr/>
        </p:nvSpPr>
        <p:spPr>
          <a:xfrm>
            <a:off x="3246120" y="96697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.21</a:t>
            </a:r>
            <a:endParaRPr lang="th-TH" sz="900" dirty="0"/>
          </a:p>
        </p:txBody>
      </p:sp>
      <p:sp>
        <p:nvSpPr>
          <p:cNvPr id="167" name="Shape 165"/>
          <p:cNvSpPr/>
          <p:nvPr/>
        </p:nvSpPr>
        <p:spPr>
          <a:xfrm>
            <a:off x="3611880" y="9715500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3611880" y="97155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</a:t>
            </a:r>
            <a:endParaRPr lang="th-TH" sz="700" dirty="0"/>
          </a:p>
        </p:txBody>
      </p:sp>
      <p:sp>
        <p:nvSpPr>
          <p:cNvPr id="169" name="Shape 167"/>
          <p:cNvSpPr/>
          <p:nvPr/>
        </p:nvSpPr>
        <p:spPr>
          <a:xfrm>
            <a:off x="338328" y="9976104"/>
            <a:ext cx="3483864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365760" y="10003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คะแนนรวม</a:t>
            </a:r>
            <a:endParaRPr lang="th-TH" sz="1000" dirty="0"/>
          </a:p>
        </p:txBody>
      </p:sp>
      <p:sp>
        <p:nvSpPr>
          <p:cNvPr id="171" name="Text 169"/>
          <p:cNvSpPr txBox="1"/>
          <p:nvPr/>
        </p:nvSpPr>
        <p:spPr>
          <a:xfrm>
            <a:off x="2624328" y="100035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0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1.00</a:t>
            </a:r>
            <a:endParaRPr lang="th-TH" sz="1000" dirty="0"/>
          </a:p>
        </p:txBody>
      </p:sp>
      <p:sp>
        <p:nvSpPr>
          <p:cNvPr id="172" name="Text 170"/>
          <p:cNvSpPr txBox="1"/>
          <p:nvPr/>
        </p:nvSpPr>
        <p:spPr>
          <a:xfrm>
            <a:off x="3246120" y="10003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0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2.58</a:t>
            </a:r>
            <a:endParaRPr lang="th-TH" sz="1000" dirty="0"/>
          </a:p>
        </p:txBody>
      </p:sp>
      <p:sp>
        <p:nvSpPr>
          <p:cNvPr id="173" name="Text 171"/>
          <p:cNvSpPr txBox="1"/>
          <p:nvPr/>
        </p:nvSpPr>
        <p:spPr>
          <a:xfrm>
            <a:off x="365760" y="10250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50" b="1" dirty="0">
                <a:solidFill>
                  <a:srgbClr val="B3261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</a:t>
            </a:r>
            <a:pPr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สั้น   </a:t>
            </a:r>
            <a:pPr indent="0" marL="0">
              <a:buNone/>
            </a:pPr>
            <a:r>
              <a:rPr lang="th-TH" altLang="en-US" sz="850" b="1" dirty="0">
                <a:solidFill>
                  <a:srgbClr val="C98A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</a:t>
            </a:r>
            <a:pPr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กลาง   </a:t>
            </a:r>
            <a:pPr indent="0" marL="0">
              <a:buNone/>
            </a:pPr>
            <a:r>
              <a:rPr lang="th-TH" altLang="en-US" sz="850" b="1" dirty="0">
                <a:solidFill>
                  <a:srgbClr val="2F5D8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</a:t>
            </a:r>
            <a:pPr indent="0" marL="0">
              <a:buNone/>
            </a:pPr>
            <a:r>
              <a:rPr lang="th-TH" altLang="en-US" sz="8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ยาว     EFAS 2.53 · IFAS 2.64</a:t>
            </a:r>
            <a:endParaRPr lang="th-TH" sz="850" dirty="0"/>
          </a:p>
        </p:txBody>
      </p:sp>
      <p:sp>
        <p:nvSpPr>
          <p:cNvPr id="174" name="Shape 172"/>
          <p:cNvSpPr/>
          <p:nvPr/>
        </p:nvSpPr>
        <p:spPr>
          <a:xfrm>
            <a:off x="4069080" y="1207008"/>
            <a:ext cx="6903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069080" y="1207008"/>
            <a:ext cx="6903720" cy="384048"/>
          </a:xfrm>
          <a:prstGeom prst="roundRect">
            <a:avLst>
              <a:gd name="adj" fmla="val 19048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069080" y="1435608"/>
            <a:ext cx="6903720" cy="155448"/>
          </a:xfrm>
          <a:prstGeom prst="rect">
            <a:avLst/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178808" y="12710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4178808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th-TH" sz="1100" dirty="0"/>
          </a:p>
        </p:txBody>
      </p:sp>
      <p:sp>
        <p:nvSpPr>
          <p:cNvPr id="179" name="Text 177"/>
          <p:cNvSpPr txBox="1"/>
          <p:nvPr/>
        </p:nvSpPr>
        <p:spPr>
          <a:xfrm>
            <a:off x="4507992" y="1225296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TOWS → ทางเลือกที่เลือก</a:t>
            </a:r>
            <a:endParaRPr lang="th-TH" sz="1400" dirty="0"/>
          </a:p>
        </p:txBody>
      </p:sp>
      <p:sp>
        <p:nvSpPr>
          <p:cNvPr id="180" name="Text 178"/>
          <p:cNvSpPr txBox="1"/>
          <p:nvPr/>
        </p:nvSpPr>
        <p:spPr>
          <a:xfrm>
            <a:off x="420624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เปรียบเทียบทางเลือกระดับองค์กร</a:t>
            </a:r>
            <a:endParaRPr lang="th-TH" sz="950" dirty="0"/>
          </a:p>
        </p:txBody>
      </p:sp>
      <p:sp>
        <p:nvSpPr>
          <p:cNvPr id="181" name="Shape 179"/>
          <p:cNvSpPr/>
          <p:nvPr/>
        </p:nvSpPr>
        <p:spPr>
          <a:xfrm>
            <a:off x="4206240" y="1901952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E4F2EA"/>
          </a:solidFill>
          <a:ln w="9525">
            <a:solidFill>
              <a:srgbClr val="E4F2E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4251960" y="19019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rgbClr val="2E7D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✓</a:t>
            </a:r>
            <a:endParaRPr lang="th-TH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4507992" y="19293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ก. ฟื้นฟูก่อน แล้วเติบโตในแนวนอน</a:t>
            </a:r>
            <a:endParaRPr lang="th-TH" sz="900" dirty="0"/>
          </a:p>
        </p:txBody>
      </p:sp>
      <p:sp>
        <p:nvSpPr>
          <p:cNvPr id="184" name="Text 182"/>
          <p:cNvSpPr txBox="1"/>
          <p:nvPr/>
        </p:nvSpPr>
        <p:spPr>
          <a:xfrm>
            <a:off x="4507992" y="2121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 W3, W4 ที่ SFAS ให้น้ำหนักสูงในช่วงสั้นก่อน</a:t>
            </a:r>
            <a:endParaRPr lang="th-TH" sz="760" dirty="0"/>
          </a:p>
        </p:txBody>
      </p:sp>
      <p:sp>
        <p:nvSpPr>
          <p:cNvPr id="185" name="Shape 183"/>
          <p:cNvSpPr/>
          <p:nvPr/>
        </p:nvSpPr>
        <p:spPr>
          <a:xfrm>
            <a:off x="4206240" y="2404872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1EE"/>
          </a:solidFill>
          <a:ln w="9525">
            <a:solidFill>
              <a:srgbClr val="F4F1EE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4251960" y="2404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rgbClr val="B3261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✗</a:t>
            </a:r>
            <a:endParaRPr lang="th-TH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4507992" y="24323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ข. เติบโตทันทีทุกแบรนด์</a:t>
            </a:r>
            <a:endParaRPr lang="th-TH" sz="900" dirty="0"/>
          </a:p>
        </p:txBody>
      </p:sp>
      <p:sp>
        <p:nvSpPr>
          <p:cNvPr id="188" name="Text 186"/>
          <p:cNvSpPr txBox="1"/>
          <p:nvPr/>
        </p:nvSpPr>
        <p:spPr>
          <a:xfrm>
            <a:off x="4507992" y="26243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ขยายขณะ GM ยังลดลง (ครึ่งแรก 69: 61.9%) ขัด WT3</a:t>
            </a:r>
            <a:endParaRPr lang="th-TH" sz="760" dirty="0"/>
          </a:p>
        </p:txBody>
      </p:sp>
      <p:sp>
        <p:nvSpPr>
          <p:cNvPr id="189" name="Shape 187"/>
          <p:cNvSpPr/>
          <p:nvPr/>
        </p:nvSpPr>
        <p:spPr>
          <a:xfrm>
            <a:off x="4206240" y="2907792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1EE"/>
          </a:solidFill>
          <a:ln w="9525">
            <a:solidFill>
              <a:srgbClr val="F4F1EE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4251960" y="290779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rgbClr val="B3261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✗</a:t>
            </a:r>
            <a:endParaRPr lang="th-TH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4507992" y="2935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ค. คงที่ ไม่ปิด ไม่ขยาย</a:t>
            </a:r>
            <a:endParaRPr lang="th-TH" sz="900" dirty="0"/>
          </a:p>
        </p:txBody>
      </p:sp>
      <p:sp>
        <p:nvSpPr>
          <p:cNvPr id="192" name="Text 190"/>
          <p:cNvSpPr txBox="1"/>
          <p:nvPr/>
        </p:nvSpPr>
        <p:spPr>
          <a:xfrm>
            <a:off x="4507992" y="31272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ไม่แก้สาขาขาดทุน ไม่ตอบ O2, O4</a:t>
            </a:r>
            <a:endParaRPr lang="th-TH" sz="760" dirty="0"/>
          </a:p>
        </p:txBody>
      </p:sp>
      <p:sp>
        <p:nvSpPr>
          <p:cNvPr id="193" name="Shape 191"/>
          <p:cNvSpPr/>
          <p:nvPr/>
        </p:nvSpPr>
        <p:spPr>
          <a:xfrm>
            <a:off x="6473952" y="2194560"/>
            <a:ext cx="219456" cy="347472"/>
          </a:xfrm>
          <a:prstGeom prst="rightArrow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720840" y="1664208"/>
            <a:ext cx="2103120" cy="1444752"/>
          </a:xfrm>
          <a:prstGeom prst="roundRect">
            <a:avLst>
              <a:gd name="adj" fmla="val 3797"/>
            </a:avLst>
          </a:prstGeom>
          <a:solidFill>
            <a:srgbClr val="FBE9E7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6812280" y="17007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50" b="1" dirty="0">
                <a:solidFill>
                  <a:srgbClr val="C039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ช่วงฟื้นฟู 2569–2571</a:t>
            </a:r>
            <a:endParaRPr lang="th-TH" sz="1050" dirty="0"/>
          </a:p>
        </p:txBody>
      </p:sp>
      <p:sp>
        <p:nvSpPr>
          <p:cNvPr id="196" name="Text 194"/>
          <p:cNvSpPr txBox="1"/>
          <p:nvPr/>
        </p:nvSpPr>
        <p:spPr>
          <a:xfrm>
            <a:off x="6812280" y="1911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WT: แก้จุดอ่อน + ป้องกันอุปสรรค</a:t>
            </a:r>
            <a:endParaRPr lang="th-TH" sz="760" dirty="0"/>
          </a:p>
        </p:txBody>
      </p:sp>
      <p:sp>
        <p:nvSpPr>
          <p:cNvPr id="197" name="Shape 195"/>
          <p:cNvSpPr/>
          <p:nvPr/>
        </p:nvSpPr>
        <p:spPr>
          <a:xfrm>
            <a:off x="6812280" y="2148840"/>
            <a:ext cx="402336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6812280" y="214884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WT1</a:t>
            </a:r>
            <a:endParaRPr lang="th-TH" sz="850" dirty="0"/>
          </a:p>
        </p:txBody>
      </p:sp>
      <p:sp>
        <p:nvSpPr>
          <p:cNvPr id="199" name="Text 197"/>
          <p:cNvSpPr txBox="1"/>
          <p:nvPr/>
        </p:nvSpPr>
        <p:spPr>
          <a:xfrm>
            <a:off x="7269480" y="212140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ปรับบุฟเฟต์/โปรฯ ที่กำไรไม่พอ</a:t>
            </a:r>
            <a:endParaRPr lang="th-TH" sz="860" dirty="0"/>
          </a:p>
        </p:txBody>
      </p:sp>
      <p:sp>
        <p:nvSpPr>
          <p:cNvPr id="200" name="Text 198"/>
          <p:cNvSpPr txBox="1"/>
          <p:nvPr/>
        </p:nvSpPr>
        <p:spPr>
          <a:xfrm>
            <a:off x="7269480" y="227685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2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W4 + T1, T2, T3</a:t>
            </a:r>
            <a:endParaRPr lang="th-TH" sz="720" dirty="0"/>
          </a:p>
        </p:txBody>
      </p:sp>
      <p:sp>
        <p:nvSpPr>
          <p:cNvPr id="201" name="Shape 199"/>
          <p:cNvSpPr/>
          <p:nvPr/>
        </p:nvSpPr>
        <p:spPr>
          <a:xfrm>
            <a:off x="6812280" y="2478024"/>
            <a:ext cx="402336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6812280" y="24780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WT2</a:t>
            </a:r>
            <a:endParaRPr lang="th-TH" sz="850" dirty="0"/>
          </a:p>
        </p:txBody>
      </p:sp>
      <p:sp>
        <p:nvSpPr>
          <p:cNvPr id="203" name="Text 201"/>
          <p:cNvSpPr txBox="1"/>
          <p:nvPr/>
        </p:nvSpPr>
        <p:spPr>
          <a:xfrm>
            <a:off x="7269480" y="2450592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ลดภาระสาขาที่ไม่คุ้มค่า</a:t>
            </a:r>
            <a:endParaRPr lang="th-TH" sz="860" dirty="0"/>
          </a:p>
        </p:txBody>
      </p:sp>
      <p:sp>
        <p:nvSpPr>
          <p:cNvPr id="204" name="Text 202"/>
          <p:cNvSpPr txBox="1"/>
          <p:nvPr/>
        </p:nvSpPr>
        <p:spPr>
          <a:xfrm>
            <a:off x="7269480" y="260604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2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W3 + T2, T3</a:t>
            </a:r>
            <a:endParaRPr lang="th-TH" sz="720" dirty="0"/>
          </a:p>
        </p:txBody>
      </p:sp>
      <p:sp>
        <p:nvSpPr>
          <p:cNvPr id="205" name="Shape 203"/>
          <p:cNvSpPr/>
          <p:nvPr/>
        </p:nvSpPr>
        <p:spPr>
          <a:xfrm>
            <a:off x="6812280" y="2807208"/>
            <a:ext cx="402336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6812280" y="28072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WT3</a:t>
            </a:r>
            <a:endParaRPr lang="th-TH" sz="850" dirty="0"/>
          </a:p>
        </p:txBody>
      </p:sp>
      <p:sp>
        <p:nvSpPr>
          <p:cNvPr id="207" name="Text 205"/>
          <p:cNvSpPr txBox="1"/>
          <p:nvPr/>
        </p:nvSpPr>
        <p:spPr>
          <a:xfrm>
            <a:off x="7269480" y="2779776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คุมการลงทุนตามความพร้อม</a:t>
            </a:r>
            <a:endParaRPr lang="th-TH" sz="860" dirty="0"/>
          </a:p>
        </p:txBody>
      </p:sp>
      <p:sp>
        <p:nvSpPr>
          <p:cNvPr id="208" name="Text 206"/>
          <p:cNvSpPr txBox="1"/>
          <p:nvPr/>
        </p:nvSpPr>
        <p:spPr>
          <a:xfrm>
            <a:off x="7269480" y="293522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2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W1, W3 + T1, T2</a:t>
            </a:r>
            <a:endParaRPr lang="th-TH" sz="720" dirty="0"/>
          </a:p>
        </p:txBody>
      </p:sp>
      <p:sp>
        <p:nvSpPr>
          <p:cNvPr id="209" name="Shape 207"/>
          <p:cNvSpPr/>
          <p:nvPr/>
        </p:nvSpPr>
        <p:spPr>
          <a:xfrm>
            <a:off x="8842248" y="2194560"/>
            <a:ext cx="182880" cy="329184"/>
          </a:xfrm>
          <a:prstGeom prst="rightArrow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052560" y="1664208"/>
            <a:ext cx="1810512" cy="1444752"/>
          </a:xfrm>
          <a:prstGeom prst="roundRect">
            <a:avLst>
              <a:gd name="adj" fmla="val 3797"/>
            </a:avLst>
          </a:prstGeom>
          <a:solidFill>
            <a:srgbClr val="E4F2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9144000" y="17007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50" b="1" dirty="0">
                <a:solidFill>
                  <a:srgbClr val="2E7D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ช่วงเติบโต 2572–2573</a:t>
            </a:r>
            <a:endParaRPr lang="th-TH" sz="1050" dirty="0"/>
          </a:p>
        </p:txBody>
      </p:sp>
      <p:sp>
        <p:nvSpPr>
          <p:cNvPr id="212" name="Text 210"/>
          <p:cNvSpPr txBox="1"/>
          <p:nvPr/>
        </p:nvSpPr>
        <p:spPr>
          <a:xfrm>
            <a:off x="9144000" y="191109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เมื่อกำไรและเงินสดพร้อม</a:t>
            </a:r>
            <a:endParaRPr lang="th-TH" sz="760" dirty="0"/>
          </a:p>
        </p:txBody>
      </p:sp>
      <p:sp>
        <p:nvSpPr>
          <p:cNvPr id="213" name="Shape 211"/>
          <p:cNvSpPr/>
          <p:nvPr/>
        </p:nvSpPr>
        <p:spPr>
          <a:xfrm>
            <a:off x="9144000" y="2148840"/>
            <a:ext cx="402336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9144000" y="214884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SO3</a:t>
            </a:r>
            <a:endParaRPr lang="th-TH" sz="850" dirty="0"/>
          </a:p>
        </p:txBody>
      </p:sp>
      <p:sp>
        <p:nvSpPr>
          <p:cNvPr id="215" name="Text 213"/>
          <p:cNvSpPr txBox="1"/>
          <p:nvPr/>
        </p:nvSpPr>
        <p:spPr>
          <a:xfrm>
            <a:off x="9601200" y="212140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ขยายรูปแบบที่สร้างกำไร</a:t>
            </a:r>
            <a:endParaRPr lang="th-TH" sz="860" dirty="0"/>
          </a:p>
        </p:txBody>
      </p:sp>
      <p:sp>
        <p:nvSpPr>
          <p:cNvPr id="216" name="Text 214"/>
          <p:cNvSpPr txBox="1"/>
          <p:nvPr/>
        </p:nvSpPr>
        <p:spPr>
          <a:xfrm>
            <a:off x="9601200" y="22768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2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S2, S3 + O2, O4</a:t>
            </a:r>
            <a:endParaRPr lang="th-TH" sz="720" dirty="0"/>
          </a:p>
        </p:txBody>
      </p:sp>
      <p:sp>
        <p:nvSpPr>
          <p:cNvPr id="217" name="Shape 215"/>
          <p:cNvSpPr/>
          <p:nvPr/>
        </p:nvSpPr>
        <p:spPr>
          <a:xfrm>
            <a:off x="9144000" y="2478024"/>
            <a:ext cx="402336" cy="201168"/>
          </a:xfrm>
          <a:prstGeom prst="roundRect">
            <a:avLst>
              <a:gd name="adj" fmla="val 22727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9144000" y="24780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8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WO1</a:t>
            </a:r>
            <a:endParaRPr lang="th-TH" sz="850" dirty="0"/>
          </a:p>
        </p:txBody>
      </p:sp>
      <p:sp>
        <p:nvSpPr>
          <p:cNvPr id="219" name="Text 217"/>
          <p:cNvSpPr txBox="1"/>
          <p:nvPr/>
        </p:nvSpPr>
        <p:spPr>
          <a:xfrm>
            <a:off x="9601200" y="245059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เพิ่มบทบาทแบรนด์อื่น</a:t>
            </a:r>
            <a:endParaRPr lang="th-TH" sz="860" dirty="0"/>
          </a:p>
        </p:txBody>
      </p:sp>
      <p:sp>
        <p:nvSpPr>
          <p:cNvPr id="220" name="Text 218"/>
          <p:cNvSpPr txBox="1"/>
          <p:nvPr/>
        </p:nvSpPr>
        <p:spPr>
          <a:xfrm>
            <a:off x="9601200" y="260604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2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W1 + O2, O4</a:t>
            </a:r>
            <a:endParaRPr lang="th-TH" sz="720" dirty="0"/>
          </a:p>
        </p:txBody>
      </p:sp>
      <p:sp>
        <p:nvSpPr>
          <p:cNvPr id="221" name="Text 219"/>
          <p:cNvSpPr txBox="1"/>
          <p:nvPr/>
        </p:nvSpPr>
        <p:spPr>
          <a:xfrm>
            <a:off x="6720840" y="3136392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80" b="1" dirty="0">
                <a:solidFill>
                  <a:srgbClr val="9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เหตุผลที่ฟื้นฟูก่อน: </a:t>
            </a:r>
            <a:pPr indent="0" marL="0">
              <a:buNone/>
            </a:pPr>
            <a:r>
              <a:rPr lang="th-TH" altLang="en-US" sz="78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ปัจจัยน้ำหนักสูงที่คะแนนต่ำ (W3, W4, T1, T2) เป็นปัจจัยระยะสั้นทั้งหมด และกำไรส่วนบริษัทใหญ่ลดลงราวครึ่งหนึ่ง (1,681.94 → 837.96 ล้านบาท)</a:t>
            </a:r>
            <a:endParaRPr lang="th-TH" sz="780" dirty="0"/>
          </a:p>
        </p:txBody>
      </p:sp>
      <p:sp>
        <p:nvSpPr>
          <p:cNvPr id="222" name="Shape 220"/>
          <p:cNvSpPr/>
          <p:nvPr/>
        </p:nvSpPr>
        <p:spPr>
          <a:xfrm>
            <a:off x="4069080" y="3611880"/>
            <a:ext cx="6903720" cy="685800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069080" y="3611880"/>
            <a:ext cx="6903720" cy="384048"/>
          </a:xfrm>
          <a:prstGeom prst="roundRect">
            <a:avLst>
              <a:gd name="adj" fmla="val 19048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069080" y="3840480"/>
            <a:ext cx="6903720" cy="155448"/>
          </a:xfrm>
          <a:prstGeom prst="rect">
            <a:avLst/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178808" y="367588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4178808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th-TH" sz="1100" dirty="0"/>
          </a:p>
        </p:txBody>
      </p:sp>
      <p:sp>
        <p:nvSpPr>
          <p:cNvPr id="227" name="Text 225"/>
          <p:cNvSpPr txBox="1"/>
          <p:nvPr/>
        </p:nvSpPr>
        <p:spPr>
          <a:xfrm>
            <a:off x="4507992" y="3630168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กลยุทธ์และการนำไปปฏิบัติ</a:t>
            </a:r>
            <a:endParaRPr lang="th-TH" sz="1400" dirty="0"/>
          </a:p>
        </p:txBody>
      </p:sp>
      <p:sp>
        <p:nvSpPr>
          <p:cNvPr id="228" name="Shape 226"/>
          <p:cNvSpPr/>
          <p:nvPr/>
        </p:nvSpPr>
        <p:spPr>
          <a:xfrm>
            <a:off x="4178808" y="4069080"/>
            <a:ext cx="1545336" cy="310896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4178808" y="406908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กลยุทธ์ / งบประมาณ</a:t>
            </a:r>
            <a:endParaRPr lang="th-TH" sz="1000" dirty="0"/>
          </a:p>
        </p:txBody>
      </p:sp>
      <p:sp>
        <p:nvSpPr>
          <p:cNvPr id="230" name="Shape 228"/>
          <p:cNvSpPr/>
          <p:nvPr/>
        </p:nvSpPr>
        <p:spPr>
          <a:xfrm>
            <a:off x="5751576" y="4069080"/>
            <a:ext cx="1911096" cy="310896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5751576" y="406908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2569–2571  ฟื้นฟู</a:t>
            </a:r>
            <a:endParaRPr lang="th-TH" sz="1000" dirty="0"/>
          </a:p>
        </p:txBody>
      </p:sp>
      <p:sp>
        <p:nvSpPr>
          <p:cNvPr id="232" name="Shape 230"/>
          <p:cNvSpPr/>
          <p:nvPr/>
        </p:nvSpPr>
        <p:spPr>
          <a:xfrm>
            <a:off x="7690104" y="4069080"/>
            <a:ext cx="1673352" cy="310896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7690104" y="406908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2572–2573  เติบโต</a:t>
            </a:r>
            <a:endParaRPr lang="th-TH" sz="1000" dirty="0"/>
          </a:p>
        </p:txBody>
      </p:sp>
      <p:sp>
        <p:nvSpPr>
          <p:cNvPr id="234" name="Shape 232"/>
          <p:cNvSpPr/>
          <p:nvPr/>
        </p:nvSpPr>
        <p:spPr>
          <a:xfrm>
            <a:off x="9390888" y="4069080"/>
            <a:ext cx="1444752" cy="310896"/>
          </a:xfrm>
          <a:prstGeom prst="rect">
            <a:avLst/>
          </a:prstGeom>
          <a:solidFill>
            <a:srgbClr val="5A5A5A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9390888" y="4069080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ตัวชี้วัด</a:t>
            </a:r>
            <a:endParaRPr lang="th-TH" sz="1000" dirty="0"/>
          </a:p>
        </p:txBody>
      </p:sp>
      <p:sp>
        <p:nvSpPr>
          <p:cNvPr id="236" name="Shape 234"/>
          <p:cNvSpPr/>
          <p:nvPr/>
        </p:nvSpPr>
        <p:spPr>
          <a:xfrm>
            <a:off x="4178808" y="4416552"/>
            <a:ext cx="6684264" cy="219456"/>
          </a:xfrm>
          <a:prstGeom prst="rect">
            <a:avLst/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4251960" y="441655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8A5A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ระดับองค์กร (Corporate)</a:t>
            </a:r>
            <a:endParaRPr lang="th-TH" sz="900" dirty="0"/>
          </a:p>
        </p:txBody>
      </p:sp>
      <p:sp>
        <p:nvSpPr>
          <p:cNvPr id="238" name="Shape 236"/>
          <p:cNvSpPr/>
          <p:nvPr/>
        </p:nvSpPr>
        <p:spPr>
          <a:xfrm>
            <a:off x="5751576" y="4654296"/>
            <a:ext cx="1911096" cy="1207008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690104" y="4654296"/>
            <a:ext cx="1673352" cy="1207008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4197096" y="469087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Turnaround →</a:t>
            </a:r>
            <a:endParaRPr lang="th-TH" sz="950" dirty="0"/>
          </a:p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Horizontal Growth</a:t>
            </a:r>
            <a:endParaRPr lang="th-TH" sz="950" dirty="0"/>
          </a:p>
        </p:txBody>
      </p:sp>
      <p:sp>
        <p:nvSpPr>
          <p:cNvPr id="241" name="Shape 239"/>
          <p:cNvSpPr/>
          <p:nvPr/>
        </p:nvSpPr>
        <p:spPr>
          <a:xfrm>
            <a:off x="4197096" y="5093208"/>
            <a:ext cx="365760" cy="173736"/>
          </a:xfrm>
          <a:prstGeom prst="roundRect">
            <a:avLst>
              <a:gd name="adj" fmla="val 26316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4197096" y="509320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WT1</a:t>
            </a:r>
            <a:endParaRPr lang="th-TH" sz="750" dirty="0"/>
          </a:p>
        </p:txBody>
      </p:sp>
      <p:sp>
        <p:nvSpPr>
          <p:cNvPr id="243" name="Shape 241"/>
          <p:cNvSpPr/>
          <p:nvPr/>
        </p:nvSpPr>
        <p:spPr>
          <a:xfrm>
            <a:off x="4599432" y="5093208"/>
            <a:ext cx="365760" cy="173736"/>
          </a:xfrm>
          <a:prstGeom prst="roundRect">
            <a:avLst>
              <a:gd name="adj" fmla="val 26316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4599432" y="509320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WT2</a:t>
            </a:r>
            <a:endParaRPr lang="th-TH" sz="750" dirty="0"/>
          </a:p>
        </p:txBody>
      </p:sp>
      <p:sp>
        <p:nvSpPr>
          <p:cNvPr id="245" name="Shape 243"/>
          <p:cNvSpPr/>
          <p:nvPr/>
        </p:nvSpPr>
        <p:spPr>
          <a:xfrm>
            <a:off x="5001768" y="5093208"/>
            <a:ext cx="365760" cy="173736"/>
          </a:xfrm>
          <a:prstGeom prst="roundRect">
            <a:avLst>
              <a:gd name="adj" fmla="val 26316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5001768" y="509320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WT3</a:t>
            </a:r>
            <a:endParaRPr lang="th-TH" sz="750" dirty="0"/>
          </a:p>
        </p:txBody>
      </p:sp>
      <p:sp>
        <p:nvSpPr>
          <p:cNvPr id="247" name="Shape 245"/>
          <p:cNvSpPr/>
          <p:nvPr/>
        </p:nvSpPr>
        <p:spPr>
          <a:xfrm>
            <a:off x="5404104" y="5093208"/>
            <a:ext cx="365760" cy="173736"/>
          </a:xfrm>
          <a:prstGeom prst="roundRect">
            <a:avLst>
              <a:gd name="adj" fmla="val 26316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5404104" y="509320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SO3</a:t>
            </a:r>
            <a:endParaRPr lang="th-TH" sz="750" dirty="0"/>
          </a:p>
        </p:txBody>
      </p:sp>
      <p:sp>
        <p:nvSpPr>
          <p:cNvPr id="249" name="Text 247"/>
          <p:cNvSpPr txBox="1"/>
          <p:nvPr/>
        </p:nvSpPr>
        <p:spPr>
          <a:xfrm>
            <a:off x="4197096" y="530352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40" b="1" dirty="0">
                <a:solidFill>
                  <a:srgbClr val="C98A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ฟื้นฟู 150 ลบ. (69:80 / 70:50 / 71:20) · ลงทุน 500 (ปี 72) + 520 (ปี 73) + สัญญาเช่าใหม่ ~600</a:t>
            </a:r>
            <a:endParaRPr lang="th-TH" sz="740" dirty="0"/>
          </a:p>
        </p:txBody>
      </p:sp>
      <p:sp>
        <p:nvSpPr>
          <p:cNvPr id="250" name="Text 248"/>
          <p:cNvSpPr txBox="1"/>
          <p:nvPr/>
        </p:nvSpPr>
        <p:spPr>
          <a:xfrm>
            <a:off x="5815584" y="4700016"/>
            <a:ext cx="18013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buSzPct val="100000"/>
              <a:buChar char="•"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ทบทวนกำไรรายแบรนด์/รายสาขา ปรับค่าใช้จ่าย กำลังคน โปรโมชั่น</a:t>
            </a:r>
            <a:endParaRPr lang="th-TH" sz="840" dirty="0"/>
          </a:p>
          <a:p>
            <a:pPr marL="101600" indent="-101600">
              <a:buSzPct val="100000"/>
              <a:buChar char="•"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ไม่คุ้มค่าหลังปรับ → ปรับรูปแบบ ย้าย หรือปิดสาขา</a:t>
            </a:r>
            <a:endParaRPr lang="th-TH" sz="840" dirty="0"/>
          </a:p>
          <a:p>
            <a:pPr marL="101600" indent="-101600">
              <a:buSzPct val="100000"/>
              <a:buChar char="•"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โบนัส สุกี้ขยายตามแผนเดิม เฉพาะสาขาผ่านเกณฑ์คืนทุน ไม่เพิ่มวงเงินใหม่</a:t>
            </a:r>
            <a:endParaRPr lang="th-TH" sz="840" dirty="0"/>
          </a:p>
        </p:txBody>
      </p:sp>
      <p:sp>
        <p:nvSpPr>
          <p:cNvPr id="251" name="Text 249"/>
          <p:cNvSpPr txBox="1"/>
          <p:nvPr/>
        </p:nvSpPr>
        <p:spPr>
          <a:xfrm>
            <a:off x="7754112" y="4700016"/>
            <a:ext cx="1563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buSzPct val="100000"/>
              <a:buChar char="•"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ขยายแบรนด์/รูปแบบร้านที่สร้างกำไรไปพื้นที่และลูกค้าใหม่</a:t>
            </a:r>
            <a:endParaRPr lang="th-TH" sz="840" dirty="0"/>
          </a:p>
          <a:p>
            <a:pPr marL="101600" indent="-101600">
              <a:buSzPct val="100000"/>
              <a:buChar char="•"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เริ่มเมื่อ GM ≥ 64.0% 2 ไตรมาสติด + ยอดขายสาขาเดิมและ CFO เป็นบวก</a:t>
            </a:r>
            <a:endParaRPr lang="th-TH" sz="840" dirty="0"/>
          </a:p>
          <a:p>
            <a:pPr marL="101600" indent="-101600">
              <a:buSzPct val="100000"/>
              <a:buChar char="•"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อนุมัติเฉพาะสาขาคืนทุน ≤ 5 ปี</a:t>
            </a:r>
            <a:endParaRPr lang="th-TH" sz="840" dirty="0"/>
          </a:p>
        </p:txBody>
      </p:sp>
      <p:sp>
        <p:nvSpPr>
          <p:cNvPr id="252" name="Text 250"/>
          <p:cNvSpPr txBox="1"/>
          <p:nvPr/>
        </p:nvSpPr>
        <p:spPr>
          <a:xfrm>
            <a:off x="9436608" y="4700016"/>
            <a:ext cx="13807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กำไรจากการดำเนินงาน · กระแสเงินสด · สาขาที่กลับมามีกำไร (แยกผลการปิดสาขา) · ระยะคืนทุนสาขาใหม่</a:t>
            </a:r>
            <a:endParaRPr lang="th-TH" sz="800" dirty="0"/>
          </a:p>
        </p:txBody>
      </p:sp>
      <p:sp>
        <p:nvSpPr>
          <p:cNvPr id="253" name="Shape 251"/>
          <p:cNvSpPr/>
          <p:nvPr/>
        </p:nvSpPr>
        <p:spPr>
          <a:xfrm>
            <a:off x="4178808" y="5861304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254" name="Text 252"/>
          <p:cNvSpPr txBox="1"/>
          <p:nvPr/>
        </p:nvSpPr>
        <p:spPr>
          <a:xfrm>
            <a:off x="4224528" y="5888736"/>
            <a:ext cx="6592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40" i="1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Parenting: ครัวกลาง จัดซื้อรวม ขนส่ง และสถาบันฝึกอบรมสนับสนุนทุกแบรนด์ · เอ็มเค สุกี้เป็นแหล่งเงินสดหลัก · เงินลงทุนช่วงเติบโตให้แบรนด์ที่กำไรและระยะคืนทุนผ่านเกณฑ์</a:t>
            </a:r>
            <a:endParaRPr lang="th-TH" sz="740" dirty="0"/>
          </a:p>
        </p:txBody>
      </p:sp>
      <p:sp>
        <p:nvSpPr>
          <p:cNvPr id="255" name="Shape 253"/>
          <p:cNvSpPr/>
          <p:nvPr/>
        </p:nvSpPr>
        <p:spPr>
          <a:xfrm>
            <a:off x="4178808" y="6208776"/>
            <a:ext cx="6684264" cy="219456"/>
          </a:xfrm>
          <a:prstGeom prst="rect">
            <a:avLst/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256" name="Text 254"/>
          <p:cNvSpPr txBox="1"/>
          <p:nvPr/>
        </p:nvSpPr>
        <p:spPr>
          <a:xfrm>
            <a:off x="4251960" y="6208776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8A5A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ระดับธุรกิจ (Business) — กลยุทธ์รายแบรนด์ เพื่อไม่ให้แบรนด์ใดติดอยู่ตรงกลาง (Stuck in the Middle)</a:t>
            </a:r>
            <a:endParaRPr lang="th-TH" sz="900" dirty="0"/>
          </a:p>
        </p:txBody>
      </p:sp>
      <p:sp>
        <p:nvSpPr>
          <p:cNvPr id="257" name="Shape 255"/>
          <p:cNvSpPr/>
          <p:nvPr/>
        </p:nvSpPr>
        <p:spPr>
          <a:xfrm>
            <a:off x="4178808" y="6464808"/>
            <a:ext cx="165049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4242816" y="6483096"/>
            <a:ext cx="1559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เอ็มเค สุกี้</a:t>
            </a:r>
            <a:endParaRPr lang="th-TH" sz="950" dirty="0"/>
          </a:p>
        </p:txBody>
      </p:sp>
      <p:sp>
        <p:nvSpPr>
          <p:cNvPr id="259" name="Text 257"/>
          <p:cNvSpPr txBox="1"/>
          <p:nvPr/>
        </p:nvSpPr>
        <p:spPr>
          <a:xfrm>
            <a:off x="4242816" y="6675120"/>
            <a:ext cx="15590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b="1" dirty="0">
                <a:solidFill>
                  <a:srgbClr val="C039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Differentiation</a:t>
            </a:r>
            <a:endParaRPr lang="th-TH" sz="800" dirty="0"/>
          </a:p>
        </p:txBody>
      </p:sp>
      <p:sp>
        <p:nvSpPr>
          <p:cNvPr id="260" name="Text 258"/>
          <p:cNvSpPr txBox="1"/>
          <p:nvPr/>
        </p:nvSpPr>
        <p:spPr>
          <a:xfrm>
            <a:off x="4242816" y="6839712"/>
            <a:ext cx="1559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มื้อครอบครัว + ทางเลือกสุขภาพ</a:t>
            </a:r>
            <a:endParaRPr lang="th-TH" sz="760" dirty="0"/>
          </a:p>
        </p:txBody>
      </p:sp>
      <p:sp>
        <p:nvSpPr>
          <p:cNvPr id="261" name="Shape 259"/>
          <p:cNvSpPr/>
          <p:nvPr/>
        </p:nvSpPr>
        <p:spPr>
          <a:xfrm>
            <a:off x="5856732" y="6464808"/>
            <a:ext cx="165049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2" name="Text 260"/>
          <p:cNvSpPr txBox="1"/>
          <p:nvPr/>
        </p:nvSpPr>
        <p:spPr>
          <a:xfrm>
            <a:off x="5920740" y="6483096"/>
            <a:ext cx="1559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ยาโยอิ</a:t>
            </a:r>
            <a:endParaRPr lang="th-TH" sz="950" dirty="0"/>
          </a:p>
        </p:txBody>
      </p:sp>
      <p:sp>
        <p:nvSpPr>
          <p:cNvPr id="263" name="Text 261"/>
          <p:cNvSpPr txBox="1"/>
          <p:nvPr/>
        </p:nvSpPr>
        <p:spPr>
          <a:xfrm>
            <a:off x="5920740" y="6675120"/>
            <a:ext cx="15590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b="1" dirty="0">
                <a:solidFill>
                  <a:srgbClr val="C039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Differentiation</a:t>
            </a:r>
            <a:endParaRPr lang="th-TH" sz="800" dirty="0"/>
          </a:p>
        </p:txBody>
      </p:sp>
      <p:sp>
        <p:nvSpPr>
          <p:cNvPr id="264" name="Text 262"/>
          <p:cNvSpPr txBox="1"/>
          <p:nvPr/>
        </p:nvSpPr>
        <p:spPr>
          <a:xfrm>
            <a:off x="5920740" y="6839712"/>
            <a:ext cx="1559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อาหารญี่ปุ่นคุณภาพ รวดเร็ว</a:t>
            </a:r>
            <a:endParaRPr lang="th-TH" sz="760" dirty="0"/>
          </a:p>
        </p:txBody>
      </p:sp>
      <p:sp>
        <p:nvSpPr>
          <p:cNvPr id="265" name="Shape 263"/>
          <p:cNvSpPr/>
          <p:nvPr/>
        </p:nvSpPr>
        <p:spPr>
          <a:xfrm>
            <a:off x="7534656" y="6464808"/>
            <a:ext cx="165049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66" name="Text 264"/>
          <p:cNvSpPr txBox="1"/>
          <p:nvPr/>
        </p:nvSpPr>
        <p:spPr>
          <a:xfrm>
            <a:off x="7598664" y="6483096"/>
            <a:ext cx="1559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แหลมเจริญ ซีฟู้ด</a:t>
            </a:r>
            <a:endParaRPr lang="th-TH" sz="950" dirty="0"/>
          </a:p>
        </p:txBody>
      </p:sp>
      <p:sp>
        <p:nvSpPr>
          <p:cNvPr id="267" name="Text 265"/>
          <p:cNvSpPr txBox="1"/>
          <p:nvPr/>
        </p:nvSpPr>
        <p:spPr>
          <a:xfrm>
            <a:off x="7598664" y="6675120"/>
            <a:ext cx="15590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b="1" dirty="0">
                <a:solidFill>
                  <a:srgbClr val="2F5D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Differentiation Focus</a:t>
            </a:r>
            <a:endParaRPr lang="th-TH" sz="800" dirty="0"/>
          </a:p>
        </p:txBody>
      </p:sp>
      <p:sp>
        <p:nvSpPr>
          <p:cNvPr id="268" name="Text 266"/>
          <p:cNvSpPr txBox="1"/>
          <p:nvPr/>
        </p:nvSpPr>
        <p:spPr>
          <a:xfrm>
            <a:off x="7598664" y="6839712"/>
            <a:ext cx="1559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อาหารทะเล มื้อครอบครัว/สังสรรค์</a:t>
            </a:r>
            <a:endParaRPr lang="th-TH" sz="760" dirty="0"/>
          </a:p>
        </p:txBody>
      </p:sp>
      <p:sp>
        <p:nvSpPr>
          <p:cNvPr id="269" name="Shape 267"/>
          <p:cNvSpPr/>
          <p:nvPr/>
        </p:nvSpPr>
        <p:spPr>
          <a:xfrm>
            <a:off x="9212580" y="6464808"/>
            <a:ext cx="165049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0" name="Text 268"/>
          <p:cNvSpPr txBox="1"/>
          <p:nvPr/>
        </p:nvSpPr>
        <p:spPr>
          <a:xfrm>
            <a:off x="9276588" y="6483096"/>
            <a:ext cx="1559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โบนัส สุกี้</a:t>
            </a:r>
            <a:endParaRPr lang="th-TH" sz="950" dirty="0"/>
          </a:p>
        </p:txBody>
      </p:sp>
      <p:sp>
        <p:nvSpPr>
          <p:cNvPr id="271" name="Text 269"/>
          <p:cNvSpPr txBox="1"/>
          <p:nvPr/>
        </p:nvSpPr>
        <p:spPr>
          <a:xfrm>
            <a:off x="9276588" y="6675120"/>
            <a:ext cx="15590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b="1" dirty="0">
                <a:solidFill>
                  <a:srgbClr val="C98A1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Cost Focus</a:t>
            </a:r>
            <a:endParaRPr lang="th-TH" sz="800" dirty="0"/>
          </a:p>
        </p:txBody>
      </p:sp>
      <p:sp>
        <p:nvSpPr>
          <p:cNvPr id="272" name="Text 270"/>
          <p:cNvSpPr txBox="1"/>
          <p:nvPr/>
        </p:nvSpPr>
        <p:spPr>
          <a:xfrm>
            <a:off x="9276588" y="6839712"/>
            <a:ext cx="1559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บุฟเฟต์ราคาประหยัด คุมต้นทุนต่อคน</a:t>
            </a:r>
            <a:endParaRPr lang="th-TH" sz="760" dirty="0"/>
          </a:p>
        </p:txBody>
      </p:sp>
      <p:sp>
        <p:nvSpPr>
          <p:cNvPr id="273" name="Shape 271"/>
          <p:cNvSpPr/>
          <p:nvPr/>
        </p:nvSpPr>
        <p:spPr>
          <a:xfrm>
            <a:off x="5751576" y="7068312"/>
            <a:ext cx="1911096" cy="640080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690104" y="7068312"/>
            <a:ext cx="1673352" cy="640080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275" name="Text 273"/>
          <p:cNvSpPr txBox="1"/>
          <p:nvPr/>
        </p:nvSpPr>
        <p:spPr>
          <a:xfrm>
            <a:off x="4197096" y="710488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ทุกแบรนด์</a:t>
            </a:r>
            <a:endParaRPr lang="th-TH" sz="950" dirty="0"/>
          </a:p>
        </p:txBody>
      </p:sp>
      <p:sp>
        <p:nvSpPr>
          <p:cNvPr id="276" name="Text 274"/>
          <p:cNvSpPr txBox="1"/>
          <p:nvPr/>
        </p:nvSpPr>
        <p:spPr>
          <a:xfrm>
            <a:off x="4197096" y="733348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40" b="1" dirty="0">
                <a:solidFill>
                  <a:srgbClr val="C98A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อยู่ในค่าใช้จ่ายขายตามประมาณการ</a:t>
            </a:r>
            <a:endParaRPr lang="th-TH" sz="740" dirty="0"/>
          </a:p>
        </p:txBody>
      </p:sp>
      <p:sp>
        <p:nvSpPr>
          <p:cNvPr id="277" name="Text 275"/>
          <p:cNvSpPr txBox="1"/>
          <p:nvPr/>
        </p:nvSpPr>
        <p:spPr>
          <a:xfrm>
            <a:off x="5815584" y="7114032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ทดลองเมนูและบริการในสาขาเดิม วัดความพึงพอใจ การซื้อซ้ำ และกำไร</a:t>
            </a:r>
            <a:endParaRPr lang="th-TH" sz="840" dirty="0"/>
          </a:p>
        </p:txBody>
      </p:sp>
      <p:sp>
        <p:nvSpPr>
          <p:cNvPr id="278" name="Text 276"/>
          <p:cNvSpPr txBox="1"/>
          <p:nvPr/>
        </p:nvSpPr>
        <p:spPr>
          <a:xfrm>
            <a:off x="7754112" y="711403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ขยายรูปแบบที่ได้ผลไปพื้นที่ใหม่ รักษาเอกลักษณ์ ลดการแข่งกันเองในเครือ</a:t>
            </a:r>
            <a:endParaRPr lang="th-TH" sz="840" dirty="0"/>
          </a:p>
        </p:txBody>
      </p:sp>
      <p:sp>
        <p:nvSpPr>
          <p:cNvPr id="279" name="Text 277"/>
          <p:cNvSpPr txBox="1"/>
          <p:nvPr/>
        </p:nvSpPr>
        <p:spPr>
          <a:xfrm>
            <a:off x="9436608" y="7114032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ความพึงพอใจ · อัตราซื้อซ้ำ · ยอดขายสาขาเดิม · กำไรรายแบรนด์</a:t>
            </a:r>
            <a:endParaRPr lang="th-TH" sz="800" dirty="0"/>
          </a:p>
        </p:txBody>
      </p:sp>
      <p:sp>
        <p:nvSpPr>
          <p:cNvPr id="280" name="Shape 278"/>
          <p:cNvSpPr/>
          <p:nvPr/>
        </p:nvSpPr>
        <p:spPr>
          <a:xfrm>
            <a:off x="4178808" y="7708392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178808" y="7708392"/>
            <a:ext cx="6684264" cy="219456"/>
          </a:xfrm>
          <a:prstGeom prst="rect">
            <a:avLst/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282" name="Text 280"/>
          <p:cNvSpPr txBox="1"/>
          <p:nvPr/>
        </p:nvSpPr>
        <p:spPr>
          <a:xfrm>
            <a:off x="4251960" y="770839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900" b="1" dirty="0">
                <a:solidFill>
                  <a:srgbClr val="8A5A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ระดับหน้าที่ (Functional) — งบประมาณอยู่ในต้นทุนขายและค่าใช้จ่ายตามประมาณการ</a:t>
            </a:r>
            <a:endParaRPr lang="th-TH" sz="900" dirty="0"/>
          </a:p>
        </p:txBody>
      </p:sp>
      <p:sp>
        <p:nvSpPr>
          <p:cNvPr id="283" name="Shape 281"/>
          <p:cNvSpPr/>
          <p:nvPr/>
        </p:nvSpPr>
        <p:spPr>
          <a:xfrm>
            <a:off x="5751576" y="7946136"/>
            <a:ext cx="1911096" cy="491947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7690104" y="7946136"/>
            <a:ext cx="1673352" cy="491947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285" name="Text 283"/>
          <p:cNvSpPr txBox="1"/>
          <p:nvPr/>
        </p:nvSpPr>
        <p:spPr>
          <a:xfrm>
            <a:off x="4197096" y="79827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การตลาด</a:t>
            </a:r>
            <a:endParaRPr lang="th-TH" sz="950" dirty="0"/>
          </a:p>
        </p:txBody>
      </p:sp>
      <p:sp>
        <p:nvSpPr>
          <p:cNvPr id="286" name="Text 284"/>
          <p:cNvSpPr txBox="1"/>
          <p:nvPr/>
        </p:nvSpPr>
        <p:spPr>
          <a:xfrm>
            <a:off x="5815584" y="7991856"/>
            <a:ext cx="1801368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ใช้ข้อมูลยอดขาย/สมาชิกจัดชุดอาหารและกิจกรรมกระตุ้นการกลับมา ยุติกิจกรรมที่ไม่คุ้ม</a:t>
            </a:r>
            <a:endParaRPr lang="th-TH" sz="840" dirty="0"/>
          </a:p>
        </p:txBody>
      </p:sp>
      <p:sp>
        <p:nvSpPr>
          <p:cNvPr id="287" name="Text 285"/>
          <p:cNvSpPr txBox="1"/>
          <p:nvPr/>
        </p:nvSpPr>
        <p:spPr>
          <a:xfrm>
            <a:off x="7754112" y="7991856"/>
            <a:ext cx="156362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สำรวจลูกค้าและคู่แข่งในพื้นที่ใหม่ ใช้ออนไลน์สร้างการรับรู้</a:t>
            </a:r>
            <a:endParaRPr lang="th-TH" sz="840" dirty="0"/>
          </a:p>
        </p:txBody>
      </p:sp>
      <p:sp>
        <p:nvSpPr>
          <p:cNvPr id="288" name="Text 286"/>
          <p:cNvSpPr txBox="1"/>
          <p:nvPr/>
        </p:nvSpPr>
        <p:spPr>
          <a:xfrm>
            <a:off x="9436608" y="7991856"/>
            <a:ext cx="138074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กำไรส่วนเพิ่มหลังหักส่วนลด · ซื้อซ้ำ · ลูกค้าใหม่ที่ซื้อจริง</a:t>
            </a:r>
            <a:endParaRPr lang="th-TH" sz="800" dirty="0"/>
          </a:p>
        </p:txBody>
      </p:sp>
      <p:sp>
        <p:nvSpPr>
          <p:cNvPr id="289" name="Shape 287"/>
          <p:cNvSpPr/>
          <p:nvPr/>
        </p:nvSpPr>
        <p:spPr>
          <a:xfrm>
            <a:off x="4178808" y="8438083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751576" y="8438083"/>
            <a:ext cx="1911096" cy="491947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690104" y="8438083"/>
            <a:ext cx="1673352" cy="491947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292" name="Text 290"/>
          <p:cNvSpPr txBox="1"/>
          <p:nvPr/>
        </p:nvSpPr>
        <p:spPr>
          <a:xfrm>
            <a:off x="4197096" y="8474659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การเงิน</a:t>
            </a:r>
            <a:endParaRPr lang="th-TH" sz="950" dirty="0"/>
          </a:p>
        </p:txBody>
      </p:sp>
      <p:sp>
        <p:nvSpPr>
          <p:cNvPr id="293" name="Text 291"/>
          <p:cNvSpPr txBox="1"/>
          <p:nvPr/>
        </p:nvSpPr>
        <p:spPr>
          <a:xfrm>
            <a:off x="5815584" y="8483803"/>
            <a:ext cx="1801368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ติดตามกำไรและเงินสดรายเดือน ตรวจค่าใช้จ่ายรายสาขา ใช้ CFO เป็นแหล่งเงินหลัก ไม่เพิ่มหนี้</a:t>
            </a:r>
            <a:endParaRPr lang="th-TH" sz="840" dirty="0"/>
          </a:p>
        </p:txBody>
      </p:sp>
      <p:sp>
        <p:nvSpPr>
          <p:cNvPr id="294" name="Text 292"/>
          <p:cNvSpPr txBox="1"/>
          <p:nvPr/>
        </p:nvSpPr>
        <p:spPr>
          <a:xfrm>
            <a:off x="7754112" y="8483803"/>
            <a:ext cx="156362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ประเมินจุดคุ้มทุนและคืนทุนก่อนอนุมัติ ทยอยลงทุน ปันผล ~50% ของกำไร</a:t>
            </a:r>
            <a:endParaRPr lang="th-TH" sz="840" dirty="0"/>
          </a:p>
        </p:txBody>
      </p:sp>
      <p:sp>
        <p:nvSpPr>
          <p:cNvPr id="295" name="Text 293"/>
          <p:cNvSpPr txBox="1"/>
          <p:nvPr/>
        </p:nvSpPr>
        <p:spPr>
          <a:xfrm>
            <a:off x="9436608" y="8483803"/>
            <a:ext cx="138074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กำไรจากการดำเนินงาน · GM · กระแสเงินสด · ค่าใช้จ่ายจริงเทียบงบ</a:t>
            </a:r>
            <a:endParaRPr lang="th-TH" sz="800" dirty="0"/>
          </a:p>
        </p:txBody>
      </p:sp>
      <p:sp>
        <p:nvSpPr>
          <p:cNvPr id="296" name="Shape 294"/>
          <p:cNvSpPr/>
          <p:nvPr/>
        </p:nvSpPr>
        <p:spPr>
          <a:xfrm>
            <a:off x="4178808" y="8930030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751576" y="8930030"/>
            <a:ext cx="1911096" cy="491947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690104" y="8930030"/>
            <a:ext cx="1673352" cy="491947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299" name="Text 297"/>
          <p:cNvSpPr txBox="1"/>
          <p:nvPr/>
        </p:nvSpPr>
        <p:spPr>
          <a:xfrm>
            <a:off x="4197096" y="896660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วิจัยและพัฒนา</a:t>
            </a:r>
            <a:endParaRPr lang="th-TH" sz="950" dirty="0"/>
          </a:p>
        </p:txBody>
      </p:sp>
      <p:sp>
        <p:nvSpPr>
          <p:cNvPr id="300" name="Text 298"/>
          <p:cNvSpPr txBox="1"/>
          <p:nvPr/>
        </p:nvSpPr>
        <p:spPr>
          <a:xfrm>
            <a:off x="5815584" y="8975750"/>
            <a:ext cx="1801368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ทบทวนเมนูขายดี/สร้างกำไร ปรับเมนูต้นทุนสูง พัฒนาชุดอาหารสุขภาพและเมนูจัดส่ง</a:t>
            </a:r>
            <a:endParaRPr lang="th-TH" sz="840" dirty="0"/>
          </a:p>
        </p:txBody>
      </p:sp>
      <p:sp>
        <p:nvSpPr>
          <p:cNvPr id="301" name="Text 299"/>
          <p:cNvSpPr txBox="1"/>
          <p:nvPr/>
        </p:nvSpPr>
        <p:spPr>
          <a:xfrm>
            <a:off x="7754112" y="8975750"/>
            <a:ext cx="156362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นำเมนูที่ผ่านการทดลองไปใช้ในวงกว้างและสาขาใหม่</a:t>
            </a:r>
            <a:endParaRPr lang="th-TH" sz="840" dirty="0"/>
          </a:p>
        </p:txBody>
      </p:sp>
      <p:sp>
        <p:nvSpPr>
          <p:cNvPr id="302" name="Text 300"/>
          <p:cNvSpPr txBox="1"/>
          <p:nvPr/>
        </p:nvSpPr>
        <p:spPr>
          <a:xfrm>
            <a:off x="9436608" y="8975750"/>
            <a:ext cx="138074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กำไรส่วนเพิ่มเมนูทดลอง · ต้นทุนต่อจาน · ของเสีย · ความพึงพอใจ</a:t>
            </a:r>
            <a:endParaRPr lang="th-TH" sz="800" dirty="0"/>
          </a:p>
        </p:txBody>
      </p:sp>
      <p:sp>
        <p:nvSpPr>
          <p:cNvPr id="303" name="Shape 301"/>
          <p:cNvSpPr/>
          <p:nvPr/>
        </p:nvSpPr>
        <p:spPr>
          <a:xfrm>
            <a:off x="4178808" y="9421978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751576" y="9421978"/>
            <a:ext cx="1911096" cy="491947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690104" y="9421978"/>
            <a:ext cx="1673352" cy="491947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306" name="Text 304"/>
          <p:cNvSpPr txBox="1"/>
          <p:nvPr/>
        </p:nvSpPr>
        <p:spPr>
          <a:xfrm>
            <a:off x="4197096" y="945855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การดำเนินงาน</a:t>
            </a:r>
            <a:endParaRPr lang="th-TH" sz="950" dirty="0"/>
          </a:p>
        </p:txBody>
      </p:sp>
      <p:sp>
        <p:nvSpPr>
          <p:cNvPr id="307" name="Text 305"/>
          <p:cNvSpPr txBox="1"/>
          <p:nvPr/>
        </p:nvSpPr>
        <p:spPr>
          <a:xfrm>
            <a:off x="5815584" y="9467698"/>
            <a:ext cx="1801368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ปรับจัดซื้อ ผลิต จัดส่ง และกำลังคนตามยอดขายจริง ลดของเสีย</a:t>
            </a:r>
            <a:endParaRPr lang="th-TH" sz="840" dirty="0"/>
          </a:p>
        </p:txBody>
      </p:sp>
      <p:sp>
        <p:nvSpPr>
          <p:cNvPr id="308" name="Text 306"/>
          <p:cNvSpPr txBox="1"/>
          <p:nvPr/>
        </p:nvSpPr>
        <p:spPr>
          <a:xfrm>
            <a:off x="7754112" y="9467698"/>
            <a:ext cx="156362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ประเมินกำลังผลิตครัวกลางและขนส่งก่อนรองรับสาขาใหม่</a:t>
            </a:r>
            <a:endParaRPr lang="th-TH" sz="840" dirty="0"/>
          </a:p>
        </p:txBody>
      </p:sp>
      <p:sp>
        <p:nvSpPr>
          <p:cNvPr id="309" name="Text 307"/>
          <p:cNvSpPr txBox="1"/>
          <p:nvPr/>
        </p:nvSpPr>
        <p:spPr>
          <a:xfrm>
            <a:off x="9436608" y="9467698"/>
            <a:ext cx="138074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ของเสียต่อยอดขาย · ค่าแรงต่อยอดขาย · เวลารออาหาร · ส่งครบตรงเวลา</a:t>
            </a:r>
            <a:endParaRPr lang="th-TH" sz="800" dirty="0"/>
          </a:p>
        </p:txBody>
      </p:sp>
      <p:sp>
        <p:nvSpPr>
          <p:cNvPr id="310" name="Shape 308"/>
          <p:cNvSpPr/>
          <p:nvPr/>
        </p:nvSpPr>
        <p:spPr>
          <a:xfrm>
            <a:off x="4178808" y="9913925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751576" y="9913925"/>
            <a:ext cx="1911096" cy="491947"/>
          </a:xfrm>
          <a:prstGeom prst="rect">
            <a:avLst/>
          </a:prstGeom>
          <a:solidFill>
            <a:srgbClr val="FDF3F2"/>
          </a:solidFill>
          <a:ln w="9525">
            <a:solidFill>
              <a:srgbClr val="FDF3F2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690104" y="9913925"/>
            <a:ext cx="1673352" cy="491947"/>
          </a:xfrm>
          <a:prstGeom prst="rect">
            <a:avLst/>
          </a:prstGeom>
          <a:solidFill>
            <a:srgbClr val="F0F8F3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313" name="Text 311"/>
          <p:cNvSpPr txBox="1"/>
          <p:nvPr/>
        </p:nvSpPr>
        <p:spPr>
          <a:xfrm>
            <a:off x="4197096" y="9950501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9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ทรัพยากรมนุษย์</a:t>
            </a:r>
            <a:endParaRPr lang="th-TH" sz="950" dirty="0"/>
          </a:p>
        </p:txBody>
      </p:sp>
      <p:sp>
        <p:nvSpPr>
          <p:cNvPr id="314" name="Text 312"/>
          <p:cNvSpPr txBox="1"/>
          <p:nvPr/>
        </p:nvSpPr>
        <p:spPr>
          <a:xfrm>
            <a:off x="5815584" y="9959645"/>
            <a:ext cx="1801368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อบรมอาหาร บริการ ระบบงาน พัฒนาผู้จัดการสาขา โยกย้ายอย่างเป็นธรรม</a:t>
            </a:r>
            <a:endParaRPr lang="th-TH" sz="840" dirty="0"/>
          </a:p>
        </p:txBody>
      </p:sp>
      <p:sp>
        <p:nvSpPr>
          <p:cNvPr id="315" name="Text 313"/>
          <p:cNvSpPr txBox="1"/>
          <p:nvPr/>
        </p:nvSpPr>
        <p:spPr>
          <a:xfrm>
            <a:off x="7754112" y="9959645"/>
            <a:ext cx="156362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4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เตรียมทีมที่ผ่านการอบรมสำหรับสาขาใหม่ สรรหาเฉพาะที่จำเป็น</a:t>
            </a:r>
            <a:endParaRPr lang="th-TH" sz="840" dirty="0"/>
          </a:p>
        </p:txBody>
      </p:sp>
      <p:sp>
        <p:nvSpPr>
          <p:cNvPr id="316" name="Text 314"/>
          <p:cNvSpPr txBox="1"/>
          <p:nvPr/>
        </p:nvSpPr>
        <p:spPr>
          <a:xfrm>
            <a:off x="9436608" y="9959645"/>
            <a:ext cx="1380744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00" dirty="0">
                <a:solidFill>
                  <a:srgbClr val="4A4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ผ่านประเมินทักษะ · นำไปใช้จริง · อัตราลาออก · ความพร้อมทีม</a:t>
            </a:r>
            <a:endParaRPr lang="th-TH" sz="800" dirty="0"/>
          </a:p>
        </p:txBody>
      </p:sp>
      <p:sp>
        <p:nvSpPr>
          <p:cNvPr id="317" name="Shape 315"/>
          <p:cNvSpPr/>
          <p:nvPr/>
        </p:nvSpPr>
        <p:spPr>
          <a:xfrm>
            <a:off x="4178808" y="10405872"/>
            <a:ext cx="6684264" cy="0"/>
          </a:xfrm>
          <a:prstGeom prst="line">
            <a:avLst/>
          </a:prstGeom>
          <a:noFill/>
          <a:ln w="9525">
            <a:solidFill>
              <a:srgbClr val="DDD5CC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109960" y="1207008"/>
            <a:ext cx="3781044" cy="48463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1109960" y="1207008"/>
            <a:ext cx="3781044" cy="384048"/>
          </a:xfrm>
          <a:prstGeom prst="roundRect">
            <a:avLst>
              <a:gd name="adj" fmla="val 19048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1109960" y="1435608"/>
            <a:ext cx="3781044" cy="155448"/>
          </a:xfrm>
          <a:prstGeom prst="rect">
            <a:avLst/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1219688" y="127101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2" name="Text 320"/>
          <p:cNvSpPr txBox="1"/>
          <p:nvPr/>
        </p:nvSpPr>
        <p:spPr>
          <a:xfrm>
            <a:off x="11219688" y="1271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th-TH" sz="1100" dirty="0"/>
          </a:p>
        </p:txBody>
      </p:sp>
      <p:sp>
        <p:nvSpPr>
          <p:cNvPr id="323" name="Text 321"/>
          <p:cNvSpPr txBox="1"/>
          <p:nvPr/>
        </p:nvSpPr>
        <p:spPr>
          <a:xfrm>
            <a:off x="11548872" y="1225296"/>
            <a:ext cx="3232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การประเมินผล (BSC)</a:t>
            </a:r>
            <a:endParaRPr lang="th-TH" sz="1400" dirty="0"/>
          </a:p>
        </p:txBody>
      </p:sp>
      <p:sp>
        <p:nvSpPr>
          <p:cNvPr id="324" name="Text 322"/>
          <p:cNvSpPr txBox="1"/>
          <p:nvPr/>
        </p:nvSpPr>
        <p:spPr>
          <a:xfrm>
            <a:off x="11247120" y="1645920"/>
            <a:ext cx="3506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ด้านการเงิน</a:t>
            </a:r>
            <a:endParaRPr lang="th-TH" sz="1000" dirty="0"/>
          </a:p>
        </p:txBody>
      </p:sp>
      <p:sp>
        <p:nvSpPr>
          <p:cNvPr id="325" name="Shape 323"/>
          <p:cNvSpPr/>
          <p:nvPr/>
        </p:nvSpPr>
        <p:spPr>
          <a:xfrm>
            <a:off x="11247120" y="1874520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26" name="Text 324"/>
          <p:cNvSpPr txBox="1"/>
          <p:nvPr/>
        </p:nvSpPr>
        <p:spPr>
          <a:xfrm>
            <a:off x="11247120" y="1865376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≥3%</a:t>
            </a:r>
            <a:endParaRPr lang="th-TH" sz="1000" dirty="0"/>
          </a:p>
        </p:txBody>
      </p:sp>
      <p:sp>
        <p:nvSpPr>
          <p:cNvPr id="327" name="Text 325"/>
          <p:cNvSpPr txBox="1"/>
          <p:nvPr/>
        </p:nvSpPr>
        <p:spPr>
          <a:xfrm>
            <a:off x="11247120" y="20574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ต่อปี</a:t>
            </a:r>
            <a:endParaRPr lang="th-TH" sz="680" dirty="0"/>
          </a:p>
        </p:txBody>
      </p:sp>
      <p:sp>
        <p:nvSpPr>
          <p:cNvPr id="328" name="Text 326"/>
          <p:cNvSpPr txBox="1"/>
          <p:nvPr/>
        </p:nvSpPr>
        <p:spPr>
          <a:xfrm>
            <a:off x="12344400" y="1874520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ยอดขายสาขาเดิม ปี 2570–2571</a:t>
            </a:r>
            <a:endParaRPr lang="th-TH" sz="860" dirty="0"/>
          </a:p>
        </p:txBody>
      </p:sp>
      <p:sp>
        <p:nvSpPr>
          <p:cNvPr id="329" name="Shape 327"/>
          <p:cNvSpPr/>
          <p:nvPr/>
        </p:nvSpPr>
        <p:spPr>
          <a:xfrm>
            <a:off x="11247120" y="2217420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30" name="Text 328"/>
          <p:cNvSpPr txBox="1"/>
          <p:nvPr/>
        </p:nvSpPr>
        <p:spPr>
          <a:xfrm>
            <a:off x="11247120" y="2208276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≥64.0%</a:t>
            </a:r>
            <a:endParaRPr lang="th-TH" sz="1000" dirty="0"/>
          </a:p>
        </p:txBody>
      </p:sp>
      <p:sp>
        <p:nvSpPr>
          <p:cNvPr id="331" name="Text 329"/>
          <p:cNvSpPr txBox="1"/>
          <p:nvPr/>
        </p:nvSpPr>
        <p:spPr>
          <a:xfrm>
            <a:off x="11247120" y="24003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ปี 2571</a:t>
            </a:r>
            <a:endParaRPr lang="th-TH" sz="680" dirty="0"/>
          </a:p>
        </p:txBody>
      </p:sp>
      <p:sp>
        <p:nvSpPr>
          <p:cNvPr id="332" name="Text 330"/>
          <p:cNvSpPr txBox="1"/>
          <p:nvPr/>
        </p:nvSpPr>
        <p:spPr>
          <a:xfrm>
            <a:off x="12344400" y="2217420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อัตรากำไรขั้นต้น · 64.6% ในปี 2572</a:t>
            </a:r>
            <a:endParaRPr lang="th-TH" sz="860" dirty="0"/>
          </a:p>
        </p:txBody>
      </p:sp>
      <p:sp>
        <p:nvSpPr>
          <p:cNvPr id="333" name="Shape 331"/>
          <p:cNvSpPr/>
          <p:nvPr/>
        </p:nvSpPr>
        <p:spPr>
          <a:xfrm>
            <a:off x="11247120" y="2560320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34" name="Text 332"/>
          <p:cNvSpPr txBox="1"/>
          <p:nvPr/>
        </p:nvSpPr>
        <p:spPr>
          <a:xfrm>
            <a:off x="11247120" y="2551176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บวก</a:t>
            </a:r>
            <a:endParaRPr lang="th-TH" sz="1000" dirty="0"/>
          </a:p>
        </p:txBody>
      </p:sp>
      <p:sp>
        <p:nvSpPr>
          <p:cNvPr id="335" name="Text 333"/>
          <p:cNvSpPr txBox="1"/>
          <p:nvPr/>
        </p:nvSpPr>
        <p:spPr>
          <a:xfrm>
            <a:off x="11247120" y="27432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ทุกปี</a:t>
            </a:r>
            <a:endParaRPr lang="th-TH" sz="680" dirty="0"/>
          </a:p>
        </p:txBody>
      </p:sp>
      <p:sp>
        <p:nvSpPr>
          <p:cNvPr id="336" name="Text 334"/>
          <p:cNvSpPr txBox="1"/>
          <p:nvPr/>
        </p:nvSpPr>
        <p:spPr>
          <a:xfrm>
            <a:off x="12344400" y="2560320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กระแสเงินสดจากการดำเนินงาน</a:t>
            </a:r>
            <a:endParaRPr lang="th-TH" sz="860" dirty="0"/>
          </a:p>
        </p:txBody>
      </p:sp>
      <p:sp>
        <p:nvSpPr>
          <p:cNvPr id="337" name="Text 335"/>
          <p:cNvSpPr txBox="1"/>
          <p:nvPr/>
        </p:nvSpPr>
        <p:spPr>
          <a:xfrm>
            <a:off x="11247120" y="2921508"/>
            <a:ext cx="3506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b="1" dirty="0">
                <a:solidFill>
                  <a:srgbClr val="2F5D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ด้านลูกค้า</a:t>
            </a:r>
            <a:endParaRPr lang="th-TH" sz="1000" dirty="0"/>
          </a:p>
        </p:txBody>
      </p:sp>
      <p:sp>
        <p:nvSpPr>
          <p:cNvPr id="338" name="Shape 336"/>
          <p:cNvSpPr/>
          <p:nvPr/>
        </p:nvSpPr>
        <p:spPr>
          <a:xfrm>
            <a:off x="11247120" y="3150108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39" name="Text 337"/>
          <p:cNvSpPr txBox="1"/>
          <p:nvPr/>
        </p:nvSpPr>
        <p:spPr>
          <a:xfrm>
            <a:off x="11247120" y="314096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F5D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≥85%</a:t>
            </a:r>
            <a:endParaRPr lang="th-TH" sz="1000" dirty="0"/>
          </a:p>
        </p:txBody>
      </p:sp>
      <p:sp>
        <p:nvSpPr>
          <p:cNvPr id="340" name="Text 338"/>
          <p:cNvSpPr txBox="1"/>
          <p:nvPr/>
        </p:nvSpPr>
        <p:spPr>
          <a:xfrm>
            <a:off x="11247120" y="333298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ทุกปี</a:t>
            </a:r>
            <a:endParaRPr lang="th-TH" sz="680" dirty="0"/>
          </a:p>
        </p:txBody>
      </p:sp>
      <p:sp>
        <p:nvSpPr>
          <p:cNvPr id="341" name="Text 339"/>
          <p:cNvSpPr txBox="1"/>
          <p:nvPr/>
        </p:nvSpPr>
        <p:spPr>
          <a:xfrm>
            <a:off x="12344400" y="3150108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ลูกค้าให้คะแนนความพึงพอใจ 4–5</a:t>
            </a:r>
            <a:endParaRPr lang="th-TH" sz="860" dirty="0"/>
          </a:p>
        </p:txBody>
      </p:sp>
      <p:sp>
        <p:nvSpPr>
          <p:cNvPr id="342" name="Shape 340"/>
          <p:cNvSpPr/>
          <p:nvPr/>
        </p:nvSpPr>
        <p:spPr>
          <a:xfrm>
            <a:off x="11247120" y="3493008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43" name="Text 341"/>
          <p:cNvSpPr txBox="1"/>
          <p:nvPr/>
        </p:nvSpPr>
        <p:spPr>
          <a:xfrm>
            <a:off x="11247120" y="3483864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F5D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+3</a:t>
            </a:r>
            <a:endParaRPr lang="th-TH" sz="1000" dirty="0"/>
          </a:p>
        </p:txBody>
      </p:sp>
      <p:sp>
        <p:nvSpPr>
          <p:cNvPr id="344" name="Text 342"/>
          <p:cNvSpPr txBox="1"/>
          <p:nvPr/>
        </p:nvSpPr>
        <p:spPr>
          <a:xfrm>
            <a:off x="11247120" y="367588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จุด/ปี</a:t>
            </a:r>
            <a:endParaRPr lang="th-TH" sz="680" dirty="0"/>
          </a:p>
        </p:txBody>
      </p:sp>
      <p:sp>
        <p:nvSpPr>
          <p:cNvPr id="345" name="Text 343"/>
          <p:cNvSpPr txBox="1"/>
          <p:nvPr/>
        </p:nvSpPr>
        <p:spPr>
          <a:xfrm>
            <a:off x="12344400" y="3493008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อัตราซื้อซ้ำของสมาชิกภายใน 90 วัน</a:t>
            </a:r>
            <a:endParaRPr lang="th-TH" sz="860" dirty="0"/>
          </a:p>
        </p:txBody>
      </p:sp>
      <p:sp>
        <p:nvSpPr>
          <p:cNvPr id="346" name="Text 344"/>
          <p:cNvSpPr txBox="1"/>
          <p:nvPr/>
        </p:nvSpPr>
        <p:spPr>
          <a:xfrm>
            <a:off x="11247120" y="3854196"/>
            <a:ext cx="3506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b="1" dirty="0">
                <a:solidFill>
                  <a:srgbClr val="2E7D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ด้านกระบวนการภายใน</a:t>
            </a:r>
            <a:endParaRPr lang="th-TH" sz="1000" dirty="0"/>
          </a:p>
        </p:txBody>
      </p:sp>
      <p:sp>
        <p:nvSpPr>
          <p:cNvPr id="347" name="Shape 345"/>
          <p:cNvSpPr/>
          <p:nvPr/>
        </p:nvSpPr>
        <p:spPr>
          <a:xfrm>
            <a:off x="11247120" y="4082796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48" name="Text 346"/>
          <p:cNvSpPr txBox="1"/>
          <p:nvPr/>
        </p:nvSpPr>
        <p:spPr>
          <a:xfrm>
            <a:off x="11247120" y="4073652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E7D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−10%</a:t>
            </a:r>
            <a:endParaRPr lang="th-TH" sz="1000" dirty="0"/>
          </a:p>
        </p:txBody>
      </p:sp>
      <p:sp>
        <p:nvSpPr>
          <p:cNvPr id="349" name="Text 347"/>
          <p:cNvSpPr txBox="1"/>
          <p:nvPr/>
        </p:nvSpPr>
        <p:spPr>
          <a:xfrm>
            <a:off x="11247120" y="426567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ต่อปี</a:t>
            </a:r>
            <a:endParaRPr lang="th-TH" sz="680" dirty="0"/>
          </a:p>
        </p:txBody>
      </p:sp>
      <p:sp>
        <p:nvSpPr>
          <p:cNvPr id="350" name="Text 348"/>
          <p:cNvSpPr txBox="1"/>
          <p:nvPr/>
        </p:nvSpPr>
        <p:spPr>
          <a:xfrm>
            <a:off x="12344400" y="4082796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มูลค่าวัตถุดิบเหลือทิ้งต่อยอดขาย</a:t>
            </a:r>
            <a:endParaRPr lang="th-TH" sz="860" dirty="0"/>
          </a:p>
        </p:txBody>
      </p:sp>
      <p:sp>
        <p:nvSpPr>
          <p:cNvPr id="351" name="Shape 349"/>
          <p:cNvSpPr/>
          <p:nvPr/>
        </p:nvSpPr>
        <p:spPr>
          <a:xfrm>
            <a:off x="11247120" y="4425696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52" name="Text 350"/>
          <p:cNvSpPr txBox="1"/>
          <p:nvPr/>
        </p:nvSpPr>
        <p:spPr>
          <a:xfrm>
            <a:off x="11247120" y="4416552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2E7D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≥95%</a:t>
            </a:r>
            <a:endParaRPr lang="th-TH" sz="1000" dirty="0"/>
          </a:p>
        </p:txBody>
      </p:sp>
      <p:sp>
        <p:nvSpPr>
          <p:cNvPr id="353" name="Text 351"/>
          <p:cNvSpPr txBox="1"/>
          <p:nvPr/>
        </p:nvSpPr>
        <p:spPr>
          <a:xfrm>
            <a:off x="11247120" y="460857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ตลอดแผน</a:t>
            </a:r>
            <a:endParaRPr lang="th-TH" sz="680" dirty="0"/>
          </a:p>
        </p:txBody>
      </p:sp>
      <p:sp>
        <p:nvSpPr>
          <p:cNvPr id="354" name="Text 352"/>
          <p:cNvSpPr txBox="1"/>
          <p:nvPr/>
        </p:nvSpPr>
        <p:spPr>
          <a:xfrm>
            <a:off x="12344400" y="4425696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จัดส่งวัตถุดิบครบและตรงเวลา</a:t>
            </a:r>
            <a:endParaRPr lang="th-TH" sz="860" dirty="0"/>
          </a:p>
        </p:txBody>
      </p:sp>
      <p:sp>
        <p:nvSpPr>
          <p:cNvPr id="355" name="Text 353"/>
          <p:cNvSpPr txBox="1"/>
          <p:nvPr/>
        </p:nvSpPr>
        <p:spPr>
          <a:xfrm>
            <a:off x="11247120" y="4786884"/>
            <a:ext cx="3506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000" b="1" dirty="0">
                <a:solidFill>
                  <a:srgbClr val="C98A1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ด้านการเรียนรู้และพัฒนา</a:t>
            </a:r>
            <a:endParaRPr lang="th-TH" sz="1000" dirty="0"/>
          </a:p>
        </p:txBody>
      </p:sp>
      <p:sp>
        <p:nvSpPr>
          <p:cNvPr id="356" name="Shape 354"/>
          <p:cNvSpPr/>
          <p:nvPr/>
        </p:nvSpPr>
        <p:spPr>
          <a:xfrm>
            <a:off x="11247120" y="5015484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57" name="Text 355"/>
          <p:cNvSpPr txBox="1"/>
          <p:nvPr/>
        </p:nvSpPr>
        <p:spPr>
          <a:xfrm>
            <a:off x="11247120" y="5006340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C98A1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≥95%</a:t>
            </a:r>
            <a:endParaRPr lang="th-TH" sz="1000" dirty="0"/>
          </a:p>
        </p:txBody>
      </p:sp>
      <p:sp>
        <p:nvSpPr>
          <p:cNvPr id="358" name="Text 356"/>
          <p:cNvSpPr txBox="1"/>
          <p:nvPr/>
        </p:nvSpPr>
        <p:spPr>
          <a:xfrm>
            <a:off x="11247120" y="51983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อบรมครบ</a:t>
            </a:r>
            <a:endParaRPr lang="th-TH" sz="680" dirty="0"/>
          </a:p>
        </p:txBody>
      </p:sp>
      <p:sp>
        <p:nvSpPr>
          <p:cNvPr id="359" name="Text 357"/>
          <p:cNvSpPr txBox="1"/>
          <p:nvPr/>
        </p:nvSpPr>
        <p:spPr>
          <a:xfrm>
            <a:off x="12344400" y="5015484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ผ่านประเมินภาคปฏิบัติ ≥80%</a:t>
            </a:r>
            <a:endParaRPr lang="th-TH" sz="860" dirty="0"/>
          </a:p>
        </p:txBody>
      </p:sp>
      <p:sp>
        <p:nvSpPr>
          <p:cNvPr id="360" name="Shape 358"/>
          <p:cNvSpPr/>
          <p:nvPr/>
        </p:nvSpPr>
        <p:spPr>
          <a:xfrm>
            <a:off x="11247120" y="5358384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F6F1EA"/>
          </a:solidFill>
          <a:ln w="9525">
            <a:solidFill>
              <a:srgbClr val="F6F1EA"/>
            </a:solidFill>
            <a:prstDash val="solid"/>
          </a:ln>
        </p:spPr>
      </p:sp>
      <p:sp>
        <p:nvSpPr>
          <p:cNvPr id="361" name="Text 359"/>
          <p:cNvSpPr txBox="1"/>
          <p:nvPr/>
        </p:nvSpPr>
        <p:spPr>
          <a:xfrm>
            <a:off x="11247120" y="5349240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rgbClr val="C98A1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≥2</a:t>
            </a:r>
            <a:endParaRPr lang="th-TH" sz="1000" dirty="0"/>
          </a:p>
        </p:txBody>
      </p:sp>
      <p:sp>
        <p:nvSpPr>
          <p:cNvPr id="362" name="Text 360"/>
          <p:cNvSpPr txBox="1"/>
          <p:nvPr/>
        </p:nvSpPr>
        <p:spPr>
          <a:xfrm>
            <a:off x="11247120" y="55412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68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เมนู/ปี</a:t>
            </a:r>
            <a:endParaRPr lang="th-TH" sz="680" dirty="0"/>
          </a:p>
        </p:txBody>
      </p:sp>
      <p:sp>
        <p:nvSpPr>
          <p:cNvPr id="363" name="Text 361"/>
          <p:cNvSpPr txBox="1"/>
          <p:nvPr/>
        </p:nvSpPr>
        <p:spPr>
          <a:xfrm>
            <a:off x="12344400" y="5358384"/>
            <a:ext cx="2409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860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เมนูใหม่ผ่านเกณฑ์พอใจและกำไร</a:t>
            </a:r>
            <a:endParaRPr lang="th-TH" sz="860" dirty="0"/>
          </a:p>
        </p:txBody>
      </p:sp>
      <p:sp>
        <p:nvSpPr>
          <p:cNvPr id="364" name="Shape 362"/>
          <p:cNvSpPr/>
          <p:nvPr/>
        </p:nvSpPr>
        <p:spPr>
          <a:xfrm>
            <a:off x="11109960" y="6163056"/>
            <a:ext cx="3781044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1109960" y="6163056"/>
            <a:ext cx="3781044" cy="384048"/>
          </a:xfrm>
          <a:prstGeom prst="roundRect">
            <a:avLst>
              <a:gd name="adj" fmla="val 19048"/>
            </a:avLst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1109960" y="6391656"/>
            <a:ext cx="3781044" cy="155448"/>
          </a:xfrm>
          <a:prstGeom prst="rect">
            <a:avLst/>
          </a:prstGeom>
          <a:solidFill>
            <a:srgbClr val="9E1B1B"/>
          </a:solidFill>
          <a:ln w="9525">
            <a:solidFill>
              <a:srgbClr val="9E1B1B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1219688" y="62270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8" name="Text 366"/>
          <p:cNvSpPr txBox="1"/>
          <p:nvPr/>
        </p:nvSpPr>
        <p:spPr>
          <a:xfrm>
            <a:off x="11219688" y="6227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rgbClr val="9E1B1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th-TH" sz="1100" dirty="0"/>
          </a:p>
        </p:txBody>
      </p:sp>
      <p:sp>
        <p:nvSpPr>
          <p:cNvPr id="369" name="Text 367"/>
          <p:cNvSpPr txBox="1"/>
          <p:nvPr/>
        </p:nvSpPr>
        <p:spPr>
          <a:xfrm>
            <a:off x="11548872" y="6181344"/>
            <a:ext cx="3232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ประมาณการผลการดำเนินงาน</a:t>
            </a:r>
            <a:endParaRPr lang="th-TH" sz="1400" dirty="0"/>
          </a:p>
        </p:txBody>
      </p:sp>
      <p:sp>
        <p:nvSpPr>
          <p:cNvPr id="370" name="Text 368"/>
          <p:cNvSpPr txBox="1"/>
          <p:nvPr/>
        </p:nvSpPr>
        <p:spPr>
          <a:xfrm>
            <a:off x="11247120" y="65836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ล้านบาท</a:t>
            </a:r>
            <a:endParaRPr lang="th-TH" sz="700" dirty="0"/>
          </a:p>
        </p:txBody>
      </p:sp>
      <p:sp>
        <p:nvSpPr>
          <p:cNvPr id="371" name="Shape 369"/>
          <p:cNvSpPr/>
          <p:nvPr/>
        </p:nvSpPr>
        <p:spPr>
          <a:xfrm>
            <a:off x="11338560" y="7060294"/>
            <a:ext cx="329184" cy="794402"/>
          </a:xfrm>
          <a:prstGeom prst="rect">
            <a:avLst/>
          </a:prstGeom>
          <a:solidFill>
            <a:srgbClr val="A9A9A9"/>
          </a:solidFill>
          <a:ln w="9525">
            <a:solidFill>
              <a:srgbClr val="A9A9A9"/>
            </a:solidFill>
            <a:prstDash val="solid"/>
          </a:ln>
        </p:spPr>
      </p:sp>
      <p:sp>
        <p:nvSpPr>
          <p:cNvPr id="372" name="Text 370"/>
          <p:cNvSpPr txBox="1"/>
          <p:nvPr/>
        </p:nvSpPr>
        <p:spPr>
          <a:xfrm>
            <a:off x="11228832" y="688655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15,109</a:t>
            </a:r>
            <a:endParaRPr lang="th-TH" sz="700" dirty="0"/>
          </a:p>
        </p:txBody>
      </p:sp>
      <p:sp>
        <p:nvSpPr>
          <p:cNvPr id="373" name="Text 371"/>
          <p:cNvSpPr txBox="1"/>
          <p:nvPr/>
        </p:nvSpPr>
        <p:spPr>
          <a:xfrm>
            <a:off x="11247120" y="787298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2568</a:t>
            </a:r>
            <a:endParaRPr lang="th-TH" sz="750" dirty="0"/>
          </a:p>
        </p:txBody>
      </p:sp>
      <p:sp>
        <p:nvSpPr>
          <p:cNvPr id="374" name="Shape 372"/>
          <p:cNvSpPr/>
          <p:nvPr/>
        </p:nvSpPr>
        <p:spPr>
          <a:xfrm>
            <a:off x="11283696" y="8046720"/>
            <a:ext cx="438912" cy="182880"/>
          </a:xfrm>
          <a:prstGeom prst="roundRect">
            <a:avLst>
              <a:gd name="adj" fmla="val 25000"/>
            </a:avLst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375" name="Text 373"/>
          <p:cNvSpPr txBox="1"/>
          <p:nvPr/>
        </p:nvSpPr>
        <p:spPr>
          <a:xfrm>
            <a:off x="11283696" y="80467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8A5A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837</a:t>
            </a:r>
            <a:endParaRPr lang="th-TH" sz="750" dirty="0"/>
          </a:p>
        </p:txBody>
      </p:sp>
      <p:sp>
        <p:nvSpPr>
          <p:cNvPr id="376" name="Shape 374"/>
          <p:cNvSpPr/>
          <p:nvPr/>
        </p:nvSpPr>
        <p:spPr>
          <a:xfrm>
            <a:off x="11946636" y="6980854"/>
            <a:ext cx="329184" cy="873842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7" name="Text 375"/>
          <p:cNvSpPr txBox="1"/>
          <p:nvPr/>
        </p:nvSpPr>
        <p:spPr>
          <a:xfrm>
            <a:off x="11836908" y="680711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16,620</a:t>
            </a:r>
            <a:endParaRPr lang="th-TH" sz="700" dirty="0"/>
          </a:p>
        </p:txBody>
      </p:sp>
      <p:sp>
        <p:nvSpPr>
          <p:cNvPr id="378" name="Text 376"/>
          <p:cNvSpPr txBox="1"/>
          <p:nvPr/>
        </p:nvSpPr>
        <p:spPr>
          <a:xfrm>
            <a:off x="11855196" y="787298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2569</a:t>
            </a:r>
            <a:endParaRPr lang="th-TH" sz="750" dirty="0"/>
          </a:p>
        </p:txBody>
      </p:sp>
      <p:sp>
        <p:nvSpPr>
          <p:cNvPr id="379" name="Shape 377"/>
          <p:cNvSpPr/>
          <p:nvPr/>
        </p:nvSpPr>
        <p:spPr>
          <a:xfrm>
            <a:off x="11891772" y="8046720"/>
            <a:ext cx="438912" cy="182880"/>
          </a:xfrm>
          <a:prstGeom prst="roundRect">
            <a:avLst>
              <a:gd name="adj" fmla="val 25000"/>
            </a:avLst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380" name="Text 378"/>
          <p:cNvSpPr txBox="1"/>
          <p:nvPr/>
        </p:nvSpPr>
        <p:spPr>
          <a:xfrm>
            <a:off x="11891772" y="80467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8A5A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613</a:t>
            </a:r>
            <a:endParaRPr lang="th-TH" sz="750" dirty="0"/>
          </a:p>
        </p:txBody>
      </p:sp>
      <p:sp>
        <p:nvSpPr>
          <p:cNvPr id="381" name="Shape 379"/>
          <p:cNvSpPr/>
          <p:nvPr/>
        </p:nvSpPr>
        <p:spPr>
          <a:xfrm>
            <a:off x="12554712" y="6954638"/>
            <a:ext cx="329184" cy="900058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2" name="Text 380"/>
          <p:cNvSpPr txBox="1"/>
          <p:nvPr/>
        </p:nvSpPr>
        <p:spPr>
          <a:xfrm>
            <a:off x="12444984" y="678090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17,119</a:t>
            </a:r>
            <a:endParaRPr lang="th-TH" sz="700" dirty="0"/>
          </a:p>
        </p:txBody>
      </p:sp>
      <p:sp>
        <p:nvSpPr>
          <p:cNvPr id="383" name="Text 381"/>
          <p:cNvSpPr txBox="1"/>
          <p:nvPr/>
        </p:nvSpPr>
        <p:spPr>
          <a:xfrm>
            <a:off x="12463272" y="787298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2570</a:t>
            </a:r>
            <a:endParaRPr lang="th-TH" sz="750" dirty="0"/>
          </a:p>
        </p:txBody>
      </p:sp>
      <p:sp>
        <p:nvSpPr>
          <p:cNvPr id="384" name="Shape 382"/>
          <p:cNvSpPr/>
          <p:nvPr/>
        </p:nvSpPr>
        <p:spPr>
          <a:xfrm>
            <a:off x="12499848" y="8046720"/>
            <a:ext cx="438912" cy="182880"/>
          </a:xfrm>
          <a:prstGeom prst="roundRect">
            <a:avLst>
              <a:gd name="adj" fmla="val 25000"/>
            </a:avLst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385" name="Text 383"/>
          <p:cNvSpPr txBox="1"/>
          <p:nvPr/>
        </p:nvSpPr>
        <p:spPr>
          <a:xfrm>
            <a:off x="12499848" y="80467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8A5A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887</a:t>
            </a:r>
            <a:endParaRPr lang="th-TH" sz="750" dirty="0"/>
          </a:p>
        </p:txBody>
      </p:sp>
      <p:sp>
        <p:nvSpPr>
          <p:cNvPr id="386" name="Shape 384"/>
          <p:cNvSpPr/>
          <p:nvPr/>
        </p:nvSpPr>
        <p:spPr>
          <a:xfrm>
            <a:off x="13162788" y="6927636"/>
            <a:ext cx="329184" cy="927060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7" name="Text 385"/>
          <p:cNvSpPr txBox="1"/>
          <p:nvPr/>
        </p:nvSpPr>
        <p:spPr>
          <a:xfrm>
            <a:off x="13053060" y="675390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17,632</a:t>
            </a:r>
            <a:endParaRPr lang="th-TH" sz="700" dirty="0"/>
          </a:p>
        </p:txBody>
      </p:sp>
      <p:sp>
        <p:nvSpPr>
          <p:cNvPr id="388" name="Text 386"/>
          <p:cNvSpPr txBox="1"/>
          <p:nvPr/>
        </p:nvSpPr>
        <p:spPr>
          <a:xfrm>
            <a:off x="13071348" y="787298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2571</a:t>
            </a:r>
            <a:endParaRPr lang="th-TH" sz="750" dirty="0"/>
          </a:p>
        </p:txBody>
      </p:sp>
      <p:sp>
        <p:nvSpPr>
          <p:cNvPr id="389" name="Shape 387"/>
          <p:cNvSpPr/>
          <p:nvPr/>
        </p:nvSpPr>
        <p:spPr>
          <a:xfrm>
            <a:off x="13107924" y="8046720"/>
            <a:ext cx="438912" cy="182880"/>
          </a:xfrm>
          <a:prstGeom prst="roundRect">
            <a:avLst>
              <a:gd name="adj" fmla="val 25000"/>
            </a:avLst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390" name="Text 388"/>
          <p:cNvSpPr txBox="1"/>
          <p:nvPr/>
        </p:nvSpPr>
        <p:spPr>
          <a:xfrm>
            <a:off x="13107924" y="80467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8A5A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1,118</a:t>
            </a:r>
            <a:endParaRPr lang="th-TH" sz="750" dirty="0"/>
          </a:p>
        </p:txBody>
      </p:sp>
      <p:sp>
        <p:nvSpPr>
          <p:cNvPr id="391" name="Shape 389"/>
          <p:cNvSpPr/>
          <p:nvPr/>
        </p:nvSpPr>
        <p:spPr>
          <a:xfrm>
            <a:off x="13770864" y="6872013"/>
            <a:ext cx="329184" cy="982683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92" name="Text 390"/>
          <p:cNvSpPr txBox="1"/>
          <p:nvPr/>
        </p:nvSpPr>
        <p:spPr>
          <a:xfrm>
            <a:off x="13661136" y="6698277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18,690</a:t>
            </a:r>
            <a:endParaRPr lang="th-TH" sz="700" dirty="0"/>
          </a:p>
        </p:txBody>
      </p:sp>
      <p:sp>
        <p:nvSpPr>
          <p:cNvPr id="393" name="Text 391"/>
          <p:cNvSpPr txBox="1"/>
          <p:nvPr/>
        </p:nvSpPr>
        <p:spPr>
          <a:xfrm>
            <a:off x="13679424" y="787298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2572</a:t>
            </a:r>
            <a:endParaRPr lang="th-TH" sz="750" dirty="0"/>
          </a:p>
        </p:txBody>
      </p:sp>
      <p:sp>
        <p:nvSpPr>
          <p:cNvPr id="394" name="Shape 392"/>
          <p:cNvSpPr/>
          <p:nvPr/>
        </p:nvSpPr>
        <p:spPr>
          <a:xfrm>
            <a:off x="13716000" y="8046720"/>
            <a:ext cx="438912" cy="182880"/>
          </a:xfrm>
          <a:prstGeom prst="roundRect">
            <a:avLst>
              <a:gd name="adj" fmla="val 25000"/>
            </a:avLst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395" name="Text 393"/>
          <p:cNvSpPr txBox="1"/>
          <p:nvPr/>
        </p:nvSpPr>
        <p:spPr>
          <a:xfrm>
            <a:off x="13716000" y="80467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8A5A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1,302</a:t>
            </a:r>
            <a:endParaRPr lang="th-TH" sz="750" dirty="0"/>
          </a:p>
        </p:txBody>
      </p:sp>
      <p:sp>
        <p:nvSpPr>
          <p:cNvPr id="396" name="Shape 394"/>
          <p:cNvSpPr/>
          <p:nvPr/>
        </p:nvSpPr>
        <p:spPr>
          <a:xfrm>
            <a:off x="14378940" y="6803225"/>
            <a:ext cx="329184" cy="1051471"/>
          </a:xfrm>
          <a:prstGeom prst="rect">
            <a:avLst/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397" name="Text 395"/>
          <p:cNvSpPr txBox="1"/>
          <p:nvPr/>
        </p:nvSpPr>
        <p:spPr>
          <a:xfrm>
            <a:off x="14269212" y="6629489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0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19,998</a:t>
            </a:r>
            <a:endParaRPr lang="th-TH" sz="700" dirty="0"/>
          </a:p>
        </p:txBody>
      </p:sp>
      <p:sp>
        <p:nvSpPr>
          <p:cNvPr id="398" name="Text 396"/>
          <p:cNvSpPr txBox="1"/>
          <p:nvPr/>
        </p:nvSpPr>
        <p:spPr>
          <a:xfrm>
            <a:off x="14287500" y="787298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2573</a:t>
            </a:r>
            <a:endParaRPr lang="th-TH" sz="750" dirty="0"/>
          </a:p>
        </p:txBody>
      </p:sp>
      <p:sp>
        <p:nvSpPr>
          <p:cNvPr id="399" name="Shape 397"/>
          <p:cNvSpPr/>
          <p:nvPr/>
        </p:nvSpPr>
        <p:spPr>
          <a:xfrm>
            <a:off x="14324076" y="8046720"/>
            <a:ext cx="438912" cy="182880"/>
          </a:xfrm>
          <a:prstGeom prst="roundRect">
            <a:avLst>
              <a:gd name="adj" fmla="val 25000"/>
            </a:avLst>
          </a:prstGeom>
          <a:solidFill>
            <a:srgbClr val="FBF1DC"/>
          </a:solidFill>
          <a:ln w="9525">
            <a:solidFill>
              <a:srgbClr val="FBF1DC"/>
            </a:solidFill>
            <a:prstDash val="solid"/>
          </a:ln>
        </p:spPr>
      </p:sp>
      <p:sp>
        <p:nvSpPr>
          <p:cNvPr id="400" name="Text 398"/>
          <p:cNvSpPr txBox="1"/>
          <p:nvPr/>
        </p:nvSpPr>
        <p:spPr>
          <a:xfrm>
            <a:off x="14324076" y="80467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750" b="1" dirty="0">
                <a:solidFill>
                  <a:srgbClr val="8A5A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1,404</a:t>
            </a:r>
            <a:endParaRPr lang="th-TH" sz="750" dirty="0"/>
          </a:p>
        </p:txBody>
      </p:sp>
      <p:sp>
        <p:nvSpPr>
          <p:cNvPr id="401" name="Text 399"/>
          <p:cNvSpPr txBox="1"/>
          <p:nvPr/>
        </p:nvSpPr>
        <p:spPr>
          <a:xfrm>
            <a:off x="11247120" y="8275320"/>
            <a:ext cx="3506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00" dirty="0">
                <a:solidFill>
                  <a:srgbClr val="C039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■ </a:t>
            </a:r>
            <a:pPr indent="0" marL="0">
              <a:buNone/>
            </a:pPr>
            <a:r>
              <a:rPr lang="th-TH" altLang="en-US" sz="7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รายได้จากการขาย (ช่วงฟื้นฟู)  </a:t>
            </a:r>
            <a:pPr indent="0" marL="0">
              <a:buNone/>
            </a:pPr>
            <a:r>
              <a:rPr lang="th-TH" altLang="en-US" sz="700" dirty="0">
                <a:solidFill>
                  <a:srgbClr val="2E7D5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■ </a:t>
            </a:r>
            <a:pPr indent="0" marL="0">
              <a:buNone/>
            </a:pPr>
            <a:r>
              <a:rPr lang="th-TH" altLang="en-US" sz="7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ช่วงเติบโต  </a:t>
            </a:r>
            <a:pPr indent="0" marL="0">
              <a:buNone/>
            </a:pPr>
            <a:r>
              <a:rPr lang="th-TH" altLang="en-US" sz="700" dirty="0">
                <a:solidFill>
                  <a:srgbClr val="C98A1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■ </a:t>
            </a:r>
            <a:pPr indent="0" marL="0">
              <a:buNone/>
            </a:pPr>
            <a:r>
              <a:rPr lang="th-TH" altLang="en-US" sz="7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กำไรสำหรับปี</a:t>
            </a:r>
            <a:endParaRPr lang="th-TH" sz="700" dirty="0"/>
          </a:p>
        </p:txBody>
      </p:sp>
      <p:sp>
        <p:nvSpPr>
          <p:cNvPr id="402" name="Text 400"/>
          <p:cNvSpPr txBox="1"/>
          <p:nvPr/>
        </p:nvSpPr>
        <p:spPr>
          <a:xfrm>
            <a:off x="11247120" y="8458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85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สถานการณ์ปี 2573 (กำไรสำหรับปี)</a:t>
            </a:r>
            <a:endParaRPr lang="th-TH" sz="850" dirty="0"/>
          </a:p>
        </p:txBody>
      </p:sp>
      <p:sp>
        <p:nvSpPr>
          <p:cNvPr id="403" name="Text 401"/>
          <p:cNvSpPr txBox="1"/>
          <p:nvPr/>
        </p:nvSpPr>
        <p:spPr>
          <a:xfrm>
            <a:off x="11247120" y="86410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กรณีแย่ </a:t>
            </a:r>
            <a:pPr indent="0" marL="0">
              <a:buNone/>
            </a:pPr>
            <a:r>
              <a:rPr lang="th-TH" altLang="en-US" sz="1000" b="1" dirty="0">
                <a:solidFill>
                  <a:srgbClr val="B3261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557</a:t>
            </a:r>
            <a:endParaRPr lang="th-TH" sz="1000" dirty="0"/>
          </a:p>
        </p:txBody>
      </p:sp>
      <p:sp>
        <p:nvSpPr>
          <p:cNvPr id="404" name="Text 402"/>
          <p:cNvSpPr txBox="1"/>
          <p:nvPr/>
        </p:nvSpPr>
        <p:spPr>
          <a:xfrm>
            <a:off x="12435840" y="86410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กรณีฐาน </a:t>
            </a:r>
            <a:pPr indent="0" marL="0">
              <a:buNone/>
            </a:pPr>
            <a:r>
              <a:rPr lang="th-TH" altLang="en-US" sz="1000" b="1" dirty="0">
                <a:solidFill>
                  <a:srgbClr val="2B2B2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1,404</a:t>
            </a:r>
            <a:endParaRPr lang="th-TH" sz="1000" dirty="0"/>
          </a:p>
        </p:txBody>
      </p:sp>
      <p:sp>
        <p:nvSpPr>
          <p:cNvPr id="405" name="Text 403"/>
          <p:cNvSpPr txBox="1"/>
          <p:nvPr/>
        </p:nvSpPr>
        <p:spPr>
          <a:xfrm>
            <a:off x="13624560" y="86410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5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กรณีดี </a:t>
            </a:r>
            <a:pPr indent="0" marL="0">
              <a:buNone/>
            </a:pPr>
            <a:r>
              <a:rPr lang="th-TH" altLang="en-US" sz="1000" b="1" dirty="0">
                <a:solidFill>
                  <a:srgbClr val="2E7D5B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2,147</a:t>
            </a:r>
            <a:endParaRPr lang="th-TH" sz="1000" dirty="0"/>
          </a:p>
        </p:txBody>
      </p:sp>
      <p:sp>
        <p:nvSpPr>
          <p:cNvPr id="406" name="Shape 404"/>
          <p:cNvSpPr/>
          <p:nvPr/>
        </p:nvSpPr>
        <p:spPr>
          <a:xfrm>
            <a:off x="11109960" y="8951976"/>
            <a:ext cx="3781044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11109960" y="8951976"/>
            <a:ext cx="3781044" cy="384048"/>
          </a:xfrm>
          <a:prstGeom prst="roundRect">
            <a:avLst>
              <a:gd name="adj" fmla="val 19048"/>
            </a:avLst>
          </a:prstGeom>
          <a:solidFill>
            <a:srgbClr val="5A5A5A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11109960" y="9180576"/>
            <a:ext cx="3781044" cy="155448"/>
          </a:xfrm>
          <a:prstGeom prst="rect">
            <a:avLst/>
          </a:prstGeom>
          <a:solidFill>
            <a:srgbClr val="5A5A5A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409" name="Text 407"/>
          <p:cNvSpPr txBox="1"/>
          <p:nvPr/>
        </p:nvSpPr>
        <p:spPr>
          <a:xfrm>
            <a:off x="11247120" y="8970264"/>
            <a:ext cx="32324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แผนฉุกเฉิน (Trigger → ตอบสนอง)</a:t>
            </a:r>
            <a:endParaRPr lang="th-TH" sz="1400" dirty="0"/>
          </a:p>
        </p:txBody>
      </p:sp>
      <p:sp>
        <p:nvSpPr>
          <p:cNvPr id="410" name="Text 408"/>
          <p:cNvSpPr txBox="1"/>
          <p:nvPr/>
        </p:nvSpPr>
        <p:spPr>
          <a:xfrm>
            <a:off x="11247120" y="9372600"/>
            <a:ext cx="3552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7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GM ต่ำกว่าแผน &gt;1 จุด 2 ไตรมาสติด</a:t>
            </a:r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→  เร่งปรับ/ปิดสาขาขาดทุน เลื่อนเติบโต 1 ปี</a:t>
            </a:r>
            <a:endParaRPr lang="th-TH" sz="760" dirty="0"/>
          </a:p>
        </p:txBody>
      </p:sp>
      <p:sp>
        <p:nvSpPr>
          <p:cNvPr id="411" name="Text 409"/>
          <p:cNvSpPr txBox="1"/>
          <p:nvPr/>
        </p:nvSpPr>
        <p:spPr>
          <a:xfrm>
            <a:off x="11247120" y="9587484"/>
            <a:ext cx="3552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7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SG&amp;A ต่อยอดขายเกินแผน &gt;0.5 จุด</a:t>
            </a:r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→  ทบทวนกำลังคน เวลาเปิด สัญญาเช่า</a:t>
            </a:r>
            <a:endParaRPr lang="th-TH" sz="760" dirty="0"/>
          </a:p>
        </p:txBody>
      </p:sp>
      <p:sp>
        <p:nvSpPr>
          <p:cNvPr id="412" name="Text 410"/>
          <p:cNvSpPr txBox="1"/>
          <p:nvPr/>
        </p:nvSpPr>
        <p:spPr>
          <a:xfrm>
            <a:off x="11247120" y="9802368"/>
            <a:ext cx="3552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7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สาขาใหม่ &gt;30% ไม่มีกำไรใน 12 เดือน</a:t>
            </a:r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→  ชะลอเปิดเพิ่ม ปรับทำเล/ขนาด</a:t>
            </a:r>
            <a:endParaRPr lang="th-TH" sz="760" dirty="0"/>
          </a:p>
        </p:txBody>
      </p:sp>
      <p:sp>
        <p:nvSpPr>
          <p:cNvPr id="413" name="Text 411"/>
          <p:cNvSpPr txBox="1"/>
          <p:nvPr/>
        </p:nvSpPr>
        <p:spPr>
          <a:xfrm>
            <a:off x="11247120" y="10017252"/>
            <a:ext cx="3552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7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ราคาวัตถุดิบหลัก +10% จากต้นปี</a:t>
            </a:r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→  ปรับเมนู ซื้อล่วงหน้า ปรับราคาบางแบรนด์</a:t>
            </a:r>
            <a:endParaRPr lang="th-TH" sz="760" dirty="0"/>
          </a:p>
        </p:txBody>
      </p:sp>
      <p:sp>
        <p:nvSpPr>
          <p:cNvPr id="414" name="Text 412"/>
          <p:cNvSpPr txBox="1"/>
          <p:nvPr/>
        </p:nvSpPr>
        <p:spPr>
          <a:xfrm>
            <a:off x="11247120" y="10232136"/>
            <a:ext cx="35524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760" b="1" dirty="0">
                <a:solidFill>
                  <a:srgbClr val="2B2B2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ลูกค้าต่อสาขา −5% (คู่แข่งตัดราคา)</a:t>
            </a:r>
            <a:pPr indent="0" marL="0">
              <a:buNone/>
            </a:pPr>
            <a:r>
              <a:rPr lang="th-TH" altLang="en-US" sz="76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→  เพิ่มคุณค่าแทนตัดราคา</a:t>
            </a:r>
            <a:endParaRPr lang="th-TH" sz="760" dirty="0"/>
          </a:p>
        </p:txBody>
      </p:sp>
      <p:sp>
        <p:nvSpPr>
          <p:cNvPr id="415" name="Text 413"/>
          <p:cNvSpPr txBox="1"/>
          <p:nvPr/>
        </p:nvSpPr>
        <p:spPr>
          <a:xfrm>
            <a:off x="228600" y="10488168"/>
            <a:ext cx="1463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700" dirty="0">
                <a:solidFill>
                  <a:srgbClr val="6B6B6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ที่มา: รายงานแผนกลยุทธ์ MK Restaurant Group (ฉบับ final) · ตัวเลขปี 2569–2573 เป็นประมาณการของผู้จัดทำ ไม่ใช่ประมาณการของบริษัท</a:t>
            </a:r>
            <a:endParaRPr lang="th-TH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 Strategy Storyboard 2569-2573</dc:title>
  <dc:subject>PptxGenJS Presentation</dc:subject>
  <dc:creator>PptxGenJS</dc:creator>
  <cp:lastModifiedBy>PptxGenJS</cp:lastModifiedBy>
  <cp:revision>1</cp:revision>
  <dcterms:created xsi:type="dcterms:W3CDTF">2026-10-04T15:52:54Z</dcterms:created>
  <dcterms:modified xsi:type="dcterms:W3CDTF">2026-10-04T15:52:54Z</dcterms:modified>
</cp:coreProperties>
</file>