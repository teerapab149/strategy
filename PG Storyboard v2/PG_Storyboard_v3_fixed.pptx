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16175" cy="106870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ox0"/>
          <p:cNvSpPr/>
          <p:nvPr/>
        </p:nvSpPr>
        <p:spPr>
          <a:xfrm>
            <a:off x="0" y="0"/>
            <a:ext cx="15116175" cy="10687050"/>
          </a:xfrm>
          <a:prstGeom prst="rect">
            <a:avLst/>
          </a:prstGeom>
          <a:solidFill>
            <a:srgbClr val="EEF0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box1"/>
          <p:cNvSpPr/>
          <p:nvPr/>
        </p:nvSpPr>
        <p:spPr>
          <a:xfrm>
            <a:off x="133350" y="114300"/>
            <a:ext cx="14849475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box2"/>
          <p:cNvSpPr/>
          <p:nvPr/>
        </p:nvSpPr>
        <p:spPr>
          <a:xfrm>
            <a:off x="3914775" y="123825"/>
            <a:ext cx="38100" cy="933450"/>
          </a:xfrm>
          <a:prstGeom prst="rect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325" y="403324"/>
            <a:ext cx="3429000" cy="374452"/>
          </a:xfrm>
          <a:prstGeom prst="rect">
            <a:avLst/>
          </a:prstGeom>
        </p:spPr>
      </p:pic>
      <p:sp>
        <p:nvSpPr>
          <p:cNvPr id="6" name="box4"/>
          <p:cNvSpPr/>
          <p:nvPr/>
        </p:nvSpPr>
        <p:spPr>
          <a:xfrm>
            <a:off x="3952875" y="123825"/>
            <a:ext cx="4867275" cy="9334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garment.jpg"/>
          <p:cNvPicPr>
            <a:picLocks noChangeAspect="1"/>
          </p:cNvPicPr>
          <p:nvPr/>
        </p:nvPicPr>
        <p:blipFill>
          <a:blip r:embed="rId3"/>
          <a:srcRect t="10781" b="10781"/>
          <a:stretch>
            <a:fillRect/>
          </a:stretch>
        </p:blipFill>
        <p:spPr>
          <a:xfrm>
            <a:off x="8820150" y="123825"/>
            <a:ext cx="1025426" cy="933450"/>
          </a:xfrm>
          <a:prstGeom prst="rect">
            <a:avLst/>
          </a:prstGeom>
        </p:spPr>
      </p:pic>
      <p:sp>
        <p:nvSpPr>
          <p:cNvPr id="8" name="box6"/>
          <p:cNvSpPr/>
          <p:nvPr/>
        </p:nvSpPr>
        <p:spPr>
          <a:xfrm>
            <a:off x="8820150" y="717500"/>
            <a:ext cx="1025426" cy="33977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uniform.jpg"/>
          <p:cNvPicPr>
            <a:picLocks noChangeAspect="1"/>
          </p:cNvPicPr>
          <p:nvPr/>
        </p:nvPicPr>
        <p:blipFill>
          <a:blip r:embed="rId4"/>
          <a:srcRect t="10786" b="10786"/>
          <a:stretch>
            <a:fillRect/>
          </a:stretch>
        </p:blipFill>
        <p:spPr>
          <a:xfrm>
            <a:off x="9845576" y="123825"/>
            <a:ext cx="1025575" cy="933450"/>
          </a:xfrm>
          <a:prstGeom prst="rect">
            <a:avLst/>
          </a:prstGeom>
        </p:spPr>
      </p:pic>
      <p:sp>
        <p:nvSpPr>
          <p:cNvPr id="10" name="box8"/>
          <p:cNvSpPr/>
          <p:nvPr/>
        </p:nvSpPr>
        <p:spPr>
          <a:xfrm>
            <a:off x="9845576" y="717500"/>
            <a:ext cx="1025575" cy="33977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healthcare.jpg"/>
          <p:cNvPicPr>
            <a:picLocks noChangeAspect="1"/>
          </p:cNvPicPr>
          <p:nvPr/>
        </p:nvPicPr>
        <p:blipFill>
          <a:blip r:embed="rId5"/>
          <a:srcRect t="10781" b="10781"/>
          <a:stretch>
            <a:fillRect/>
          </a:stretch>
        </p:blipFill>
        <p:spPr>
          <a:xfrm>
            <a:off x="10871150" y="123825"/>
            <a:ext cx="1025426" cy="933450"/>
          </a:xfrm>
          <a:prstGeom prst="rect">
            <a:avLst/>
          </a:prstGeom>
        </p:spPr>
      </p:pic>
      <p:sp>
        <p:nvSpPr>
          <p:cNvPr id="12" name="box10"/>
          <p:cNvSpPr/>
          <p:nvPr/>
        </p:nvSpPr>
        <p:spPr>
          <a:xfrm>
            <a:off x="10871150" y="717500"/>
            <a:ext cx="1025426" cy="33977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sportwear.jpg"/>
          <p:cNvPicPr>
            <a:picLocks noChangeAspect="1"/>
          </p:cNvPicPr>
          <p:nvPr/>
        </p:nvPicPr>
        <p:blipFill>
          <a:blip r:embed="rId6"/>
          <a:srcRect t="10786" b="10786"/>
          <a:stretch>
            <a:fillRect/>
          </a:stretch>
        </p:blipFill>
        <p:spPr>
          <a:xfrm>
            <a:off x="11896576" y="123825"/>
            <a:ext cx="1025575" cy="933450"/>
          </a:xfrm>
          <a:prstGeom prst="rect">
            <a:avLst/>
          </a:prstGeom>
        </p:spPr>
      </p:pic>
      <p:sp>
        <p:nvSpPr>
          <p:cNvPr id="14" name="box12"/>
          <p:cNvSpPr/>
          <p:nvPr/>
        </p:nvSpPr>
        <p:spPr>
          <a:xfrm>
            <a:off x="11896576" y="717500"/>
            <a:ext cx="1025575" cy="33977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innerwear.jpg"/>
          <p:cNvPicPr>
            <a:picLocks noChangeAspect="1"/>
          </p:cNvPicPr>
          <p:nvPr/>
        </p:nvPicPr>
        <p:blipFill>
          <a:blip r:embed="rId7"/>
          <a:srcRect t="10786" b="10786"/>
          <a:stretch>
            <a:fillRect/>
          </a:stretch>
        </p:blipFill>
        <p:spPr>
          <a:xfrm>
            <a:off x="12922151" y="123825"/>
            <a:ext cx="1025575" cy="933450"/>
          </a:xfrm>
          <a:prstGeom prst="rect">
            <a:avLst/>
          </a:prstGeom>
        </p:spPr>
      </p:pic>
      <p:sp>
        <p:nvSpPr>
          <p:cNvPr id="16" name="box14"/>
          <p:cNvSpPr/>
          <p:nvPr/>
        </p:nvSpPr>
        <p:spPr>
          <a:xfrm>
            <a:off x="12922151" y="717500"/>
            <a:ext cx="1025575" cy="33977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textile.jpg"/>
          <p:cNvPicPr>
            <a:picLocks noChangeAspect="1"/>
          </p:cNvPicPr>
          <p:nvPr/>
        </p:nvPicPr>
        <p:blipFill>
          <a:blip r:embed="rId8"/>
          <a:srcRect t="10781" b="10781"/>
          <a:stretch>
            <a:fillRect/>
          </a:stretch>
        </p:blipFill>
        <p:spPr>
          <a:xfrm>
            <a:off x="13947725" y="123825"/>
            <a:ext cx="1025426" cy="933450"/>
          </a:xfrm>
          <a:prstGeom prst="rect">
            <a:avLst/>
          </a:prstGeom>
        </p:spPr>
      </p:pic>
      <p:sp>
        <p:nvSpPr>
          <p:cNvPr id="18" name="box16"/>
          <p:cNvSpPr/>
          <p:nvPr/>
        </p:nvSpPr>
        <p:spPr>
          <a:xfrm>
            <a:off x="13947725" y="717500"/>
            <a:ext cx="1025426" cy="33977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box17"/>
          <p:cNvSpPr/>
          <p:nvPr/>
        </p:nvSpPr>
        <p:spPr>
          <a:xfrm>
            <a:off x="133350" y="1162050"/>
            <a:ext cx="3028950" cy="9410700"/>
          </a:xfrm>
          <a:prstGeom prst="roundRect">
            <a:avLst>
              <a:gd name="adj" fmla="val 3144"/>
            </a:avLst>
          </a:prstGeom>
          <a:solidFill>
            <a:srgbClr val="FFFFFF"/>
          </a:solidFill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box18"/>
          <p:cNvSpPr/>
          <p:nvPr/>
        </p:nvSpPr>
        <p:spPr>
          <a:xfrm>
            <a:off x="142875" y="1171575"/>
            <a:ext cx="3009900" cy="386209"/>
          </a:xfrm>
          <a:prstGeom prst="round2SameRect">
            <a:avLst>
              <a:gd name="adj1" fmla="val 24662"/>
              <a:gd name="adj2" fmla="val 0"/>
            </a:avLst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box19"/>
          <p:cNvSpPr/>
          <p:nvPr/>
        </p:nvSpPr>
        <p:spPr>
          <a:xfrm>
            <a:off x="238125" y="1850380"/>
            <a:ext cx="31432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box20"/>
          <p:cNvSpPr/>
          <p:nvPr/>
        </p:nvSpPr>
        <p:spPr>
          <a:xfrm>
            <a:off x="552450" y="1850380"/>
            <a:ext cx="1390650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box21"/>
          <p:cNvSpPr/>
          <p:nvPr/>
        </p:nvSpPr>
        <p:spPr>
          <a:xfrm>
            <a:off x="1943100" y="1850380"/>
            <a:ext cx="33337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box22"/>
          <p:cNvSpPr/>
          <p:nvPr/>
        </p:nvSpPr>
        <p:spPr>
          <a:xfrm>
            <a:off x="2276475" y="1850380"/>
            <a:ext cx="14287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box23"/>
          <p:cNvSpPr/>
          <p:nvPr/>
        </p:nvSpPr>
        <p:spPr>
          <a:xfrm>
            <a:off x="2419350" y="1850380"/>
            <a:ext cx="323850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box24"/>
          <p:cNvSpPr/>
          <p:nvPr/>
        </p:nvSpPr>
        <p:spPr>
          <a:xfrm>
            <a:off x="2743200" y="1850380"/>
            <a:ext cx="31432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box25"/>
          <p:cNvSpPr/>
          <p:nvPr/>
        </p:nvSpPr>
        <p:spPr>
          <a:xfrm>
            <a:off x="238125" y="1869430"/>
            <a:ext cx="2819400" cy="265658"/>
          </a:xfrm>
          <a:prstGeom prst="rect">
            <a:avLst/>
          </a:prstGeom>
          <a:solidFill>
            <a:srgbClr val="EEF0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box26"/>
          <p:cNvSpPr/>
          <p:nvPr/>
        </p:nvSpPr>
        <p:spPr>
          <a:xfrm>
            <a:off x="238125" y="2125563"/>
            <a:ext cx="28194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box27"/>
          <p:cNvSpPr/>
          <p:nvPr/>
        </p:nvSpPr>
        <p:spPr>
          <a:xfrm>
            <a:off x="238125" y="2618780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box28"/>
          <p:cNvSpPr/>
          <p:nvPr/>
        </p:nvSpPr>
        <p:spPr>
          <a:xfrm>
            <a:off x="552450" y="2618780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box29"/>
          <p:cNvSpPr/>
          <p:nvPr/>
        </p:nvSpPr>
        <p:spPr>
          <a:xfrm>
            <a:off x="1943100" y="2618780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box30"/>
          <p:cNvSpPr/>
          <p:nvPr/>
        </p:nvSpPr>
        <p:spPr>
          <a:xfrm>
            <a:off x="2276475" y="2618780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box31"/>
          <p:cNvSpPr/>
          <p:nvPr/>
        </p:nvSpPr>
        <p:spPr>
          <a:xfrm>
            <a:off x="2419350" y="2618780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box32"/>
          <p:cNvSpPr/>
          <p:nvPr/>
        </p:nvSpPr>
        <p:spPr>
          <a:xfrm>
            <a:off x="2743200" y="2618780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box33"/>
          <p:cNvSpPr/>
          <p:nvPr/>
        </p:nvSpPr>
        <p:spPr>
          <a:xfrm>
            <a:off x="238125" y="2920008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box34"/>
          <p:cNvSpPr/>
          <p:nvPr/>
        </p:nvSpPr>
        <p:spPr>
          <a:xfrm>
            <a:off x="552450" y="2920008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box35"/>
          <p:cNvSpPr/>
          <p:nvPr/>
        </p:nvSpPr>
        <p:spPr>
          <a:xfrm>
            <a:off x="1943100" y="2920008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box36"/>
          <p:cNvSpPr/>
          <p:nvPr/>
        </p:nvSpPr>
        <p:spPr>
          <a:xfrm>
            <a:off x="2276475" y="2920008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box37"/>
          <p:cNvSpPr/>
          <p:nvPr/>
        </p:nvSpPr>
        <p:spPr>
          <a:xfrm>
            <a:off x="2419350" y="2920008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box38"/>
          <p:cNvSpPr/>
          <p:nvPr/>
        </p:nvSpPr>
        <p:spPr>
          <a:xfrm>
            <a:off x="2743200" y="2920008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box39"/>
          <p:cNvSpPr/>
          <p:nvPr/>
        </p:nvSpPr>
        <p:spPr>
          <a:xfrm>
            <a:off x="238125" y="3221236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box40"/>
          <p:cNvSpPr/>
          <p:nvPr/>
        </p:nvSpPr>
        <p:spPr>
          <a:xfrm>
            <a:off x="552450" y="3221236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box41"/>
          <p:cNvSpPr/>
          <p:nvPr/>
        </p:nvSpPr>
        <p:spPr>
          <a:xfrm>
            <a:off x="1943100" y="3221236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box42"/>
          <p:cNvSpPr/>
          <p:nvPr/>
        </p:nvSpPr>
        <p:spPr>
          <a:xfrm>
            <a:off x="2276475" y="3221236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box43"/>
          <p:cNvSpPr/>
          <p:nvPr/>
        </p:nvSpPr>
        <p:spPr>
          <a:xfrm>
            <a:off x="2419350" y="3221236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box44"/>
          <p:cNvSpPr/>
          <p:nvPr/>
        </p:nvSpPr>
        <p:spPr>
          <a:xfrm>
            <a:off x="2743200" y="3221236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box45"/>
          <p:cNvSpPr/>
          <p:nvPr/>
        </p:nvSpPr>
        <p:spPr>
          <a:xfrm>
            <a:off x="238125" y="3522464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box46"/>
          <p:cNvSpPr/>
          <p:nvPr/>
        </p:nvSpPr>
        <p:spPr>
          <a:xfrm>
            <a:off x="552450" y="3522464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box47"/>
          <p:cNvSpPr/>
          <p:nvPr/>
        </p:nvSpPr>
        <p:spPr>
          <a:xfrm>
            <a:off x="1943100" y="3522464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box48"/>
          <p:cNvSpPr/>
          <p:nvPr/>
        </p:nvSpPr>
        <p:spPr>
          <a:xfrm>
            <a:off x="2276475" y="3522464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box49"/>
          <p:cNvSpPr/>
          <p:nvPr/>
        </p:nvSpPr>
        <p:spPr>
          <a:xfrm>
            <a:off x="2419350" y="3522464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box50"/>
          <p:cNvSpPr/>
          <p:nvPr/>
        </p:nvSpPr>
        <p:spPr>
          <a:xfrm>
            <a:off x="2743200" y="3522464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box51"/>
          <p:cNvSpPr/>
          <p:nvPr/>
        </p:nvSpPr>
        <p:spPr>
          <a:xfrm>
            <a:off x="238125" y="3823692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box52"/>
          <p:cNvSpPr/>
          <p:nvPr/>
        </p:nvSpPr>
        <p:spPr>
          <a:xfrm>
            <a:off x="552450" y="3823692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box53"/>
          <p:cNvSpPr/>
          <p:nvPr/>
        </p:nvSpPr>
        <p:spPr>
          <a:xfrm>
            <a:off x="1943100" y="3823692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box54"/>
          <p:cNvSpPr/>
          <p:nvPr/>
        </p:nvSpPr>
        <p:spPr>
          <a:xfrm>
            <a:off x="2276475" y="3823692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box55"/>
          <p:cNvSpPr/>
          <p:nvPr/>
        </p:nvSpPr>
        <p:spPr>
          <a:xfrm>
            <a:off x="2419350" y="3823692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box56"/>
          <p:cNvSpPr/>
          <p:nvPr/>
        </p:nvSpPr>
        <p:spPr>
          <a:xfrm>
            <a:off x="2743200" y="3823692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box57"/>
          <p:cNvSpPr/>
          <p:nvPr/>
        </p:nvSpPr>
        <p:spPr>
          <a:xfrm>
            <a:off x="238125" y="4124920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box58"/>
          <p:cNvSpPr/>
          <p:nvPr/>
        </p:nvSpPr>
        <p:spPr>
          <a:xfrm>
            <a:off x="552450" y="4124920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box59"/>
          <p:cNvSpPr/>
          <p:nvPr/>
        </p:nvSpPr>
        <p:spPr>
          <a:xfrm>
            <a:off x="1943100" y="4124920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box60"/>
          <p:cNvSpPr/>
          <p:nvPr/>
        </p:nvSpPr>
        <p:spPr>
          <a:xfrm>
            <a:off x="2276475" y="4124920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box61"/>
          <p:cNvSpPr/>
          <p:nvPr/>
        </p:nvSpPr>
        <p:spPr>
          <a:xfrm>
            <a:off x="2419350" y="4124920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box62"/>
          <p:cNvSpPr/>
          <p:nvPr/>
        </p:nvSpPr>
        <p:spPr>
          <a:xfrm>
            <a:off x="2743200" y="4124920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box63"/>
          <p:cNvSpPr/>
          <p:nvPr/>
        </p:nvSpPr>
        <p:spPr>
          <a:xfrm>
            <a:off x="238125" y="4134445"/>
            <a:ext cx="2819400" cy="260896"/>
          </a:xfrm>
          <a:prstGeom prst="rect">
            <a:avLst/>
          </a:prstGeom>
          <a:solidFill>
            <a:srgbClr val="EEF0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box64"/>
          <p:cNvSpPr/>
          <p:nvPr/>
        </p:nvSpPr>
        <p:spPr>
          <a:xfrm>
            <a:off x="238125" y="4385816"/>
            <a:ext cx="28194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box65"/>
          <p:cNvSpPr/>
          <p:nvPr/>
        </p:nvSpPr>
        <p:spPr>
          <a:xfrm>
            <a:off x="238125" y="4687044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box66"/>
          <p:cNvSpPr/>
          <p:nvPr/>
        </p:nvSpPr>
        <p:spPr>
          <a:xfrm>
            <a:off x="552450" y="4687044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box67"/>
          <p:cNvSpPr/>
          <p:nvPr/>
        </p:nvSpPr>
        <p:spPr>
          <a:xfrm>
            <a:off x="1943100" y="4687044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box68"/>
          <p:cNvSpPr/>
          <p:nvPr/>
        </p:nvSpPr>
        <p:spPr>
          <a:xfrm>
            <a:off x="2276475" y="4687044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box69"/>
          <p:cNvSpPr/>
          <p:nvPr/>
        </p:nvSpPr>
        <p:spPr>
          <a:xfrm>
            <a:off x="2419350" y="4687044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box70"/>
          <p:cNvSpPr/>
          <p:nvPr/>
        </p:nvSpPr>
        <p:spPr>
          <a:xfrm>
            <a:off x="2743200" y="4687044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box71"/>
          <p:cNvSpPr/>
          <p:nvPr/>
        </p:nvSpPr>
        <p:spPr>
          <a:xfrm>
            <a:off x="238125" y="4988272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box72"/>
          <p:cNvSpPr/>
          <p:nvPr/>
        </p:nvSpPr>
        <p:spPr>
          <a:xfrm>
            <a:off x="552450" y="4988272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box73"/>
          <p:cNvSpPr/>
          <p:nvPr/>
        </p:nvSpPr>
        <p:spPr>
          <a:xfrm>
            <a:off x="1943100" y="4988272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box74"/>
          <p:cNvSpPr/>
          <p:nvPr/>
        </p:nvSpPr>
        <p:spPr>
          <a:xfrm>
            <a:off x="2276475" y="4988272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box75"/>
          <p:cNvSpPr/>
          <p:nvPr/>
        </p:nvSpPr>
        <p:spPr>
          <a:xfrm>
            <a:off x="2419350" y="4988272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box76"/>
          <p:cNvSpPr/>
          <p:nvPr/>
        </p:nvSpPr>
        <p:spPr>
          <a:xfrm>
            <a:off x="2743200" y="4988272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box77"/>
          <p:cNvSpPr/>
          <p:nvPr/>
        </p:nvSpPr>
        <p:spPr>
          <a:xfrm>
            <a:off x="238125" y="5289500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box78"/>
          <p:cNvSpPr/>
          <p:nvPr/>
        </p:nvSpPr>
        <p:spPr>
          <a:xfrm>
            <a:off x="552450" y="5289500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box79"/>
          <p:cNvSpPr/>
          <p:nvPr/>
        </p:nvSpPr>
        <p:spPr>
          <a:xfrm>
            <a:off x="1943100" y="5289500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box80"/>
          <p:cNvSpPr/>
          <p:nvPr/>
        </p:nvSpPr>
        <p:spPr>
          <a:xfrm>
            <a:off x="2276475" y="5289500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box81"/>
          <p:cNvSpPr/>
          <p:nvPr/>
        </p:nvSpPr>
        <p:spPr>
          <a:xfrm>
            <a:off x="2419350" y="5289500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box82"/>
          <p:cNvSpPr/>
          <p:nvPr/>
        </p:nvSpPr>
        <p:spPr>
          <a:xfrm>
            <a:off x="2743200" y="5289500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box83"/>
          <p:cNvSpPr/>
          <p:nvPr/>
        </p:nvSpPr>
        <p:spPr>
          <a:xfrm>
            <a:off x="238125" y="5590729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box84"/>
          <p:cNvSpPr/>
          <p:nvPr/>
        </p:nvSpPr>
        <p:spPr>
          <a:xfrm>
            <a:off x="552450" y="5590729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box85"/>
          <p:cNvSpPr/>
          <p:nvPr/>
        </p:nvSpPr>
        <p:spPr>
          <a:xfrm>
            <a:off x="1943100" y="5590729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box86"/>
          <p:cNvSpPr/>
          <p:nvPr/>
        </p:nvSpPr>
        <p:spPr>
          <a:xfrm>
            <a:off x="2276475" y="5590729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box87"/>
          <p:cNvSpPr/>
          <p:nvPr/>
        </p:nvSpPr>
        <p:spPr>
          <a:xfrm>
            <a:off x="2419350" y="5590729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box88"/>
          <p:cNvSpPr/>
          <p:nvPr/>
        </p:nvSpPr>
        <p:spPr>
          <a:xfrm>
            <a:off x="2743200" y="5590729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box89"/>
          <p:cNvSpPr/>
          <p:nvPr/>
        </p:nvSpPr>
        <p:spPr>
          <a:xfrm>
            <a:off x="238125" y="5891957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box90"/>
          <p:cNvSpPr/>
          <p:nvPr/>
        </p:nvSpPr>
        <p:spPr>
          <a:xfrm>
            <a:off x="552450" y="5891957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box91"/>
          <p:cNvSpPr/>
          <p:nvPr/>
        </p:nvSpPr>
        <p:spPr>
          <a:xfrm>
            <a:off x="1943100" y="5891957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box92"/>
          <p:cNvSpPr/>
          <p:nvPr/>
        </p:nvSpPr>
        <p:spPr>
          <a:xfrm>
            <a:off x="2276475" y="5891957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box93"/>
          <p:cNvSpPr/>
          <p:nvPr/>
        </p:nvSpPr>
        <p:spPr>
          <a:xfrm>
            <a:off x="2419350" y="5891957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box94"/>
          <p:cNvSpPr/>
          <p:nvPr/>
        </p:nvSpPr>
        <p:spPr>
          <a:xfrm>
            <a:off x="2743200" y="5891957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box95"/>
          <p:cNvSpPr/>
          <p:nvPr/>
        </p:nvSpPr>
        <p:spPr>
          <a:xfrm>
            <a:off x="238125" y="6197947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box96"/>
          <p:cNvSpPr/>
          <p:nvPr/>
        </p:nvSpPr>
        <p:spPr>
          <a:xfrm>
            <a:off x="552450" y="6197947"/>
            <a:ext cx="13906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box97"/>
          <p:cNvSpPr/>
          <p:nvPr/>
        </p:nvSpPr>
        <p:spPr>
          <a:xfrm>
            <a:off x="1943100" y="6197947"/>
            <a:ext cx="3333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box98"/>
          <p:cNvSpPr/>
          <p:nvPr/>
        </p:nvSpPr>
        <p:spPr>
          <a:xfrm>
            <a:off x="2276475" y="6197947"/>
            <a:ext cx="1428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box99"/>
          <p:cNvSpPr/>
          <p:nvPr/>
        </p:nvSpPr>
        <p:spPr>
          <a:xfrm>
            <a:off x="2419350" y="6197947"/>
            <a:ext cx="32385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box100"/>
          <p:cNvSpPr/>
          <p:nvPr/>
        </p:nvSpPr>
        <p:spPr>
          <a:xfrm>
            <a:off x="2743200" y="6197947"/>
            <a:ext cx="31432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box101"/>
          <p:cNvSpPr/>
          <p:nvPr/>
        </p:nvSpPr>
        <p:spPr>
          <a:xfrm>
            <a:off x="238125" y="6207472"/>
            <a:ext cx="31432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box102"/>
          <p:cNvSpPr/>
          <p:nvPr/>
        </p:nvSpPr>
        <p:spPr>
          <a:xfrm>
            <a:off x="552450" y="6207472"/>
            <a:ext cx="1390650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box103"/>
          <p:cNvSpPr/>
          <p:nvPr/>
        </p:nvSpPr>
        <p:spPr>
          <a:xfrm>
            <a:off x="1943100" y="6207472"/>
            <a:ext cx="33337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box104"/>
          <p:cNvSpPr/>
          <p:nvPr/>
        </p:nvSpPr>
        <p:spPr>
          <a:xfrm>
            <a:off x="2276475" y="6207472"/>
            <a:ext cx="14287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box105"/>
          <p:cNvSpPr/>
          <p:nvPr/>
        </p:nvSpPr>
        <p:spPr>
          <a:xfrm>
            <a:off x="2419350" y="6207472"/>
            <a:ext cx="323850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box106"/>
          <p:cNvSpPr/>
          <p:nvPr/>
        </p:nvSpPr>
        <p:spPr>
          <a:xfrm>
            <a:off x="2743200" y="6207472"/>
            <a:ext cx="314325" cy="19050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box107"/>
          <p:cNvSpPr/>
          <p:nvPr/>
        </p:nvSpPr>
        <p:spPr>
          <a:xfrm>
            <a:off x="238125" y="6871692"/>
            <a:ext cx="2819400" cy="1319957"/>
          </a:xfrm>
          <a:prstGeom prst="roundRect">
            <a:avLst>
              <a:gd name="adj" fmla="val 5772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box108"/>
          <p:cNvSpPr/>
          <p:nvPr/>
        </p:nvSpPr>
        <p:spPr>
          <a:xfrm>
            <a:off x="238125" y="6871692"/>
            <a:ext cx="47625" cy="1319957"/>
          </a:xfrm>
          <a:prstGeom prst="rect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1" name="Picture 110" descr="textile.jpg"/>
          <p:cNvPicPr>
            <a:picLocks noChangeAspect="1"/>
          </p:cNvPicPr>
          <p:nvPr/>
        </p:nvPicPr>
        <p:blipFill>
          <a:blip r:embed="rId8"/>
          <a:srcRect l="13574" r="13574" t="0" b="0"/>
          <a:stretch>
            <a:fillRect/>
          </a:stretch>
        </p:blipFill>
        <p:spPr>
          <a:xfrm>
            <a:off x="238125" y="8267849"/>
            <a:ext cx="1381125" cy="2200126"/>
          </a:xfrm>
          <a:prstGeom prst="roundRect">
            <a:avLst>
              <a:gd name="adj" fmla="val 5517"/>
            </a:avLst>
          </a:prstGeom>
        </p:spPr>
      </p:pic>
      <p:sp>
        <p:nvSpPr>
          <p:cNvPr id="112" name="box110"/>
          <p:cNvSpPr/>
          <p:nvPr/>
        </p:nvSpPr>
        <p:spPr>
          <a:xfrm>
            <a:off x="238125" y="10112127"/>
            <a:ext cx="1381125" cy="35584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3" name="Picture 112" descr="healthcare.jpg"/>
          <p:cNvPicPr>
            <a:picLocks noChangeAspect="1"/>
          </p:cNvPicPr>
          <p:nvPr/>
        </p:nvPicPr>
        <p:blipFill>
          <a:blip r:embed="rId5"/>
          <a:srcRect l="13574" r="13574" t="0" b="0"/>
          <a:stretch>
            <a:fillRect/>
          </a:stretch>
        </p:blipFill>
        <p:spPr>
          <a:xfrm>
            <a:off x="1676400" y="8267849"/>
            <a:ext cx="1381125" cy="2200126"/>
          </a:xfrm>
          <a:prstGeom prst="roundRect">
            <a:avLst>
              <a:gd name="adj" fmla="val 5517"/>
            </a:avLst>
          </a:prstGeom>
        </p:spPr>
      </p:pic>
      <p:sp>
        <p:nvSpPr>
          <p:cNvPr id="114" name="box112"/>
          <p:cNvSpPr/>
          <p:nvPr/>
        </p:nvSpPr>
        <p:spPr>
          <a:xfrm>
            <a:off x="1676400" y="10112127"/>
            <a:ext cx="1381125" cy="355848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141C3C">
                  <a:alpha val="90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box113"/>
          <p:cNvSpPr/>
          <p:nvPr/>
        </p:nvSpPr>
        <p:spPr>
          <a:xfrm>
            <a:off x="3257550" y="1162050"/>
            <a:ext cx="8391525" cy="9410700"/>
          </a:xfrm>
          <a:prstGeom prst="roundRect">
            <a:avLst>
              <a:gd name="adj" fmla="val 1135"/>
            </a:avLst>
          </a:prstGeom>
          <a:solidFill>
            <a:srgbClr val="FFFFFF"/>
          </a:solidFill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box114"/>
          <p:cNvSpPr/>
          <p:nvPr/>
        </p:nvSpPr>
        <p:spPr>
          <a:xfrm>
            <a:off x="3267075" y="1171575"/>
            <a:ext cx="8372475" cy="386209"/>
          </a:xfrm>
          <a:prstGeom prst="round2SameRect">
            <a:avLst>
              <a:gd name="adj1" fmla="val 24662"/>
              <a:gd name="adj2" fmla="val 0"/>
            </a:avLst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box115"/>
          <p:cNvSpPr/>
          <p:nvPr/>
        </p:nvSpPr>
        <p:spPr>
          <a:xfrm>
            <a:off x="3267075" y="1557784"/>
            <a:ext cx="1600200" cy="460921"/>
          </a:xfrm>
          <a:prstGeom prst="rect">
            <a:avLst/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box116"/>
          <p:cNvSpPr/>
          <p:nvPr/>
        </p:nvSpPr>
        <p:spPr>
          <a:xfrm>
            <a:off x="4867275" y="1557784"/>
            <a:ext cx="1652588" cy="460921"/>
          </a:xfrm>
          <a:prstGeom prst="rect">
            <a:avLst/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box117"/>
          <p:cNvSpPr/>
          <p:nvPr/>
        </p:nvSpPr>
        <p:spPr>
          <a:xfrm>
            <a:off x="6519862" y="1557784"/>
            <a:ext cx="1600200" cy="460921"/>
          </a:xfrm>
          <a:prstGeom prst="rect">
            <a:avLst/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box118"/>
          <p:cNvSpPr/>
          <p:nvPr/>
        </p:nvSpPr>
        <p:spPr>
          <a:xfrm>
            <a:off x="8120062" y="1557784"/>
            <a:ext cx="1652588" cy="460921"/>
          </a:xfrm>
          <a:prstGeom prst="rect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box119"/>
          <p:cNvSpPr/>
          <p:nvPr/>
        </p:nvSpPr>
        <p:spPr>
          <a:xfrm>
            <a:off x="9772650" y="1557784"/>
            <a:ext cx="1866900" cy="460921"/>
          </a:xfrm>
          <a:prstGeom prst="rect">
            <a:avLst/>
          </a:prstGeom>
          <a:solidFill>
            <a:srgbClr val="4B58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box120"/>
          <p:cNvSpPr/>
          <p:nvPr/>
        </p:nvSpPr>
        <p:spPr>
          <a:xfrm>
            <a:off x="3267075" y="2018705"/>
            <a:ext cx="1600200" cy="1743224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box121"/>
          <p:cNvSpPr/>
          <p:nvPr/>
        </p:nvSpPr>
        <p:spPr>
          <a:xfrm>
            <a:off x="3267075" y="3752404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box122"/>
          <p:cNvSpPr/>
          <p:nvPr/>
        </p:nvSpPr>
        <p:spPr>
          <a:xfrm>
            <a:off x="4857750" y="2018705"/>
            <a:ext cx="9525" cy="1743224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box123"/>
          <p:cNvSpPr/>
          <p:nvPr/>
        </p:nvSpPr>
        <p:spPr>
          <a:xfrm>
            <a:off x="4867275" y="2018705"/>
            <a:ext cx="1652588" cy="1743224"/>
          </a:xfrm>
          <a:prstGeom prst="rect">
            <a:avLst/>
          </a:prstGeom>
          <a:solidFill>
            <a:srgbClr val="F4F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box124"/>
          <p:cNvSpPr/>
          <p:nvPr/>
        </p:nvSpPr>
        <p:spPr>
          <a:xfrm>
            <a:off x="4867275" y="3752404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box125"/>
          <p:cNvSpPr/>
          <p:nvPr/>
        </p:nvSpPr>
        <p:spPr>
          <a:xfrm>
            <a:off x="6519862" y="2018705"/>
            <a:ext cx="1600200" cy="1743224"/>
          </a:xfrm>
          <a:prstGeom prst="rect">
            <a:avLst/>
          </a:prstGeom>
          <a:solidFill>
            <a:srgbClr val="EFF7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box126"/>
          <p:cNvSpPr/>
          <p:nvPr/>
        </p:nvSpPr>
        <p:spPr>
          <a:xfrm>
            <a:off x="6519862" y="3752404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box127"/>
          <p:cNvSpPr/>
          <p:nvPr/>
        </p:nvSpPr>
        <p:spPr>
          <a:xfrm>
            <a:off x="8120062" y="2018705"/>
            <a:ext cx="1652588" cy="1743224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box128"/>
          <p:cNvSpPr/>
          <p:nvPr/>
        </p:nvSpPr>
        <p:spPr>
          <a:xfrm>
            <a:off x="8120062" y="3752404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box129"/>
          <p:cNvSpPr/>
          <p:nvPr/>
        </p:nvSpPr>
        <p:spPr>
          <a:xfrm>
            <a:off x="8205788" y="2954982"/>
            <a:ext cx="28575" cy="501402"/>
          </a:xfrm>
          <a:prstGeom prst="rect">
            <a:avLst/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box130"/>
          <p:cNvSpPr/>
          <p:nvPr/>
        </p:nvSpPr>
        <p:spPr>
          <a:xfrm>
            <a:off x="9772650" y="3752404"/>
            <a:ext cx="18669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box131"/>
          <p:cNvSpPr/>
          <p:nvPr/>
        </p:nvSpPr>
        <p:spPr>
          <a:xfrm>
            <a:off x="3267075" y="3761929"/>
            <a:ext cx="1600200" cy="1272778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box132"/>
          <p:cNvSpPr/>
          <p:nvPr/>
        </p:nvSpPr>
        <p:spPr>
          <a:xfrm>
            <a:off x="3267075" y="5025182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box133"/>
          <p:cNvSpPr/>
          <p:nvPr/>
        </p:nvSpPr>
        <p:spPr>
          <a:xfrm>
            <a:off x="4857750" y="3761929"/>
            <a:ext cx="9525" cy="1272778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box134"/>
          <p:cNvSpPr/>
          <p:nvPr/>
        </p:nvSpPr>
        <p:spPr>
          <a:xfrm>
            <a:off x="4867275" y="3761929"/>
            <a:ext cx="1652588" cy="1272778"/>
          </a:xfrm>
          <a:prstGeom prst="rect">
            <a:avLst/>
          </a:prstGeom>
          <a:solidFill>
            <a:srgbClr val="F4F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box135"/>
          <p:cNvSpPr/>
          <p:nvPr/>
        </p:nvSpPr>
        <p:spPr>
          <a:xfrm>
            <a:off x="4867275" y="5025182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box136"/>
          <p:cNvSpPr/>
          <p:nvPr/>
        </p:nvSpPr>
        <p:spPr>
          <a:xfrm>
            <a:off x="6519862" y="3761929"/>
            <a:ext cx="1600200" cy="1272778"/>
          </a:xfrm>
          <a:prstGeom prst="rect">
            <a:avLst/>
          </a:prstGeom>
          <a:solidFill>
            <a:srgbClr val="EFF7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box137"/>
          <p:cNvSpPr/>
          <p:nvPr/>
        </p:nvSpPr>
        <p:spPr>
          <a:xfrm>
            <a:off x="6519862" y="5025182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box138"/>
          <p:cNvSpPr/>
          <p:nvPr/>
        </p:nvSpPr>
        <p:spPr>
          <a:xfrm>
            <a:off x="8120062" y="3761929"/>
            <a:ext cx="1652588" cy="1272778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box139"/>
          <p:cNvSpPr/>
          <p:nvPr/>
        </p:nvSpPr>
        <p:spPr>
          <a:xfrm>
            <a:off x="8120062" y="5025182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box140"/>
          <p:cNvSpPr/>
          <p:nvPr/>
        </p:nvSpPr>
        <p:spPr>
          <a:xfrm>
            <a:off x="9772650" y="5025182"/>
            <a:ext cx="18669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box141"/>
          <p:cNvSpPr/>
          <p:nvPr/>
        </p:nvSpPr>
        <p:spPr>
          <a:xfrm>
            <a:off x="3267075" y="5034707"/>
            <a:ext cx="8372475" cy="465237"/>
          </a:xfrm>
          <a:prstGeom prst="rect">
            <a:avLst/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box142"/>
          <p:cNvSpPr/>
          <p:nvPr/>
        </p:nvSpPr>
        <p:spPr>
          <a:xfrm>
            <a:off x="3267075" y="5490418"/>
            <a:ext cx="8372475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box143"/>
          <p:cNvSpPr/>
          <p:nvPr/>
        </p:nvSpPr>
        <p:spPr>
          <a:xfrm>
            <a:off x="3267075" y="5499943"/>
            <a:ext cx="1600200" cy="1023045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box144"/>
          <p:cNvSpPr/>
          <p:nvPr/>
        </p:nvSpPr>
        <p:spPr>
          <a:xfrm>
            <a:off x="3267075" y="6513463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box145"/>
          <p:cNvSpPr/>
          <p:nvPr/>
        </p:nvSpPr>
        <p:spPr>
          <a:xfrm>
            <a:off x="4857750" y="5499943"/>
            <a:ext cx="9525" cy="102304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box146"/>
          <p:cNvSpPr/>
          <p:nvPr/>
        </p:nvSpPr>
        <p:spPr>
          <a:xfrm>
            <a:off x="4867275" y="5499943"/>
            <a:ext cx="1652588" cy="1023045"/>
          </a:xfrm>
          <a:prstGeom prst="rect">
            <a:avLst/>
          </a:prstGeom>
          <a:solidFill>
            <a:srgbClr val="F4F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box147"/>
          <p:cNvSpPr/>
          <p:nvPr/>
        </p:nvSpPr>
        <p:spPr>
          <a:xfrm>
            <a:off x="4867275" y="6513463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box148"/>
          <p:cNvSpPr/>
          <p:nvPr/>
        </p:nvSpPr>
        <p:spPr>
          <a:xfrm>
            <a:off x="6519862" y="5499943"/>
            <a:ext cx="1600200" cy="1023045"/>
          </a:xfrm>
          <a:prstGeom prst="rect">
            <a:avLst/>
          </a:prstGeom>
          <a:solidFill>
            <a:srgbClr val="EFF7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box149"/>
          <p:cNvSpPr/>
          <p:nvPr/>
        </p:nvSpPr>
        <p:spPr>
          <a:xfrm>
            <a:off x="6519862" y="6513463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box150"/>
          <p:cNvSpPr/>
          <p:nvPr/>
        </p:nvSpPr>
        <p:spPr>
          <a:xfrm>
            <a:off x="8120062" y="5499943"/>
            <a:ext cx="1652588" cy="1023045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box151"/>
          <p:cNvSpPr/>
          <p:nvPr/>
        </p:nvSpPr>
        <p:spPr>
          <a:xfrm>
            <a:off x="8120062" y="6513463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box152"/>
          <p:cNvSpPr/>
          <p:nvPr/>
        </p:nvSpPr>
        <p:spPr>
          <a:xfrm>
            <a:off x="9772650" y="6513463"/>
            <a:ext cx="18669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box153"/>
          <p:cNvSpPr/>
          <p:nvPr/>
        </p:nvSpPr>
        <p:spPr>
          <a:xfrm>
            <a:off x="3267075" y="6522988"/>
            <a:ext cx="1600200" cy="1000125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box154"/>
          <p:cNvSpPr/>
          <p:nvPr/>
        </p:nvSpPr>
        <p:spPr>
          <a:xfrm>
            <a:off x="3267075" y="7513588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box155"/>
          <p:cNvSpPr/>
          <p:nvPr/>
        </p:nvSpPr>
        <p:spPr>
          <a:xfrm>
            <a:off x="4857750" y="6522988"/>
            <a:ext cx="9525" cy="10001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box156"/>
          <p:cNvSpPr/>
          <p:nvPr/>
        </p:nvSpPr>
        <p:spPr>
          <a:xfrm>
            <a:off x="4867275" y="6522988"/>
            <a:ext cx="1652588" cy="1000125"/>
          </a:xfrm>
          <a:prstGeom prst="rect">
            <a:avLst/>
          </a:prstGeom>
          <a:solidFill>
            <a:srgbClr val="F4F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box157"/>
          <p:cNvSpPr/>
          <p:nvPr/>
        </p:nvSpPr>
        <p:spPr>
          <a:xfrm>
            <a:off x="4867275" y="7513588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box158"/>
          <p:cNvSpPr/>
          <p:nvPr/>
        </p:nvSpPr>
        <p:spPr>
          <a:xfrm>
            <a:off x="6519862" y="6522988"/>
            <a:ext cx="1600200" cy="1000125"/>
          </a:xfrm>
          <a:prstGeom prst="rect">
            <a:avLst/>
          </a:prstGeom>
          <a:solidFill>
            <a:srgbClr val="EFF7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box159"/>
          <p:cNvSpPr/>
          <p:nvPr/>
        </p:nvSpPr>
        <p:spPr>
          <a:xfrm>
            <a:off x="6519862" y="7513588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box160"/>
          <p:cNvSpPr/>
          <p:nvPr/>
        </p:nvSpPr>
        <p:spPr>
          <a:xfrm>
            <a:off x="8120062" y="6522988"/>
            <a:ext cx="1652588" cy="1000125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box161"/>
          <p:cNvSpPr/>
          <p:nvPr/>
        </p:nvSpPr>
        <p:spPr>
          <a:xfrm>
            <a:off x="8120062" y="7513588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box162"/>
          <p:cNvSpPr/>
          <p:nvPr/>
        </p:nvSpPr>
        <p:spPr>
          <a:xfrm>
            <a:off x="9772650" y="7513588"/>
            <a:ext cx="18669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box163"/>
          <p:cNvSpPr/>
          <p:nvPr/>
        </p:nvSpPr>
        <p:spPr>
          <a:xfrm>
            <a:off x="3267075" y="7523113"/>
            <a:ext cx="1600200" cy="762893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box164"/>
          <p:cNvSpPr/>
          <p:nvPr/>
        </p:nvSpPr>
        <p:spPr>
          <a:xfrm>
            <a:off x="3267075" y="8276481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box165"/>
          <p:cNvSpPr/>
          <p:nvPr/>
        </p:nvSpPr>
        <p:spPr>
          <a:xfrm>
            <a:off x="4857750" y="7523113"/>
            <a:ext cx="9525" cy="762893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box166"/>
          <p:cNvSpPr/>
          <p:nvPr/>
        </p:nvSpPr>
        <p:spPr>
          <a:xfrm>
            <a:off x="4867275" y="7523113"/>
            <a:ext cx="1652588" cy="762893"/>
          </a:xfrm>
          <a:prstGeom prst="rect">
            <a:avLst/>
          </a:prstGeom>
          <a:solidFill>
            <a:srgbClr val="F4F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box167"/>
          <p:cNvSpPr/>
          <p:nvPr/>
        </p:nvSpPr>
        <p:spPr>
          <a:xfrm>
            <a:off x="4867275" y="8276481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box168"/>
          <p:cNvSpPr/>
          <p:nvPr/>
        </p:nvSpPr>
        <p:spPr>
          <a:xfrm>
            <a:off x="6519862" y="7523113"/>
            <a:ext cx="1600200" cy="762893"/>
          </a:xfrm>
          <a:prstGeom prst="rect">
            <a:avLst/>
          </a:prstGeom>
          <a:solidFill>
            <a:srgbClr val="EFF7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box169"/>
          <p:cNvSpPr/>
          <p:nvPr/>
        </p:nvSpPr>
        <p:spPr>
          <a:xfrm>
            <a:off x="6519862" y="8276481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box170"/>
          <p:cNvSpPr/>
          <p:nvPr/>
        </p:nvSpPr>
        <p:spPr>
          <a:xfrm>
            <a:off x="8120062" y="7523113"/>
            <a:ext cx="1652588" cy="762893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box171"/>
          <p:cNvSpPr/>
          <p:nvPr/>
        </p:nvSpPr>
        <p:spPr>
          <a:xfrm>
            <a:off x="8120062" y="8276481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box172"/>
          <p:cNvSpPr/>
          <p:nvPr/>
        </p:nvSpPr>
        <p:spPr>
          <a:xfrm>
            <a:off x="9772650" y="8276481"/>
            <a:ext cx="18669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box173"/>
          <p:cNvSpPr/>
          <p:nvPr/>
        </p:nvSpPr>
        <p:spPr>
          <a:xfrm>
            <a:off x="3267075" y="8286006"/>
            <a:ext cx="1600200" cy="1276648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box174"/>
          <p:cNvSpPr/>
          <p:nvPr/>
        </p:nvSpPr>
        <p:spPr>
          <a:xfrm>
            <a:off x="3267075" y="9553129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box175"/>
          <p:cNvSpPr/>
          <p:nvPr/>
        </p:nvSpPr>
        <p:spPr>
          <a:xfrm>
            <a:off x="4857750" y="8286006"/>
            <a:ext cx="9525" cy="1276648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box176"/>
          <p:cNvSpPr/>
          <p:nvPr/>
        </p:nvSpPr>
        <p:spPr>
          <a:xfrm>
            <a:off x="4867275" y="8286006"/>
            <a:ext cx="1652588" cy="1276648"/>
          </a:xfrm>
          <a:prstGeom prst="rect">
            <a:avLst/>
          </a:prstGeom>
          <a:solidFill>
            <a:srgbClr val="F4F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box177"/>
          <p:cNvSpPr/>
          <p:nvPr/>
        </p:nvSpPr>
        <p:spPr>
          <a:xfrm>
            <a:off x="4867275" y="9553129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box178"/>
          <p:cNvSpPr/>
          <p:nvPr/>
        </p:nvSpPr>
        <p:spPr>
          <a:xfrm>
            <a:off x="6519862" y="8286006"/>
            <a:ext cx="1600200" cy="1276648"/>
          </a:xfrm>
          <a:prstGeom prst="rect">
            <a:avLst/>
          </a:prstGeom>
          <a:solidFill>
            <a:srgbClr val="EFF7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box179"/>
          <p:cNvSpPr/>
          <p:nvPr/>
        </p:nvSpPr>
        <p:spPr>
          <a:xfrm>
            <a:off x="6519862" y="9553129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box180"/>
          <p:cNvSpPr/>
          <p:nvPr/>
        </p:nvSpPr>
        <p:spPr>
          <a:xfrm>
            <a:off x="8120062" y="8286006"/>
            <a:ext cx="1652588" cy="1276648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box181"/>
          <p:cNvSpPr/>
          <p:nvPr/>
        </p:nvSpPr>
        <p:spPr>
          <a:xfrm>
            <a:off x="8120062" y="9553129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box182"/>
          <p:cNvSpPr/>
          <p:nvPr/>
        </p:nvSpPr>
        <p:spPr>
          <a:xfrm>
            <a:off x="9772650" y="9553129"/>
            <a:ext cx="18669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box183"/>
          <p:cNvSpPr/>
          <p:nvPr/>
        </p:nvSpPr>
        <p:spPr>
          <a:xfrm>
            <a:off x="3267075" y="9562654"/>
            <a:ext cx="1600200" cy="1000571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box184"/>
          <p:cNvSpPr/>
          <p:nvPr/>
        </p:nvSpPr>
        <p:spPr>
          <a:xfrm>
            <a:off x="3267075" y="10553700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box185"/>
          <p:cNvSpPr/>
          <p:nvPr/>
        </p:nvSpPr>
        <p:spPr>
          <a:xfrm>
            <a:off x="4857750" y="9562654"/>
            <a:ext cx="9525" cy="1000571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box186"/>
          <p:cNvSpPr/>
          <p:nvPr/>
        </p:nvSpPr>
        <p:spPr>
          <a:xfrm>
            <a:off x="4867275" y="9562654"/>
            <a:ext cx="1652588" cy="1000571"/>
          </a:xfrm>
          <a:prstGeom prst="rect">
            <a:avLst/>
          </a:prstGeom>
          <a:solidFill>
            <a:srgbClr val="F4F6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box187"/>
          <p:cNvSpPr/>
          <p:nvPr/>
        </p:nvSpPr>
        <p:spPr>
          <a:xfrm>
            <a:off x="4867275" y="10553700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box188"/>
          <p:cNvSpPr/>
          <p:nvPr/>
        </p:nvSpPr>
        <p:spPr>
          <a:xfrm>
            <a:off x="6519862" y="9562654"/>
            <a:ext cx="1600200" cy="1000571"/>
          </a:xfrm>
          <a:prstGeom prst="rect">
            <a:avLst/>
          </a:prstGeom>
          <a:solidFill>
            <a:srgbClr val="EFF7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box189"/>
          <p:cNvSpPr/>
          <p:nvPr/>
        </p:nvSpPr>
        <p:spPr>
          <a:xfrm>
            <a:off x="6519862" y="10553700"/>
            <a:ext cx="16002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box190"/>
          <p:cNvSpPr/>
          <p:nvPr/>
        </p:nvSpPr>
        <p:spPr>
          <a:xfrm>
            <a:off x="8120062" y="9562654"/>
            <a:ext cx="1652588" cy="1000571"/>
          </a:xfrm>
          <a:prstGeom prst="rect">
            <a:avLst/>
          </a:prstGeom>
          <a:solidFill>
            <a:srgbClr val="FCF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box191"/>
          <p:cNvSpPr/>
          <p:nvPr/>
        </p:nvSpPr>
        <p:spPr>
          <a:xfrm>
            <a:off x="8120062" y="10553700"/>
            <a:ext cx="1652588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box192"/>
          <p:cNvSpPr/>
          <p:nvPr/>
        </p:nvSpPr>
        <p:spPr>
          <a:xfrm>
            <a:off x="9772650" y="10553700"/>
            <a:ext cx="1866900" cy="9525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box193"/>
          <p:cNvSpPr/>
          <p:nvPr/>
        </p:nvSpPr>
        <p:spPr>
          <a:xfrm>
            <a:off x="11744325" y="1162050"/>
            <a:ext cx="3238500" cy="94107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box194"/>
          <p:cNvSpPr/>
          <p:nvPr/>
        </p:nvSpPr>
        <p:spPr>
          <a:xfrm>
            <a:off x="11753850" y="1171575"/>
            <a:ext cx="3219450" cy="386209"/>
          </a:xfrm>
          <a:prstGeom prst="round2SameRect">
            <a:avLst>
              <a:gd name="adj1" fmla="val 24662"/>
              <a:gd name="adj2" fmla="val 0"/>
            </a:avLst>
          </a:prstGeom>
          <a:solidFill>
            <a:srgbClr val="1E2B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box195"/>
          <p:cNvSpPr/>
          <p:nvPr/>
        </p:nvSpPr>
        <p:spPr>
          <a:xfrm>
            <a:off x="11849100" y="1633984"/>
            <a:ext cx="3028950" cy="2151311"/>
          </a:xfrm>
          <a:prstGeom prst="roundRect">
            <a:avLst>
              <a:gd name="adj" fmla="val 3984"/>
            </a:avLst>
          </a:prstGeom>
          <a:noFill/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box196"/>
          <p:cNvSpPr/>
          <p:nvPr/>
        </p:nvSpPr>
        <p:spPr>
          <a:xfrm>
            <a:off x="11858625" y="1643509"/>
            <a:ext cx="3009900" cy="322213"/>
          </a:xfrm>
          <a:prstGeom prst="round2SameRect">
            <a:avLst>
              <a:gd name="adj1" fmla="val 26605"/>
              <a:gd name="adj2" fmla="val 0"/>
            </a:avLst>
          </a:prstGeom>
          <a:solidFill>
            <a:srgbClr val="2C3D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box197"/>
          <p:cNvSpPr/>
          <p:nvPr/>
        </p:nvSpPr>
        <p:spPr>
          <a:xfrm>
            <a:off x="11953875" y="2203252"/>
            <a:ext cx="914400" cy="523726"/>
          </a:xfrm>
          <a:prstGeom prst="roundRect">
            <a:avLst>
              <a:gd name="adj" fmla="val 14549"/>
            </a:avLst>
          </a:prstGeom>
          <a:solidFill>
            <a:srgbClr val="E8EC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box198"/>
          <p:cNvSpPr/>
          <p:nvPr/>
        </p:nvSpPr>
        <p:spPr>
          <a:xfrm>
            <a:off x="11953875" y="3014216"/>
            <a:ext cx="914400" cy="523726"/>
          </a:xfrm>
          <a:prstGeom prst="roundRect">
            <a:avLst>
              <a:gd name="adj" fmla="val 14549"/>
            </a:avLst>
          </a:prstGeom>
          <a:solidFill>
            <a:srgbClr val="E8EC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box199"/>
          <p:cNvSpPr/>
          <p:nvPr/>
        </p:nvSpPr>
        <p:spPr>
          <a:xfrm>
            <a:off x="11849100" y="3861495"/>
            <a:ext cx="3028950" cy="2151311"/>
          </a:xfrm>
          <a:prstGeom prst="roundRect">
            <a:avLst>
              <a:gd name="adj" fmla="val 3984"/>
            </a:avLst>
          </a:prstGeom>
          <a:noFill/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box200"/>
          <p:cNvSpPr/>
          <p:nvPr/>
        </p:nvSpPr>
        <p:spPr>
          <a:xfrm>
            <a:off x="11858625" y="3871020"/>
            <a:ext cx="3009900" cy="322213"/>
          </a:xfrm>
          <a:prstGeom prst="round2SameRect">
            <a:avLst>
              <a:gd name="adj1" fmla="val 26605"/>
              <a:gd name="adj2" fmla="val 0"/>
            </a:avLst>
          </a:prstGeom>
          <a:solidFill>
            <a:srgbClr val="1F7A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box201"/>
          <p:cNvSpPr/>
          <p:nvPr/>
        </p:nvSpPr>
        <p:spPr>
          <a:xfrm>
            <a:off x="11953875" y="4417516"/>
            <a:ext cx="914400" cy="523726"/>
          </a:xfrm>
          <a:prstGeom prst="roundRect">
            <a:avLst>
              <a:gd name="adj" fmla="val 14549"/>
            </a:avLst>
          </a:prstGeom>
          <a:solidFill>
            <a:srgbClr val="E3F1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box202"/>
          <p:cNvSpPr/>
          <p:nvPr/>
        </p:nvSpPr>
        <p:spPr>
          <a:xfrm>
            <a:off x="11953875" y="5215086"/>
            <a:ext cx="914400" cy="523726"/>
          </a:xfrm>
          <a:prstGeom prst="roundRect">
            <a:avLst>
              <a:gd name="adj" fmla="val 14549"/>
            </a:avLst>
          </a:prstGeom>
          <a:solidFill>
            <a:srgbClr val="E3F1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box203"/>
          <p:cNvSpPr/>
          <p:nvPr/>
        </p:nvSpPr>
        <p:spPr>
          <a:xfrm>
            <a:off x="11849100" y="6089005"/>
            <a:ext cx="3028950" cy="2151311"/>
          </a:xfrm>
          <a:prstGeom prst="roundRect">
            <a:avLst>
              <a:gd name="adj" fmla="val 3984"/>
            </a:avLst>
          </a:prstGeom>
          <a:noFill/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box204"/>
          <p:cNvSpPr/>
          <p:nvPr/>
        </p:nvSpPr>
        <p:spPr>
          <a:xfrm>
            <a:off x="11858625" y="6098530"/>
            <a:ext cx="3009900" cy="322213"/>
          </a:xfrm>
          <a:prstGeom prst="round2SameRect">
            <a:avLst>
              <a:gd name="adj1" fmla="val 26605"/>
              <a:gd name="adj2" fmla="val 0"/>
            </a:avLst>
          </a:prstGeom>
          <a:solidFill>
            <a:srgbClr val="5662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box205"/>
          <p:cNvSpPr/>
          <p:nvPr/>
        </p:nvSpPr>
        <p:spPr>
          <a:xfrm>
            <a:off x="11953875" y="6717506"/>
            <a:ext cx="914400" cy="523726"/>
          </a:xfrm>
          <a:prstGeom prst="roundRect">
            <a:avLst>
              <a:gd name="adj" fmla="val 14549"/>
            </a:avLst>
          </a:prstGeom>
          <a:solidFill>
            <a:srgbClr val="ECEE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box206"/>
          <p:cNvSpPr/>
          <p:nvPr/>
        </p:nvSpPr>
        <p:spPr>
          <a:xfrm>
            <a:off x="11953875" y="7547521"/>
            <a:ext cx="914400" cy="523726"/>
          </a:xfrm>
          <a:prstGeom prst="roundRect">
            <a:avLst>
              <a:gd name="adj" fmla="val 14549"/>
            </a:avLst>
          </a:prstGeom>
          <a:solidFill>
            <a:srgbClr val="ECEE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box207"/>
          <p:cNvSpPr/>
          <p:nvPr/>
        </p:nvSpPr>
        <p:spPr>
          <a:xfrm>
            <a:off x="11849100" y="8316516"/>
            <a:ext cx="3028950" cy="2151311"/>
          </a:xfrm>
          <a:prstGeom prst="roundRect">
            <a:avLst>
              <a:gd name="adj" fmla="val 3984"/>
            </a:avLst>
          </a:prstGeom>
          <a:noFill/>
          <a:ln w="9525">
            <a:solidFill>
              <a:srgbClr val="D8DC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box208"/>
          <p:cNvSpPr/>
          <p:nvPr/>
        </p:nvSpPr>
        <p:spPr>
          <a:xfrm>
            <a:off x="11858625" y="8326041"/>
            <a:ext cx="3009900" cy="322213"/>
          </a:xfrm>
          <a:prstGeom prst="round2SameRect">
            <a:avLst>
              <a:gd name="adj1" fmla="val 26605"/>
              <a:gd name="adj2" fmla="val 0"/>
            </a:avLst>
          </a:prstGeom>
          <a:solidFill>
            <a:srgbClr val="C39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box209"/>
          <p:cNvSpPr/>
          <p:nvPr/>
        </p:nvSpPr>
        <p:spPr>
          <a:xfrm>
            <a:off x="11953875" y="8899178"/>
            <a:ext cx="914400" cy="523726"/>
          </a:xfrm>
          <a:prstGeom prst="roundRect">
            <a:avLst>
              <a:gd name="adj" fmla="val 14549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box210"/>
          <p:cNvSpPr/>
          <p:nvPr/>
        </p:nvSpPr>
        <p:spPr>
          <a:xfrm>
            <a:off x="11953875" y="9683353"/>
            <a:ext cx="914400" cy="523726"/>
          </a:xfrm>
          <a:prstGeom prst="roundRect">
            <a:avLst>
              <a:gd name="adj" fmla="val 14549"/>
            </a:avLst>
          </a:prstGeom>
          <a:solidFill>
            <a:srgbClr val="FAF3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chip211"/>
          <p:cNvSpPr/>
          <p:nvPr/>
        </p:nvSpPr>
        <p:spPr>
          <a:xfrm>
            <a:off x="4162425" y="690414"/>
            <a:ext cx="638175" cy="181273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① SFAS</a:t>
            </a:r>
          </a:p>
        </p:txBody>
      </p:sp>
      <p:sp>
        <p:nvSpPr>
          <p:cNvPr id="214" name="chip212"/>
          <p:cNvSpPr/>
          <p:nvPr/>
        </p:nvSpPr>
        <p:spPr>
          <a:xfrm>
            <a:off x="5029200" y="690414"/>
            <a:ext cx="733425" cy="181273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② องค์กร</a:t>
            </a:r>
          </a:p>
        </p:txBody>
      </p:sp>
      <p:sp>
        <p:nvSpPr>
          <p:cNvPr id="215" name="chip213"/>
          <p:cNvSpPr/>
          <p:nvPr/>
        </p:nvSpPr>
        <p:spPr>
          <a:xfrm>
            <a:off x="5991225" y="690414"/>
            <a:ext cx="638175" cy="181273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③ ธุรกิจ</a:t>
            </a:r>
          </a:p>
        </p:txBody>
      </p:sp>
      <p:sp>
        <p:nvSpPr>
          <p:cNvPr id="216" name="chip214"/>
          <p:cNvSpPr/>
          <p:nvPr/>
        </p:nvSpPr>
        <p:spPr>
          <a:xfrm>
            <a:off x="6858000" y="690414"/>
            <a:ext cx="628650" cy="181273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④ หน้าที่</a:t>
            </a:r>
          </a:p>
        </p:txBody>
      </p:sp>
      <p:sp>
        <p:nvSpPr>
          <p:cNvPr id="217" name="chip215"/>
          <p:cNvSpPr/>
          <p:nvPr/>
        </p:nvSpPr>
        <p:spPr>
          <a:xfrm>
            <a:off x="7715250" y="690414"/>
            <a:ext cx="895350" cy="181273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⑤ ประเมินผล</a:t>
            </a:r>
          </a:p>
        </p:txBody>
      </p:sp>
      <p:sp>
        <p:nvSpPr>
          <p:cNvPr id="218" name="chip216"/>
          <p:cNvSpPr/>
          <p:nvPr/>
        </p:nvSpPr>
        <p:spPr>
          <a:xfrm>
            <a:off x="257175" y="1240780"/>
            <a:ext cx="247650" cy="247650"/>
          </a:xfrm>
          <a:prstGeom prst="ellipse">
            <a:avLst/>
          </a:prstGeom>
          <a:solidFill>
            <a:srgbClr val="C39A2E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1</a:t>
            </a:r>
          </a:p>
        </p:txBody>
      </p:sp>
      <p:sp>
        <p:nvSpPr>
          <p:cNvPr id="219" name="chip217"/>
          <p:cNvSpPr/>
          <p:nvPr/>
        </p:nvSpPr>
        <p:spPr>
          <a:xfrm>
            <a:off x="285750" y="2303562"/>
            <a:ext cx="21907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S1</a:t>
            </a:r>
          </a:p>
        </p:txBody>
      </p:sp>
      <p:sp>
        <p:nvSpPr>
          <p:cNvPr id="220" name="chip218"/>
          <p:cNvSpPr/>
          <p:nvPr/>
        </p:nvSpPr>
        <p:spPr>
          <a:xfrm>
            <a:off x="2814638" y="2312045"/>
            <a:ext cx="171450" cy="171450"/>
          </a:xfrm>
          <a:prstGeom prst="ellipse">
            <a:avLst/>
          </a:prstGeom>
          <a:solidFill>
            <a:srgbClr val="2C3D7A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L</a:t>
            </a:r>
          </a:p>
        </p:txBody>
      </p:sp>
      <p:sp>
        <p:nvSpPr>
          <p:cNvPr id="221" name="chip219"/>
          <p:cNvSpPr/>
          <p:nvPr/>
        </p:nvSpPr>
        <p:spPr>
          <a:xfrm>
            <a:off x="276225" y="2700784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S2</a:t>
            </a:r>
          </a:p>
        </p:txBody>
      </p:sp>
      <p:sp>
        <p:nvSpPr>
          <p:cNvPr id="222" name="chip220"/>
          <p:cNvSpPr/>
          <p:nvPr/>
        </p:nvSpPr>
        <p:spPr>
          <a:xfrm>
            <a:off x="2814638" y="2709267"/>
            <a:ext cx="171450" cy="171450"/>
          </a:xfrm>
          <a:prstGeom prst="ellipse">
            <a:avLst/>
          </a:prstGeom>
          <a:solidFill>
            <a:srgbClr val="2C3D7A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L</a:t>
            </a:r>
          </a:p>
        </p:txBody>
      </p:sp>
      <p:sp>
        <p:nvSpPr>
          <p:cNvPr id="223" name="chip221"/>
          <p:cNvSpPr/>
          <p:nvPr/>
        </p:nvSpPr>
        <p:spPr>
          <a:xfrm>
            <a:off x="276225" y="3002012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S5</a:t>
            </a:r>
          </a:p>
        </p:txBody>
      </p:sp>
      <p:sp>
        <p:nvSpPr>
          <p:cNvPr id="224" name="chip222"/>
          <p:cNvSpPr/>
          <p:nvPr/>
        </p:nvSpPr>
        <p:spPr>
          <a:xfrm>
            <a:off x="2814638" y="3010495"/>
            <a:ext cx="171450" cy="171450"/>
          </a:xfrm>
          <a:prstGeom prst="ellipse">
            <a:avLst/>
          </a:prstGeom>
          <a:solidFill>
            <a:srgbClr val="2C3D7A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L</a:t>
            </a:r>
          </a:p>
        </p:txBody>
      </p:sp>
      <p:sp>
        <p:nvSpPr>
          <p:cNvPr id="225" name="chip223"/>
          <p:cNvSpPr/>
          <p:nvPr/>
        </p:nvSpPr>
        <p:spPr>
          <a:xfrm>
            <a:off x="266700" y="3303240"/>
            <a:ext cx="25717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W1</a:t>
            </a:r>
          </a:p>
        </p:txBody>
      </p:sp>
      <p:sp>
        <p:nvSpPr>
          <p:cNvPr id="226" name="chip224"/>
          <p:cNvSpPr/>
          <p:nvPr/>
        </p:nvSpPr>
        <p:spPr>
          <a:xfrm>
            <a:off x="2828925" y="3311723"/>
            <a:ext cx="142875" cy="171450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I</a:t>
            </a:r>
          </a:p>
        </p:txBody>
      </p:sp>
      <p:sp>
        <p:nvSpPr>
          <p:cNvPr id="227" name="chip225"/>
          <p:cNvSpPr/>
          <p:nvPr/>
        </p:nvSpPr>
        <p:spPr>
          <a:xfrm>
            <a:off x="257175" y="3604468"/>
            <a:ext cx="2762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W2</a:t>
            </a:r>
          </a:p>
        </p:txBody>
      </p:sp>
      <p:sp>
        <p:nvSpPr>
          <p:cNvPr id="228" name="chip226"/>
          <p:cNvSpPr/>
          <p:nvPr/>
        </p:nvSpPr>
        <p:spPr>
          <a:xfrm>
            <a:off x="2814638" y="3612952"/>
            <a:ext cx="171450" cy="171450"/>
          </a:xfrm>
          <a:prstGeom prst="ellipse">
            <a:avLst/>
          </a:prstGeom>
          <a:solidFill>
            <a:srgbClr val="2C3D7A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L</a:t>
            </a:r>
          </a:p>
        </p:txBody>
      </p:sp>
      <p:sp>
        <p:nvSpPr>
          <p:cNvPr id="229" name="chip227"/>
          <p:cNvSpPr/>
          <p:nvPr/>
        </p:nvSpPr>
        <p:spPr>
          <a:xfrm>
            <a:off x="257175" y="3905696"/>
            <a:ext cx="2762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W3</a:t>
            </a:r>
          </a:p>
        </p:txBody>
      </p:sp>
      <p:sp>
        <p:nvSpPr>
          <p:cNvPr id="230" name="chip228"/>
          <p:cNvSpPr/>
          <p:nvPr/>
        </p:nvSpPr>
        <p:spPr>
          <a:xfrm>
            <a:off x="2809875" y="3914180"/>
            <a:ext cx="180975" cy="171450"/>
          </a:xfrm>
          <a:prstGeom prst="ellipse">
            <a:avLst/>
          </a:prstGeom>
          <a:solidFill>
            <a:srgbClr val="B8433A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</a:t>
            </a:r>
          </a:p>
        </p:txBody>
      </p:sp>
      <p:sp>
        <p:nvSpPr>
          <p:cNvPr id="231" name="chip229"/>
          <p:cNvSpPr/>
          <p:nvPr/>
        </p:nvSpPr>
        <p:spPr>
          <a:xfrm>
            <a:off x="276225" y="4467820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O1</a:t>
            </a:r>
          </a:p>
        </p:txBody>
      </p:sp>
      <p:sp>
        <p:nvSpPr>
          <p:cNvPr id="232" name="chip230"/>
          <p:cNvSpPr/>
          <p:nvPr/>
        </p:nvSpPr>
        <p:spPr>
          <a:xfrm>
            <a:off x="2814638" y="4476304"/>
            <a:ext cx="171450" cy="171450"/>
          </a:xfrm>
          <a:prstGeom prst="ellipse">
            <a:avLst/>
          </a:prstGeom>
          <a:solidFill>
            <a:srgbClr val="2C3D7A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L</a:t>
            </a:r>
          </a:p>
        </p:txBody>
      </p:sp>
      <p:sp>
        <p:nvSpPr>
          <p:cNvPr id="233" name="chip231"/>
          <p:cNvSpPr/>
          <p:nvPr/>
        </p:nvSpPr>
        <p:spPr>
          <a:xfrm>
            <a:off x="266700" y="4769048"/>
            <a:ext cx="25717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O2</a:t>
            </a:r>
          </a:p>
        </p:txBody>
      </p:sp>
      <p:sp>
        <p:nvSpPr>
          <p:cNvPr id="234" name="chip232"/>
          <p:cNvSpPr/>
          <p:nvPr/>
        </p:nvSpPr>
        <p:spPr>
          <a:xfrm>
            <a:off x="2828925" y="4777532"/>
            <a:ext cx="142875" cy="171450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I</a:t>
            </a:r>
          </a:p>
        </p:txBody>
      </p:sp>
      <p:sp>
        <p:nvSpPr>
          <p:cNvPr id="235" name="chip233"/>
          <p:cNvSpPr/>
          <p:nvPr/>
        </p:nvSpPr>
        <p:spPr>
          <a:xfrm>
            <a:off x="266700" y="5070277"/>
            <a:ext cx="25717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O3</a:t>
            </a:r>
          </a:p>
        </p:txBody>
      </p:sp>
      <p:sp>
        <p:nvSpPr>
          <p:cNvPr id="236" name="chip234"/>
          <p:cNvSpPr/>
          <p:nvPr/>
        </p:nvSpPr>
        <p:spPr>
          <a:xfrm>
            <a:off x="2828925" y="5078760"/>
            <a:ext cx="142875" cy="171450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I</a:t>
            </a:r>
          </a:p>
        </p:txBody>
      </p:sp>
      <p:sp>
        <p:nvSpPr>
          <p:cNvPr id="237" name="chip235"/>
          <p:cNvSpPr/>
          <p:nvPr/>
        </p:nvSpPr>
        <p:spPr>
          <a:xfrm>
            <a:off x="285750" y="5371505"/>
            <a:ext cx="21907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T1</a:t>
            </a:r>
          </a:p>
        </p:txBody>
      </p:sp>
      <p:sp>
        <p:nvSpPr>
          <p:cNvPr id="238" name="chip236"/>
          <p:cNvSpPr/>
          <p:nvPr/>
        </p:nvSpPr>
        <p:spPr>
          <a:xfrm>
            <a:off x="2809875" y="5379988"/>
            <a:ext cx="180975" cy="171450"/>
          </a:xfrm>
          <a:prstGeom prst="ellipse">
            <a:avLst/>
          </a:prstGeom>
          <a:solidFill>
            <a:srgbClr val="B8433A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</a:t>
            </a:r>
          </a:p>
        </p:txBody>
      </p:sp>
      <p:sp>
        <p:nvSpPr>
          <p:cNvPr id="239" name="chip237"/>
          <p:cNvSpPr/>
          <p:nvPr/>
        </p:nvSpPr>
        <p:spPr>
          <a:xfrm>
            <a:off x="276225" y="5672733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T2</a:t>
            </a:r>
          </a:p>
        </p:txBody>
      </p:sp>
      <p:sp>
        <p:nvSpPr>
          <p:cNvPr id="240" name="chip238"/>
          <p:cNvSpPr/>
          <p:nvPr/>
        </p:nvSpPr>
        <p:spPr>
          <a:xfrm>
            <a:off x="2814638" y="5681216"/>
            <a:ext cx="171450" cy="171450"/>
          </a:xfrm>
          <a:prstGeom prst="ellipse">
            <a:avLst/>
          </a:prstGeom>
          <a:solidFill>
            <a:srgbClr val="2C3D7A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L</a:t>
            </a:r>
          </a:p>
        </p:txBody>
      </p:sp>
      <p:sp>
        <p:nvSpPr>
          <p:cNvPr id="241" name="chip239"/>
          <p:cNvSpPr/>
          <p:nvPr/>
        </p:nvSpPr>
        <p:spPr>
          <a:xfrm>
            <a:off x="276225" y="5973961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T3</a:t>
            </a:r>
          </a:p>
        </p:txBody>
      </p:sp>
      <p:sp>
        <p:nvSpPr>
          <p:cNvPr id="242" name="chip240"/>
          <p:cNvSpPr/>
          <p:nvPr/>
        </p:nvSpPr>
        <p:spPr>
          <a:xfrm>
            <a:off x="2809875" y="5982444"/>
            <a:ext cx="180975" cy="171450"/>
          </a:xfrm>
          <a:prstGeom prst="ellipse">
            <a:avLst/>
          </a:prstGeom>
          <a:solidFill>
            <a:srgbClr val="B8433A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</a:t>
            </a:r>
          </a:p>
        </p:txBody>
      </p:sp>
      <p:sp>
        <p:nvSpPr>
          <p:cNvPr id="243" name="chip241"/>
          <p:cNvSpPr/>
          <p:nvPr/>
        </p:nvSpPr>
        <p:spPr>
          <a:xfrm>
            <a:off x="238125" y="6627614"/>
            <a:ext cx="180975" cy="171450"/>
          </a:xfrm>
          <a:prstGeom prst="ellipse">
            <a:avLst/>
          </a:prstGeom>
          <a:solidFill>
            <a:srgbClr val="B8433A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</a:t>
            </a:r>
          </a:p>
        </p:txBody>
      </p:sp>
      <p:sp>
        <p:nvSpPr>
          <p:cNvPr id="244" name="chip242"/>
          <p:cNvSpPr/>
          <p:nvPr/>
        </p:nvSpPr>
        <p:spPr>
          <a:xfrm>
            <a:off x="685800" y="6627614"/>
            <a:ext cx="142875" cy="171450"/>
          </a:xfrm>
          <a:prstGeom prst="roundRect">
            <a:avLst>
              <a:gd name="adj" fmla="val 50000"/>
            </a:avLst>
          </a:prstGeom>
          <a:solidFill>
            <a:srgbClr val="C39A2E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I</a:t>
            </a:r>
          </a:p>
        </p:txBody>
      </p:sp>
      <p:sp>
        <p:nvSpPr>
          <p:cNvPr id="245" name="chip243"/>
          <p:cNvSpPr/>
          <p:nvPr/>
        </p:nvSpPr>
        <p:spPr>
          <a:xfrm>
            <a:off x="1209675" y="6627614"/>
            <a:ext cx="171450" cy="171450"/>
          </a:xfrm>
          <a:prstGeom prst="ellipse">
            <a:avLst/>
          </a:prstGeom>
          <a:solidFill>
            <a:srgbClr val="2C3D7A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L</a:t>
            </a:r>
          </a:p>
        </p:txBody>
      </p:sp>
      <p:sp>
        <p:nvSpPr>
          <p:cNvPr id="246" name="chip244"/>
          <p:cNvSpPr/>
          <p:nvPr/>
        </p:nvSpPr>
        <p:spPr>
          <a:xfrm>
            <a:off x="3381375" y="1240780"/>
            <a:ext cx="247650" cy="247650"/>
          </a:xfrm>
          <a:prstGeom prst="ellipse">
            <a:avLst/>
          </a:prstGeom>
          <a:solidFill>
            <a:srgbClr val="C39A2E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2</a:t>
            </a:r>
          </a:p>
        </p:txBody>
      </p:sp>
      <p:sp>
        <p:nvSpPr>
          <p:cNvPr id="247" name="chip245"/>
          <p:cNvSpPr/>
          <p:nvPr/>
        </p:nvSpPr>
        <p:spPr>
          <a:xfrm>
            <a:off x="4352925" y="1240780"/>
            <a:ext cx="247650" cy="247650"/>
          </a:xfrm>
          <a:prstGeom prst="ellipse">
            <a:avLst/>
          </a:prstGeom>
          <a:solidFill>
            <a:srgbClr val="C39A2E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3</a:t>
            </a:r>
          </a:p>
        </p:txBody>
      </p:sp>
      <p:sp>
        <p:nvSpPr>
          <p:cNvPr id="248" name="chip246"/>
          <p:cNvSpPr/>
          <p:nvPr/>
        </p:nvSpPr>
        <p:spPr>
          <a:xfrm>
            <a:off x="5200650" y="1240780"/>
            <a:ext cx="247650" cy="247650"/>
          </a:xfrm>
          <a:prstGeom prst="ellipse">
            <a:avLst/>
          </a:prstGeom>
          <a:solidFill>
            <a:srgbClr val="C39A2E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4</a:t>
            </a:r>
          </a:p>
        </p:txBody>
      </p:sp>
      <p:sp>
        <p:nvSpPr>
          <p:cNvPr id="249" name="chip247"/>
          <p:cNvSpPr/>
          <p:nvPr/>
        </p:nvSpPr>
        <p:spPr>
          <a:xfrm>
            <a:off x="3352800" y="2900958"/>
            <a:ext cx="21907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S1</a:t>
            </a:r>
          </a:p>
        </p:txBody>
      </p:sp>
      <p:sp>
        <p:nvSpPr>
          <p:cNvPr id="250" name="chip248"/>
          <p:cNvSpPr/>
          <p:nvPr/>
        </p:nvSpPr>
        <p:spPr>
          <a:xfrm>
            <a:off x="3600450" y="2900958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S2</a:t>
            </a:r>
          </a:p>
        </p:txBody>
      </p:sp>
      <p:sp>
        <p:nvSpPr>
          <p:cNvPr id="251" name="chip249"/>
          <p:cNvSpPr/>
          <p:nvPr/>
        </p:nvSpPr>
        <p:spPr>
          <a:xfrm>
            <a:off x="3867150" y="2900958"/>
            <a:ext cx="25717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O3</a:t>
            </a:r>
          </a:p>
        </p:txBody>
      </p:sp>
      <p:sp>
        <p:nvSpPr>
          <p:cNvPr id="252" name="chip250"/>
          <p:cNvSpPr/>
          <p:nvPr/>
        </p:nvSpPr>
        <p:spPr>
          <a:xfrm>
            <a:off x="4152900" y="2900958"/>
            <a:ext cx="25717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W1</a:t>
            </a:r>
          </a:p>
        </p:txBody>
      </p:sp>
      <p:sp>
        <p:nvSpPr>
          <p:cNvPr id="253" name="chip251"/>
          <p:cNvSpPr/>
          <p:nvPr/>
        </p:nvSpPr>
        <p:spPr>
          <a:xfrm>
            <a:off x="3371850" y="3104406"/>
            <a:ext cx="390525" cy="181273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05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1 ลบ.</a:t>
            </a:r>
          </a:p>
        </p:txBody>
      </p:sp>
      <p:sp>
        <p:nvSpPr>
          <p:cNvPr id="254" name="chip252"/>
          <p:cNvSpPr/>
          <p:nvPr/>
        </p:nvSpPr>
        <p:spPr>
          <a:xfrm>
            <a:off x="3352800" y="4408884"/>
            <a:ext cx="21907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S1</a:t>
            </a:r>
          </a:p>
        </p:txBody>
      </p:sp>
      <p:sp>
        <p:nvSpPr>
          <p:cNvPr id="255" name="chip253"/>
          <p:cNvSpPr/>
          <p:nvPr/>
        </p:nvSpPr>
        <p:spPr>
          <a:xfrm>
            <a:off x="3600450" y="4408884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S2</a:t>
            </a:r>
          </a:p>
        </p:txBody>
      </p:sp>
      <p:sp>
        <p:nvSpPr>
          <p:cNvPr id="256" name="chip254"/>
          <p:cNvSpPr/>
          <p:nvPr/>
        </p:nvSpPr>
        <p:spPr>
          <a:xfrm>
            <a:off x="3867150" y="4408884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T2</a:t>
            </a:r>
          </a:p>
        </p:txBody>
      </p:sp>
      <p:sp>
        <p:nvSpPr>
          <p:cNvPr id="257" name="chip255"/>
          <p:cNvSpPr/>
          <p:nvPr/>
        </p:nvSpPr>
        <p:spPr>
          <a:xfrm>
            <a:off x="4133850" y="4408884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T3</a:t>
            </a:r>
          </a:p>
        </p:txBody>
      </p:sp>
      <p:sp>
        <p:nvSpPr>
          <p:cNvPr id="258" name="chip256"/>
          <p:cNvSpPr/>
          <p:nvPr/>
        </p:nvSpPr>
        <p:spPr>
          <a:xfrm>
            <a:off x="3371850" y="4612332"/>
            <a:ext cx="390525" cy="181273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05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1 ลบ.</a:t>
            </a:r>
          </a:p>
        </p:txBody>
      </p:sp>
      <p:sp>
        <p:nvSpPr>
          <p:cNvPr id="259" name="chip257"/>
          <p:cNvSpPr/>
          <p:nvPr/>
        </p:nvSpPr>
        <p:spPr>
          <a:xfrm>
            <a:off x="3352800" y="5931396"/>
            <a:ext cx="25717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W1</a:t>
            </a:r>
          </a:p>
        </p:txBody>
      </p:sp>
      <p:sp>
        <p:nvSpPr>
          <p:cNvPr id="260" name="chip258"/>
          <p:cNvSpPr/>
          <p:nvPr/>
        </p:nvSpPr>
        <p:spPr>
          <a:xfrm>
            <a:off x="3638550" y="5931396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O1</a:t>
            </a:r>
          </a:p>
        </p:txBody>
      </p:sp>
      <p:sp>
        <p:nvSpPr>
          <p:cNvPr id="261" name="chip259"/>
          <p:cNvSpPr/>
          <p:nvPr/>
        </p:nvSpPr>
        <p:spPr>
          <a:xfrm>
            <a:off x="3905250" y="5931396"/>
            <a:ext cx="25717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O2</a:t>
            </a:r>
          </a:p>
        </p:txBody>
      </p:sp>
      <p:sp>
        <p:nvSpPr>
          <p:cNvPr id="262" name="chip260"/>
          <p:cNvSpPr/>
          <p:nvPr/>
        </p:nvSpPr>
        <p:spPr>
          <a:xfrm>
            <a:off x="3371850" y="6134844"/>
            <a:ext cx="1371600" cy="181273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05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2+1 ลบ./ปี ตามกิจกรรม</a:t>
            </a:r>
          </a:p>
        </p:txBody>
      </p:sp>
      <p:sp>
        <p:nvSpPr>
          <p:cNvPr id="263" name="chip261"/>
          <p:cNvSpPr/>
          <p:nvPr/>
        </p:nvSpPr>
        <p:spPr>
          <a:xfrm>
            <a:off x="3352800" y="7047905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S5</a:t>
            </a:r>
          </a:p>
        </p:txBody>
      </p:sp>
      <p:sp>
        <p:nvSpPr>
          <p:cNvPr id="264" name="chip262"/>
          <p:cNvSpPr/>
          <p:nvPr/>
        </p:nvSpPr>
        <p:spPr>
          <a:xfrm>
            <a:off x="3619500" y="7047905"/>
            <a:ext cx="2762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W3</a:t>
            </a:r>
          </a:p>
        </p:txBody>
      </p:sp>
      <p:sp>
        <p:nvSpPr>
          <p:cNvPr id="265" name="chip263"/>
          <p:cNvSpPr/>
          <p:nvPr/>
        </p:nvSpPr>
        <p:spPr>
          <a:xfrm>
            <a:off x="3943350" y="7044779"/>
            <a:ext cx="390525" cy="181273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05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1 ลบ.</a:t>
            </a:r>
          </a:p>
        </p:txBody>
      </p:sp>
      <p:sp>
        <p:nvSpPr>
          <p:cNvPr id="266" name="chip264"/>
          <p:cNvSpPr/>
          <p:nvPr/>
        </p:nvSpPr>
        <p:spPr>
          <a:xfrm>
            <a:off x="3352800" y="7929414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S2</a:t>
            </a:r>
          </a:p>
        </p:txBody>
      </p:sp>
      <p:sp>
        <p:nvSpPr>
          <p:cNvPr id="267" name="chip265"/>
          <p:cNvSpPr/>
          <p:nvPr/>
        </p:nvSpPr>
        <p:spPr>
          <a:xfrm>
            <a:off x="3619500" y="7929414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O1</a:t>
            </a:r>
          </a:p>
        </p:txBody>
      </p:sp>
      <p:sp>
        <p:nvSpPr>
          <p:cNvPr id="268" name="chip266"/>
          <p:cNvSpPr/>
          <p:nvPr/>
        </p:nvSpPr>
        <p:spPr>
          <a:xfrm>
            <a:off x="3905250" y="7926288"/>
            <a:ext cx="419100" cy="181273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05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2 ลบ.</a:t>
            </a:r>
          </a:p>
        </p:txBody>
      </p:sp>
      <p:sp>
        <p:nvSpPr>
          <p:cNvPr id="269" name="chip267"/>
          <p:cNvSpPr/>
          <p:nvPr/>
        </p:nvSpPr>
        <p:spPr>
          <a:xfrm>
            <a:off x="3352800" y="8844260"/>
            <a:ext cx="2762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W2</a:t>
            </a:r>
          </a:p>
        </p:txBody>
      </p:sp>
      <p:sp>
        <p:nvSpPr>
          <p:cNvPr id="270" name="chip268"/>
          <p:cNvSpPr/>
          <p:nvPr/>
        </p:nvSpPr>
        <p:spPr>
          <a:xfrm>
            <a:off x="3657600" y="8844260"/>
            <a:ext cx="2762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W3</a:t>
            </a:r>
          </a:p>
        </p:txBody>
      </p:sp>
      <p:sp>
        <p:nvSpPr>
          <p:cNvPr id="271" name="chip269"/>
          <p:cNvSpPr/>
          <p:nvPr/>
        </p:nvSpPr>
        <p:spPr>
          <a:xfrm>
            <a:off x="3962400" y="8844260"/>
            <a:ext cx="2381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T2</a:t>
            </a:r>
          </a:p>
        </p:txBody>
      </p:sp>
      <p:sp>
        <p:nvSpPr>
          <p:cNvPr id="272" name="chip270"/>
          <p:cNvSpPr/>
          <p:nvPr/>
        </p:nvSpPr>
        <p:spPr>
          <a:xfrm>
            <a:off x="3371850" y="9047708"/>
            <a:ext cx="1400175" cy="181273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05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2+2 ลบ./ปี ตามกิจกรรม</a:t>
            </a:r>
          </a:p>
        </p:txBody>
      </p:sp>
      <p:sp>
        <p:nvSpPr>
          <p:cNvPr id="273" name="chip271"/>
          <p:cNvSpPr/>
          <p:nvPr/>
        </p:nvSpPr>
        <p:spPr>
          <a:xfrm>
            <a:off x="3352800" y="10087719"/>
            <a:ext cx="276225" cy="174873"/>
          </a:xfrm>
          <a:prstGeom prst="roundRect">
            <a:avLst>
              <a:gd name="adj" fmla="val 21787"/>
            </a:avLst>
          </a:prstGeom>
          <a:solidFill>
            <a:srgbClr val="B8433A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W2</a:t>
            </a:r>
          </a:p>
        </p:txBody>
      </p:sp>
      <p:sp>
        <p:nvSpPr>
          <p:cNvPr id="274" name="chip272"/>
          <p:cNvSpPr/>
          <p:nvPr/>
        </p:nvSpPr>
        <p:spPr>
          <a:xfrm>
            <a:off x="3657600" y="10087719"/>
            <a:ext cx="219075" cy="174873"/>
          </a:xfrm>
          <a:prstGeom prst="roundRect">
            <a:avLst>
              <a:gd name="adj" fmla="val 21787"/>
            </a:avLst>
          </a:prstGeom>
          <a:solidFill>
            <a:srgbClr val="1F7A6B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S1</a:t>
            </a:r>
          </a:p>
        </p:txBody>
      </p:sp>
      <p:sp>
        <p:nvSpPr>
          <p:cNvPr id="275" name="chip273"/>
          <p:cNvSpPr/>
          <p:nvPr/>
        </p:nvSpPr>
        <p:spPr>
          <a:xfrm>
            <a:off x="3924300" y="10084594"/>
            <a:ext cx="390525" cy="181273"/>
          </a:xfrm>
          <a:prstGeom prst="roundRect">
            <a:avLst>
              <a:gd name="adj" fmla="val 50000"/>
            </a:avLst>
          </a:prstGeom>
          <a:solidFill>
            <a:srgbClr val="FAF3E0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05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1 ลบ.</a:t>
            </a:r>
          </a:p>
        </p:txBody>
      </p:sp>
      <p:sp>
        <p:nvSpPr>
          <p:cNvPr id="276" name="chip274"/>
          <p:cNvSpPr/>
          <p:nvPr/>
        </p:nvSpPr>
        <p:spPr>
          <a:xfrm>
            <a:off x="11868150" y="1240780"/>
            <a:ext cx="247650" cy="247650"/>
          </a:xfrm>
          <a:prstGeom prst="ellipse">
            <a:avLst/>
          </a:prstGeom>
          <a:solidFill>
            <a:srgbClr val="C39A2E"/>
          </a:solidFill>
          <a:ln>
            <a:noFill/>
          </a:ln>
        </p:spPr>
        <p:txBody>
          <a:bodyPr rtlCol="0" anchor="ctr" lIns="0" rIns="0" tIns="0" bIns="0" wrap="none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5</a:t>
            </a:r>
          </a:p>
        </p:txBody>
      </p:sp>
      <p:sp>
        <p:nvSpPr>
          <p:cNvPr id="277" name="text275"/>
          <p:cNvSpPr txBox="1"/>
          <p:nvPr/>
        </p:nvSpPr>
        <p:spPr>
          <a:xfrm>
            <a:off x="4162425" y="252264"/>
            <a:ext cx="5580698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75"/>
              </a:lnSpc>
            </a:pPr>
            <a:r>
              <a:rPr sz="22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Strategy Storyboard </a:t>
            </a:r>
            <a:r>
              <a:rPr sz="2250" b="1">
                <a:solidFill>
                  <a:srgbClr val="C39A2E"/>
                </a:solidFill>
                <a:latin typeface="Kanit"/>
                <a:ea typeface="Kanit"/>
                <a:cs typeface="Kanit"/>
              </a:rPr>
              <a:t>2569–2573</a:t>
            </a:r>
          </a:p>
        </p:txBody>
      </p:sp>
      <p:sp>
        <p:nvSpPr>
          <p:cNvPr id="278" name="text276"/>
          <p:cNvSpPr txBox="1"/>
          <p:nvPr/>
        </p:nvSpPr>
        <p:spPr>
          <a:xfrm>
            <a:off x="4857750" y="680889"/>
            <a:ext cx="34290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C39A2E"/>
                </a:solidFill>
                <a:latin typeface="Kanit"/>
                <a:ea typeface="Kanit"/>
                <a:cs typeface="Kanit"/>
              </a:rPr>
              <a:t>➜</a:t>
            </a:r>
          </a:p>
        </p:txBody>
      </p:sp>
      <p:sp>
        <p:nvSpPr>
          <p:cNvPr id="279" name="text277"/>
          <p:cNvSpPr txBox="1"/>
          <p:nvPr/>
        </p:nvSpPr>
        <p:spPr>
          <a:xfrm>
            <a:off x="5819775" y="680889"/>
            <a:ext cx="34290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C39A2E"/>
                </a:solidFill>
                <a:latin typeface="Kanit"/>
                <a:ea typeface="Kanit"/>
                <a:cs typeface="Kanit"/>
              </a:rPr>
              <a:t>➜</a:t>
            </a:r>
          </a:p>
        </p:txBody>
      </p:sp>
      <p:sp>
        <p:nvSpPr>
          <p:cNvPr id="280" name="text278"/>
          <p:cNvSpPr txBox="1"/>
          <p:nvPr/>
        </p:nvSpPr>
        <p:spPr>
          <a:xfrm>
            <a:off x="6686550" y="680889"/>
            <a:ext cx="34290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C39A2E"/>
                </a:solidFill>
                <a:latin typeface="Kanit"/>
                <a:ea typeface="Kanit"/>
                <a:cs typeface="Kanit"/>
              </a:rPr>
              <a:t>➜</a:t>
            </a:r>
          </a:p>
        </p:txBody>
      </p:sp>
      <p:sp>
        <p:nvSpPr>
          <p:cNvPr id="281" name="text279"/>
          <p:cNvSpPr txBox="1"/>
          <p:nvPr/>
        </p:nvSpPr>
        <p:spPr>
          <a:xfrm>
            <a:off x="7543800" y="680889"/>
            <a:ext cx="34290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C39A2E"/>
                </a:solidFill>
                <a:latin typeface="Kanit"/>
                <a:ea typeface="Kanit"/>
                <a:cs typeface="Kanit"/>
              </a:rPr>
              <a:t>➜</a:t>
            </a:r>
          </a:p>
        </p:txBody>
      </p:sp>
      <p:sp>
        <p:nvSpPr>
          <p:cNvPr id="282" name="text280"/>
          <p:cNvSpPr txBox="1"/>
          <p:nvPr/>
        </p:nvSpPr>
        <p:spPr>
          <a:xfrm>
            <a:off x="8818513" y="841325"/>
            <a:ext cx="10287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เสื้อผ้าสำเร็จรูป</a:t>
            </a:r>
          </a:p>
        </p:txBody>
      </p:sp>
      <p:sp>
        <p:nvSpPr>
          <p:cNvPr id="283" name="text281"/>
          <p:cNvSpPr txBox="1"/>
          <p:nvPr/>
        </p:nvSpPr>
        <p:spPr>
          <a:xfrm>
            <a:off x="9760357" y="841325"/>
            <a:ext cx="1195864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เครื่องแบบองค์กร</a:t>
            </a:r>
          </a:p>
        </p:txBody>
      </p:sp>
      <p:sp>
        <p:nvSpPr>
          <p:cNvPr id="284" name="text282"/>
          <p:cNvSpPr txBox="1"/>
          <p:nvPr/>
        </p:nvSpPr>
        <p:spPr>
          <a:xfrm>
            <a:off x="10940236" y="841325"/>
            <a:ext cx="887254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ชุดการแพทย์</a:t>
            </a:r>
          </a:p>
        </p:txBody>
      </p:sp>
      <p:sp>
        <p:nvSpPr>
          <p:cNvPr id="285" name="text283"/>
          <p:cNvSpPr txBox="1"/>
          <p:nvPr/>
        </p:nvSpPr>
        <p:spPr>
          <a:xfrm>
            <a:off x="12109252" y="841325"/>
            <a:ext cx="6000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ชุดกีฬา</a:t>
            </a:r>
          </a:p>
        </p:txBody>
      </p:sp>
      <p:sp>
        <p:nvSpPr>
          <p:cNvPr id="286" name="text284"/>
          <p:cNvSpPr txBox="1"/>
          <p:nvPr/>
        </p:nvSpPr>
        <p:spPr>
          <a:xfrm>
            <a:off x="12952661" y="841325"/>
            <a:ext cx="964406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เสื้อยืด / ชั้นใน</a:t>
            </a:r>
          </a:p>
        </p:txBody>
      </p:sp>
      <p:sp>
        <p:nvSpPr>
          <p:cNvPr id="287" name="text285"/>
          <p:cNvSpPr txBox="1"/>
          <p:nvPr/>
        </p:nvSpPr>
        <p:spPr>
          <a:xfrm>
            <a:off x="14031813" y="841325"/>
            <a:ext cx="85725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26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ผ้านวัตกรรม</a:t>
            </a:r>
          </a:p>
        </p:txBody>
      </p:sp>
      <p:sp>
        <p:nvSpPr>
          <p:cNvPr id="288" name="text286"/>
          <p:cNvSpPr txBox="1"/>
          <p:nvPr/>
        </p:nvSpPr>
        <p:spPr>
          <a:xfrm>
            <a:off x="581025" y="1209675"/>
            <a:ext cx="2044541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42"/>
              </a:lnSpc>
            </a:pPr>
            <a:r>
              <a:rPr sz="16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SFAS ปัจจัยที่เลือก</a:t>
            </a:r>
          </a:p>
        </p:txBody>
      </p:sp>
      <p:sp>
        <p:nvSpPr>
          <p:cNvPr id="289" name="text287"/>
          <p:cNvSpPr txBox="1"/>
          <p:nvPr/>
        </p:nvSpPr>
        <p:spPr>
          <a:xfrm>
            <a:off x="581025" y="1633984"/>
            <a:ext cx="561975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79"/>
              </a:lnSpc>
            </a:pPr>
            <a:r>
              <a:rPr sz="110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ปัจจัย</a:t>
            </a:r>
          </a:p>
        </p:txBody>
      </p:sp>
      <p:sp>
        <p:nvSpPr>
          <p:cNvPr id="290" name="text288"/>
          <p:cNvSpPr txBox="1"/>
          <p:nvPr/>
        </p:nvSpPr>
        <p:spPr>
          <a:xfrm>
            <a:off x="1933575" y="1633984"/>
            <a:ext cx="352425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W</a:t>
            </a:r>
          </a:p>
        </p:txBody>
      </p:sp>
      <p:sp>
        <p:nvSpPr>
          <p:cNvPr id="291" name="text289"/>
          <p:cNvSpPr txBox="1"/>
          <p:nvPr/>
        </p:nvSpPr>
        <p:spPr>
          <a:xfrm>
            <a:off x="2190750" y="1633984"/>
            <a:ext cx="314325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R</a:t>
            </a:r>
          </a:p>
        </p:txBody>
      </p:sp>
      <p:sp>
        <p:nvSpPr>
          <p:cNvPr id="292" name="text290"/>
          <p:cNvSpPr txBox="1"/>
          <p:nvPr/>
        </p:nvSpPr>
        <p:spPr>
          <a:xfrm>
            <a:off x="2366962" y="1633984"/>
            <a:ext cx="428625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WS</a:t>
            </a:r>
          </a:p>
        </p:txBody>
      </p:sp>
      <p:sp>
        <p:nvSpPr>
          <p:cNvPr id="293" name="text291"/>
          <p:cNvSpPr txBox="1"/>
          <p:nvPr/>
        </p:nvSpPr>
        <p:spPr>
          <a:xfrm>
            <a:off x="2657475" y="1633984"/>
            <a:ext cx="485775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479"/>
              </a:lnSpc>
            </a:pPr>
            <a:r>
              <a:rPr sz="110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ระยะ</a:t>
            </a:r>
          </a:p>
        </p:txBody>
      </p:sp>
      <p:sp>
        <p:nvSpPr>
          <p:cNvPr id="294" name="text292"/>
          <p:cNvSpPr txBox="1"/>
          <p:nvPr/>
        </p:nvSpPr>
        <p:spPr>
          <a:xfrm>
            <a:off x="295275" y="1888480"/>
            <a:ext cx="964406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E2B5E"/>
                </a:solidFill>
                <a:latin typeface="Kanit"/>
                <a:ea typeface="Kanit"/>
                <a:cs typeface="Kanit"/>
              </a:rPr>
              <a:t>ปัจจัยภายใน</a:t>
            </a:r>
          </a:p>
        </p:txBody>
      </p:sp>
      <p:sp>
        <p:nvSpPr>
          <p:cNvPr id="295" name="text293"/>
          <p:cNvSpPr txBox="1"/>
          <p:nvPr/>
        </p:nvSpPr>
        <p:spPr>
          <a:xfrm>
            <a:off x="571500" y="2187476"/>
            <a:ext cx="1447800" cy="3751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ผลิต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ครบวงจร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OEM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/ODM</a:t>
            </a:r>
          </a:p>
        </p:txBody>
      </p:sp>
      <p:sp>
        <p:nvSpPr>
          <p:cNvPr id="296" name="text294"/>
          <p:cNvSpPr txBox="1"/>
          <p:nvPr/>
        </p:nvSpPr>
        <p:spPr>
          <a:xfrm>
            <a:off x="1905000" y="2284512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.10</a:t>
            </a:r>
          </a:p>
        </p:txBody>
      </p:sp>
      <p:sp>
        <p:nvSpPr>
          <p:cNvPr id="297" name="text295"/>
          <p:cNvSpPr txBox="1"/>
          <p:nvPr/>
        </p:nvSpPr>
        <p:spPr>
          <a:xfrm>
            <a:off x="2195512" y="2284512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5</a:t>
            </a:r>
          </a:p>
        </p:txBody>
      </p:sp>
      <p:sp>
        <p:nvSpPr>
          <p:cNvPr id="298" name="text296"/>
          <p:cNvSpPr txBox="1"/>
          <p:nvPr/>
        </p:nvSpPr>
        <p:spPr>
          <a:xfrm>
            <a:off x="2328862" y="2284512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0.50</a:t>
            </a:r>
          </a:p>
        </p:txBody>
      </p:sp>
      <p:sp>
        <p:nvSpPr>
          <p:cNvPr id="299" name="text297"/>
          <p:cNvSpPr txBox="1"/>
          <p:nvPr/>
        </p:nvSpPr>
        <p:spPr>
          <a:xfrm>
            <a:off x="571500" y="2681734"/>
            <a:ext cx="1787366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นวัตกรรม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สิ่งทอ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รักษ์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โลก</a:t>
            </a:r>
          </a:p>
        </p:txBody>
      </p:sp>
      <p:sp>
        <p:nvSpPr>
          <p:cNvPr id="300" name="text298"/>
          <p:cNvSpPr txBox="1"/>
          <p:nvPr/>
        </p:nvSpPr>
        <p:spPr>
          <a:xfrm>
            <a:off x="1905000" y="2681734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.09</a:t>
            </a:r>
          </a:p>
        </p:txBody>
      </p:sp>
      <p:sp>
        <p:nvSpPr>
          <p:cNvPr id="301" name="text299"/>
          <p:cNvSpPr txBox="1"/>
          <p:nvPr/>
        </p:nvSpPr>
        <p:spPr>
          <a:xfrm>
            <a:off x="2195512" y="2681734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5</a:t>
            </a:r>
          </a:p>
        </p:txBody>
      </p:sp>
      <p:sp>
        <p:nvSpPr>
          <p:cNvPr id="302" name="text300"/>
          <p:cNvSpPr txBox="1"/>
          <p:nvPr/>
        </p:nvSpPr>
        <p:spPr>
          <a:xfrm>
            <a:off x="2328862" y="2681734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0.45</a:t>
            </a:r>
          </a:p>
        </p:txBody>
      </p:sp>
      <p:sp>
        <p:nvSpPr>
          <p:cNvPr id="303" name="text301"/>
          <p:cNvSpPr txBox="1"/>
          <p:nvPr/>
        </p:nvSpPr>
        <p:spPr>
          <a:xfrm>
            <a:off x="571500" y="2982962"/>
            <a:ext cx="144018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ฐานะ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การเงิน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มั่นคง</a:t>
            </a:r>
          </a:p>
        </p:txBody>
      </p:sp>
      <p:sp>
        <p:nvSpPr>
          <p:cNvPr id="304" name="text302"/>
          <p:cNvSpPr txBox="1"/>
          <p:nvPr/>
        </p:nvSpPr>
        <p:spPr>
          <a:xfrm>
            <a:off x="1905000" y="2982962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.07</a:t>
            </a:r>
          </a:p>
        </p:txBody>
      </p:sp>
      <p:sp>
        <p:nvSpPr>
          <p:cNvPr id="305" name="text303"/>
          <p:cNvSpPr txBox="1"/>
          <p:nvPr/>
        </p:nvSpPr>
        <p:spPr>
          <a:xfrm>
            <a:off x="2195512" y="2982962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3</a:t>
            </a:r>
          </a:p>
        </p:txBody>
      </p:sp>
      <p:sp>
        <p:nvSpPr>
          <p:cNvPr id="306" name="text304"/>
          <p:cNvSpPr txBox="1"/>
          <p:nvPr/>
        </p:nvSpPr>
        <p:spPr>
          <a:xfrm>
            <a:off x="2328862" y="2982962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0.21</a:t>
            </a:r>
          </a:p>
        </p:txBody>
      </p:sp>
      <p:sp>
        <p:nvSpPr>
          <p:cNvPr id="307" name="text305"/>
          <p:cNvSpPr txBox="1"/>
          <p:nvPr/>
        </p:nvSpPr>
        <p:spPr>
          <a:xfrm>
            <a:off x="571500" y="3284190"/>
            <a:ext cx="1658779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พึ่งพา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ICC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40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%</a:t>
            </a:r>
          </a:p>
        </p:txBody>
      </p:sp>
      <p:sp>
        <p:nvSpPr>
          <p:cNvPr id="308" name="text306"/>
          <p:cNvSpPr txBox="1"/>
          <p:nvPr/>
        </p:nvSpPr>
        <p:spPr>
          <a:xfrm>
            <a:off x="1905000" y="3284190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.12</a:t>
            </a:r>
          </a:p>
        </p:txBody>
      </p:sp>
      <p:sp>
        <p:nvSpPr>
          <p:cNvPr id="309" name="text307"/>
          <p:cNvSpPr txBox="1"/>
          <p:nvPr/>
        </p:nvSpPr>
        <p:spPr>
          <a:xfrm>
            <a:off x="2195512" y="3284190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</a:t>
            </a:r>
          </a:p>
        </p:txBody>
      </p:sp>
      <p:sp>
        <p:nvSpPr>
          <p:cNvPr id="310" name="text308"/>
          <p:cNvSpPr txBox="1"/>
          <p:nvPr/>
        </p:nvSpPr>
        <p:spPr>
          <a:xfrm>
            <a:off x="2328862" y="3284190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0.24</a:t>
            </a:r>
          </a:p>
        </p:txBody>
      </p:sp>
      <p:sp>
        <p:nvSpPr>
          <p:cNvPr id="311" name="text309"/>
          <p:cNvSpPr txBox="1"/>
          <p:nvPr/>
        </p:nvSpPr>
        <p:spPr>
          <a:xfrm>
            <a:off x="571500" y="3585418"/>
            <a:ext cx="1298734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ต้นทุน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แรงงาน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สูง</a:t>
            </a:r>
          </a:p>
        </p:txBody>
      </p:sp>
      <p:sp>
        <p:nvSpPr>
          <p:cNvPr id="312" name="text310"/>
          <p:cNvSpPr txBox="1"/>
          <p:nvPr/>
        </p:nvSpPr>
        <p:spPr>
          <a:xfrm>
            <a:off x="1905000" y="3585418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.08</a:t>
            </a:r>
          </a:p>
        </p:txBody>
      </p:sp>
      <p:sp>
        <p:nvSpPr>
          <p:cNvPr id="313" name="text311"/>
          <p:cNvSpPr txBox="1"/>
          <p:nvPr/>
        </p:nvSpPr>
        <p:spPr>
          <a:xfrm>
            <a:off x="2195512" y="3585418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</a:t>
            </a:r>
          </a:p>
        </p:txBody>
      </p:sp>
      <p:sp>
        <p:nvSpPr>
          <p:cNvPr id="314" name="text312"/>
          <p:cNvSpPr txBox="1"/>
          <p:nvPr/>
        </p:nvSpPr>
        <p:spPr>
          <a:xfrm>
            <a:off x="2328862" y="3585418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0.16</a:t>
            </a:r>
          </a:p>
        </p:txBody>
      </p:sp>
      <p:sp>
        <p:nvSpPr>
          <p:cNvPr id="315" name="text313"/>
          <p:cNvSpPr txBox="1"/>
          <p:nvPr/>
        </p:nvSpPr>
        <p:spPr>
          <a:xfrm>
            <a:off x="571500" y="3886646"/>
            <a:ext cx="126015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สต็อก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สูง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หมุน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ช้า</a:t>
            </a:r>
          </a:p>
        </p:txBody>
      </p:sp>
      <p:sp>
        <p:nvSpPr>
          <p:cNvPr id="316" name="text314"/>
          <p:cNvSpPr txBox="1"/>
          <p:nvPr/>
        </p:nvSpPr>
        <p:spPr>
          <a:xfrm>
            <a:off x="1905000" y="3886646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.09</a:t>
            </a:r>
          </a:p>
        </p:txBody>
      </p:sp>
      <p:sp>
        <p:nvSpPr>
          <p:cNvPr id="317" name="text315"/>
          <p:cNvSpPr txBox="1"/>
          <p:nvPr/>
        </p:nvSpPr>
        <p:spPr>
          <a:xfrm>
            <a:off x="2195512" y="3886646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</a:t>
            </a:r>
          </a:p>
        </p:txBody>
      </p:sp>
      <p:sp>
        <p:nvSpPr>
          <p:cNvPr id="318" name="text316"/>
          <p:cNvSpPr txBox="1"/>
          <p:nvPr/>
        </p:nvSpPr>
        <p:spPr>
          <a:xfrm>
            <a:off x="2328862" y="3886646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0.18</a:t>
            </a:r>
          </a:p>
        </p:txBody>
      </p:sp>
      <p:sp>
        <p:nvSpPr>
          <p:cNvPr id="319" name="text317"/>
          <p:cNvSpPr txBox="1"/>
          <p:nvPr/>
        </p:nvSpPr>
        <p:spPr>
          <a:xfrm>
            <a:off x="295275" y="4148733"/>
            <a:ext cx="1131570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E2B5E"/>
                </a:solidFill>
                <a:latin typeface="Kanit"/>
                <a:ea typeface="Kanit"/>
                <a:cs typeface="Kanit"/>
              </a:rPr>
              <a:t>ปัจจัยภายนอก</a:t>
            </a:r>
          </a:p>
        </p:txBody>
      </p:sp>
      <p:sp>
        <p:nvSpPr>
          <p:cNvPr id="320" name="text318"/>
          <p:cNvSpPr txBox="1"/>
          <p:nvPr/>
        </p:nvSpPr>
        <p:spPr>
          <a:xfrm>
            <a:off x="571500" y="4448770"/>
            <a:ext cx="156876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เทรนด์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สินค้า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รักษ์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โลก</a:t>
            </a:r>
          </a:p>
        </p:txBody>
      </p:sp>
      <p:sp>
        <p:nvSpPr>
          <p:cNvPr id="321" name="text319"/>
          <p:cNvSpPr txBox="1"/>
          <p:nvPr/>
        </p:nvSpPr>
        <p:spPr>
          <a:xfrm>
            <a:off x="1905000" y="4448770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.10</a:t>
            </a:r>
          </a:p>
        </p:txBody>
      </p:sp>
      <p:sp>
        <p:nvSpPr>
          <p:cNvPr id="322" name="text320"/>
          <p:cNvSpPr txBox="1"/>
          <p:nvPr/>
        </p:nvSpPr>
        <p:spPr>
          <a:xfrm>
            <a:off x="2195512" y="4448770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5</a:t>
            </a:r>
          </a:p>
        </p:txBody>
      </p:sp>
      <p:sp>
        <p:nvSpPr>
          <p:cNvPr id="323" name="text321"/>
          <p:cNvSpPr txBox="1"/>
          <p:nvPr/>
        </p:nvSpPr>
        <p:spPr>
          <a:xfrm>
            <a:off x="2328862" y="4448770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0.50</a:t>
            </a:r>
          </a:p>
        </p:txBody>
      </p:sp>
      <p:sp>
        <p:nvSpPr>
          <p:cNvPr id="324" name="text322"/>
          <p:cNvSpPr txBox="1"/>
          <p:nvPr/>
        </p:nvSpPr>
        <p:spPr>
          <a:xfrm>
            <a:off x="571500" y="4749998"/>
            <a:ext cx="1671638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ตลาด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ชุด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เฉพาะทาง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โต</a:t>
            </a:r>
          </a:p>
        </p:txBody>
      </p:sp>
      <p:sp>
        <p:nvSpPr>
          <p:cNvPr id="325" name="text323"/>
          <p:cNvSpPr txBox="1"/>
          <p:nvPr/>
        </p:nvSpPr>
        <p:spPr>
          <a:xfrm>
            <a:off x="1905000" y="4749998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.05</a:t>
            </a:r>
          </a:p>
        </p:txBody>
      </p:sp>
      <p:sp>
        <p:nvSpPr>
          <p:cNvPr id="326" name="text324"/>
          <p:cNvSpPr txBox="1"/>
          <p:nvPr/>
        </p:nvSpPr>
        <p:spPr>
          <a:xfrm>
            <a:off x="2195512" y="4749998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4</a:t>
            </a:r>
          </a:p>
        </p:txBody>
      </p:sp>
      <p:sp>
        <p:nvSpPr>
          <p:cNvPr id="327" name="text325"/>
          <p:cNvSpPr txBox="1"/>
          <p:nvPr/>
        </p:nvSpPr>
        <p:spPr>
          <a:xfrm>
            <a:off x="2328862" y="4749998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0.20</a:t>
            </a:r>
          </a:p>
        </p:txBody>
      </p:sp>
      <p:sp>
        <p:nvSpPr>
          <p:cNvPr id="328" name="text326"/>
          <p:cNvSpPr txBox="1"/>
          <p:nvPr/>
        </p:nvSpPr>
        <p:spPr>
          <a:xfrm>
            <a:off x="571500" y="5051227"/>
            <a:ext cx="1311592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สิทธิ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ภาษี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อาเซียน</a:t>
            </a:r>
          </a:p>
        </p:txBody>
      </p:sp>
      <p:sp>
        <p:nvSpPr>
          <p:cNvPr id="329" name="text327"/>
          <p:cNvSpPr txBox="1"/>
          <p:nvPr/>
        </p:nvSpPr>
        <p:spPr>
          <a:xfrm>
            <a:off x="1905000" y="5051227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.05</a:t>
            </a:r>
          </a:p>
        </p:txBody>
      </p:sp>
      <p:sp>
        <p:nvSpPr>
          <p:cNvPr id="330" name="text328"/>
          <p:cNvSpPr txBox="1"/>
          <p:nvPr/>
        </p:nvSpPr>
        <p:spPr>
          <a:xfrm>
            <a:off x="2195512" y="5051227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4</a:t>
            </a:r>
          </a:p>
        </p:txBody>
      </p:sp>
      <p:sp>
        <p:nvSpPr>
          <p:cNvPr id="331" name="text329"/>
          <p:cNvSpPr txBox="1"/>
          <p:nvPr/>
        </p:nvSpPr>
        <p:spPr>
          <a:xfrm>
            <a:off x="2328862" y="5051227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0.20</a:t>
            </a:r>
          </a:p>
        </p:txBody>
      </p:sp>
      <p:sp>
        <p:nvSpPr>
          <p:cNvPr id="332" name="text330"/>
          <p:cNvSpPr txBox="1"/>
          <p:nvPr/>
        </p:nvSpPr>
        <p:spPr>
          <a:xfrm>
            <a:off x="571500" y="5352455"/>
            <a:ext cx="1414462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กำแพงภาษี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สหรัฐฯ</a:t>
            </a:r>
          </a:p>
        </p:txBody>
      </p:sp>
      <p:sp>
        <p:nvSpPr>
          <p:cNvPr id="333" name="text331"/>
          <p:cNvSpPr txBox="1"/>
          <p:nvPr/>
        </p:nvSpPr>
        <p:spPr>
          <a:xfrm>
            <a:off x="1905000" y="5352455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.11</a:t>
            </a:r>
          </a:p>
        </p:txBody>
      </p:sp>
      <p:sp>
        <p:nvSpPr>
          <p:cNvPr id="334" name="text332"/>
          <p:cNvSpPr txBox="1"/>
          <p:nvPr/>
        </p:nvSpPr>
        <p:spPr>
          <a:xfrm>
            <a:off x="2195512" y="5352455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</a:t>
            </a:r>
          </a:p>
        </p:txBody>
      </p:sp>
      <p:sp>
        <p:nvSpPr>
          <p:cNvPr id="335" name="text333"/>
          <p:cNvSpPr txBox="1"/>
          <p:nvPr/>
        </p:nvSpPr>
        <p:spPr>
          <a:xfrm>
            <a:off x="2328862" y="5352455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0.22</a:t>
            </a:r>
          </a:p>
        </p:txBody>
      </p:sp>
      <p:sp>
        <p:nvSpPr>
          <p:cNvPr id="336" name="text334"/>
          <p:cNvSpPr txBox="1"/>
          <p:nvPr/>
        </p:nvSpPr>
        <p:spPr>
          <a:xfrm>
            <a:off x="571500" y="5653683"/>
            <a:ext cx="12858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แข่งขัน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ด้าน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ราคา</a:t>
            </a:r>
          </a:p>
        </p:txBody>
      </p:sp>
      <p:sp>
        <p:nvSpPr>
          <p:cNvPr id="337" name="text335"/>
          <p:cNvSpPr txBox="1"/>
          <p:nvPr/>
        </p:nvSpPr>
        <p:spPr>
          <a:xfrm>
            <a:off x="1905000" y="5653683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.08</a:t>
            </a:r>
          </a:p>
        </p:txBody>
      </p:sp>
      <p:sp>
        <p:nvSpPr>
          <p:cNvPr id="338" name="text336"/>
          <p:cNvSpPr txBox="1"/>
          <p:nvPr/>
        </p:nvSpPr>
        <p:spPr>
          <a:xfrm>
            <a:off x="2195512" y="5653683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3</a:t>
            </a:r>
          </a:p>
        </p:txBody>
      </p:sp>
      <p:sp>
        <p:nvSpPr>
          <p:cNvPr id="339" name="text337"/>
          <p:cNvSpPr txBox="1"/>
          <p:nvPr/>
        </p:nvSpPr>
        <p:spPr>
          <a:xfrm>
            <a:off x="2328862" y="5653683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0.24</a:t>
            </a:r>
          </a:p>
        </p:txBody>
      </p:sp>
      <p:sp>
        <p:nvSpPr>
          <p:cNvPr id="340" name="text338"/>
          <p:cNvSpPr txBox="1"/>
          <p:nvPr/>
        </p:nvSpPr>
        <p:spPr>
          <a:xfrm>
            <a:off x="571500" y="5954911"/>
            <a:ext cx="1825942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สงคราม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ราคา</a:t>
            </a: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ในประเทศ</a:t>
            </a:r>
          </a:p>
        </p:txBody>
      </p:sp>
      <p:sp>
        <p:nvSpPr>
          <p:cNvPr id="341" name="text339"/>
          <p:cNvSpPr txBox="1"/>
          <p:nvPr/>
        </p:nvSpPr>
        <p:spPr>
          <a:xfrm>
            <a:off x="1905000" y="5954911"/>
            <a:ext cx="409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.06</a:t>
            </a:r>
          </a:p>
        </p:txBody>
      </p:sp>
      <p:sp>
        <p:nvSpPr>
          <p:cNvPr id="342" name="text340"/>
          <p:cNvSpPr txBox="1"/>
          <p:nvPr/>
        </p:nvSpPr>
        <p:spPr>
          <a:xfrm>
            <a:off x="2195512" y="5954911"/>
            <a:ext cx="3048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</a:t>
            </a:r>
          </a:p>
        </p:txBody>
      </p:sp>
      <p:sp>
        <p:nvSpPr>
          <p:cNvPr id="343" name="text341"/>
          <p:cNvSpPr txBox="1"/>
          <p:nvPr/>
        </p:nvSpPr>
        <p:spPr>
          <a:xfrm>
            <a:off x="2328862" y="5954911"/>
            <a:ext cx="50482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30"/>
              </a:lnSpc>
            </a:pPr>
            <a:r>
              <a:rPr sz="110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0.12</a:t>
            </a:r>
          </a:p>
        </p:txBody>
      </p:sp>
      <p:sp>
        <p:nvSpPr>
          <p:cNvPr id="344" name="text342"/>
          <p:cNvSpPr txBox="1"/>
          <p:nvPr/>
        </p:nvSpPr>
        <p:spPr>
          <a:xfrm>
            <a:off x="571500" y="6245572"/>
            <a:ext cx="1002982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34"/>
              </a:lnSpc>
            </a:pPr>
            <a:r>
              <a:rPr sz="130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คะแนน</a:t>
            </a:r>
            <a:r>
              <a:rPr sz="130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รวม</a:t>
            </a:r>
          </a:p>
        </p:txBody>
      </p:sp>
      <p:sp>
        <p:nvSpPr>
          <p:cNvPr id="345" name="text343"/>
          <p:cNvSpPr txBox="1"/>
          <p:nvPr/>
        </p:nvSpPr>
        <p:spPr>
          <a:xfrm>
            <a:off x="1847850" y="6245572"/>
            <a:ext cx="523875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34"/>
              </a:lnSpc>
            </a:pPr>
            <a:r>
              <a:rPr sz="130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1.00</a:t>
            </a:r>
          </a:p>
        </p:txBody>
      </p:sp>
      <p:sp>
        <p:nvSpPr>
          <p:cNvPr id="346" name="text344"/>
          <p:cNvSpPr txBox="1"/>
          <p:nvPr/>
        </p:nvSpPr>
        <p:spPr>
          <a:xfrm>
            <a:off x="2324100" y="6245572"/>
            <a:ext cx="514350" cy="2476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34"/>
              </a:lnSpc>
            </a:pPr>
            <a:r>
              <a:rPr sz="130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3.22</a:t>
            </a:r>
          </a:p>
        </p:txBody>
      </p:sp>
      <p:sp>
        <p:nvSpPr>
          <p:cNvPr id="347" name="text345"/>
          <p:cNvSpPr txBox="1"/>
          <p:nvPr/>
        </p:nvSpPr>
        <p:spPr>
          <a:xfrm>
            <a:off x="419100" y="6608564"/>
            <a:ext cx="41910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56607A"/>
                </a:solidFill>
                <a:latin typeface="Sarabun"/>
                <a:ea typeface="Sarabun"/>
                <a:cs typeface="Sarabun"/>
              </a:rPr>
              <a:t>สั้น</a:t>
            </a:r>
          </a:p>
        </p:txBody>
      </p:sp>
      <p:sp>
        <p:nvSpPr>
          <p:cNvPr id="348" name="text346"/>
          <p:cNvSpPr txBox="1"/>
          <p:nvPr/>
        </p:nvSpPr>
        <p:spPr>
          <a:xfrm>
            <a:off x="828675" y="6608564"/>
            <a:ext cx="533400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56607A"/>
                </a:solidFill>
                <a:latin typeface="Sarabun"/>
                <a:ea typeface="Sarabun"/>
                <a:cs typeface="Sarabun"/>
              </a:rPr>
              <a:t>กลาง</a:t>
            </a:r>
          </a:p>
        </p:txBody>
      </p:sp>
      <p:sp>
        <p:nvSpPr>
          <p:cNvPr id="349" name="text347"/>
          <p:cNvSpPr txBox="1"/>
          <p:nvPr/>
        </p:nvSpPr>
        <p:spPr>
          <a:xfrm>
            <a:off x="1381125" y="6608564"/>
            <a:ext cx="466725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56607A"/>
                </a:solidFill>
                <a:latin typeface="Sarabun"/>
                <a:ea typeface="Sarabun"/>
                <a:cs typeface="Sarabun"/>
              </a:rPr>
              <a:t>ยาว</a:t>
            </a:r>
          </a:p>
        </p:txBody>
      </p:sp>
      <p:sp>
        <p:nvSpPr>
          <p:cNvPr id="350" name="text348"/>
          <p:cNvSpPr txBox="1"/>
          <p:nvPr/>
        </p:nvSpPr>
        <p:spPr>
          <a:xfrm>
            <a:off x="381000" y="6928842"/>
            <a:ext cx="1491615" cy="2857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39"/>
              </a:lnSpc>
            </a:pPr>
            <a:r>
              <a:rPr sz="1500" b="0">
                <a:solidFill>
                  <a:srgbClr val="7D5D0F"/>
                </a:solidFill>
                <a:latin typeface="Kanit"/>
                <a:ea typeface="Kanit"/>
                <a:cs typeface="Kanit"/>
              </a:rPr>
              <a:t>ทิศทาง</a:t>
            </a:r>
            <a:r>
              <a:rPr sz="1500" b="0">
                <a:solidFill>
                  <a:srgbClr val="7D5D0F"/>
                </a:solidFill>
                <a:latin typeface="Kanit"/>
                <a:ea typeface="Kanit"/>
                <a:cs typeface="Kanit"/>
              </a:rPr>
              <a:t>กลยุทธ์</a:t>
            </a:r>
          </a:p>
        </p:txBody>
      </p:sp>
      <p:sp>
        <p:nvSpPr>
          <p:cNvPr id="351" name="text349"/>
          <p:cNvSpPr txBox="1"/>
          <p:nvPr/>
        </p:nvSpPr>
        <p:spPr>
          <a:xfrm>
            <a:off x="400050" y="7264003"/>
            <a:ext cx="3253264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1. 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ใช้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300" b="1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S1 S2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หา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ใหม่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ลด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300" b="1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W1 T1</a:t>
            </a:r>
          </a:p>
        </p:txBody>
      </p:sp>
      <p:sp>
        <p:nvSpPr>
          <p:cNvPr id="352" name="text350"/>
          <p:cNvSpPr txBox="1"/>
          <p:nvPr/>
        </p:nvSpPr>
        <p:spPr>
          <a:xfrm>
            <a:off x="400050" y="7547818"/>
            <a:ext cx="2790349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2. 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ผลิต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ตาม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คำสั่งซื้อ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แก้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300" b="1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W2 W3</a:t>
            </a:r>
          </a:p>
        </p:txBody>
      </p:sp>
      <p:sp>
        <p:nvSpPr>
          <p:cNvPr id="353" name="text351"/>
          <p:cNvSpPr txBox="1"/>
          <p:nvPr/>
        </p:nvSpPr>
        <p:spPr>
          <a:xfrm>
            <a:off x="400050" y="7831634"/>
            <a:ext cx="2430304" cy="2095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85"/>
              </a:lnSpc>
            </a:pP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3. 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รับ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300" b="1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O1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ต่อยอด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“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ผ้าม่าน</a:t>
            </a:r>
            <a:r>
              <a:rPr sz="130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”</a:t>
            </a:r>
          </a:p>
        </p:txBody>
      </p:sp>
      <p:sp>
        <p:nvSpPr>
          <p:cNvPr id="354" name="text352"/>
          <p:cNvSpPr txBox="1"/>
          <p:nvPr/>
        </p:nvSpPr>
        <p:spPr>
          <a:xfrm>
            <a:off x="295275" y="10235952"/>
            <a:ext cx="1234440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O1 สิ่งทอรักษ์โลก</a:t>
            </a:r>
          </a:p>
        </p:txBody>
      </p:sp>
      <p:sp>
        <p:nvSpPr>
          <p:cNvPr id="355" name="text353"/>
          <p:cNvSpPr txBox="1"/>
          <p:nvPr/>
        </p:nvSpPr>
        <p:spPr>
          <a:xfrm>
            <a:off x="1733550" y="10235952"/>
            <a:ext cx="1183005" cy="1905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77"/>
              </a:lnSpc>
            </a:pPr>
            <a:r>
              <a:rPr sz="10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O2 ชุดเฉพาะทาง</a:t>
            </a:r>
          </a:p>
        </p:txBody>
      </p:sp>
      <p:sp>
        <p:nvSpPr>
          <p:cNvPr id="356" name="text354"/>
          <p:cNvSpPr txBox="1"/>
          <p:nvPr/>
        </p:nvSpPr>
        <p:spPr>
          <a:xfrm>
            <a:off x="3705225" y="1209675"/>
            <a:ext cx="800100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42"/>
              </a:lnSpc>
            </a:pPr>
            <a:r>
              <a:rPr sz="16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องค์กร</a:t>
            </a:r>
          </a:p>
        </p:txBody>
      </p:sp>
      <p:sp>
        <p:nvSpPr>
          <p:cNvPr id="357" name="text355"/>
          <p:cNvSpPr txBox="1"/>
          <p:nvPr/>
        </p:nvSpPr>
        <p:spPr>
          <a:xfrm>
            <a:off x="4676775" y="1209675"/>
            <a:ext cx="676275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42"/>
              </a:lnSpc>
            </a:pPr>
            <a:r>
              <a:rPr sz="16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ธุรกิจ</a:t>
            </a:r>
          </a:p>
        </p:txBody>
      </p:sp>
      <p:sp>
        <p:nvSpPr>
          <p:cNvPr id="358" name="text356"/>
          <p:cNvSpPr txBox="1"/>
          <p:nvPr/>
        </p:nvSpPr>
        <p:spPr>
          <a:xfrm>
            <a:off x="5524500" y="1209675"/>
            <a:ext cx="3844766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42"/>
              </a:lnSpc>
            </a:pPr>
            <a:r>
              <a:rPr sz="16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หน้าที่ — กลยุทธ์และการนำไปปฏิบัติ</a:t>
            </a:r>
          </a:p>
        </p:txBody>
      </p:sp>
      <p:sp>
        <p:nvSpPr>
          <p:cNvPr id="359" name="text357"/>
          <p:cNvSpPr txBox="1"/>
          <p:nvPr/>
        </p:nvSpPr>
        <p:spPr>
          <a:xfrm>
            <a:off x="3352800" y="1656755"/>
            <a:ext cx="742950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กลยุทธ์</a:t>
            </a:r>
          </a:p>
        </p:txBody>
      </p:sp>
      <p:sp>
        <p:nvSpPr>
          <p:cNvPr id="360" name="text358"/>
          <p:cNvSpPr txBox="1"/>
          <p:nvPr/>
        </p:nvSpPr>
        <p:spPr>
          <a:xfrm>
            <a:off x="4953000" y="1576834"/>
            <a:ext cx="1118711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2569–2570</a:t>
            </a:r>
          </a:p>
        </p:txBody>
      </p:sp>
      <p:sp>
        <p:nvSpPr>
          <p:cNvPr id="361" name="text359"/>
          <p:cNvSpPr txBox="1"/>
          <p:nvPr/>
        </p:nvSpPr>
        <p:spPr>
          <a:xfrm>
            <a:off x="4953000" y="1801564"/>
            <a:ext cx="900112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ฟื้น</a:t>
            </a:r>
            <a:r>
              <a:rPr sz="105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ธุรกิจ</a:t>
            </a:r>
            <a:r>
              <a:rPr sz="105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เดิม</a:t>
            </a:r>
          </a:p>
        </p:txBody>
      </p:sp>
      <p:sp>
        <p:nvSpPr>
          <p:cNvPr id="362" name="text360"/>
          <p:cNvSpPr txBox="1"/>
          <p:nvPr/>
        </p:nvSpPr>
        <p:spPr>
          <a:xfrm>
            <a:off x="6605588" y="1576834"/>
            <a:ext cx="542925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2571</a:t>
            </a:r>
          </a:p>
        </p:txBody>
      </p:sp>
      <p:sp>
        <p:nvSpPr>
          <p:cNvPr id="363" name="text361"/>
          <p:cNvSpPr txBox="1"/>
          <p:nvPr/>
        </p:nvSpPr>
        <p:spPr>
          <a:xfrm>
            <a:off x="6605588" y="1801564"/>
            <a:ext cx="1002982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นำร่อง</a:t>
            </a:r>
            <a:r>
              <a:rPr sz="105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ผ้าม่าน</a:t>
            </a:r>
          </a:p>
        </p:txBody>
      </p:sp>
      <p:sp>
        <p:nvSpPr>
          <p:cNvPr id="364" name="text362"/>
          <p:cNvSpPr txBox="1"/>
          <p:nvPr/>
        </p:nvSpPr>
        <p:spPr>
          <a:xfrm>
            <a:off x="8205788" y="1576834"/>
            <a:ext cx="1054418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2572–2573</a:t>
            </a:r>
          </a:p>
        </p:txBody>
      </p:sp>
      <p:sp>
        <p:nvSpPr>
          <p:cNvPr id="365" name="text363"/>
          <p:cNvSpPr txBox="1"/>
          <p:nvPr/>
        </p:nvSpPr>
        <p:spPr>
          <a:xfrm>
            <a:off x="8205788" y="1801564"/>
            <a:ext cx="1890236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ขยาย</a:t>
            </a:r>
            <a:r>
              <a:rPr sz="105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ธุรกิจ</a:t>
            </a:r>
            <a:r>
              <a:rPr sz="105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ใหม่</a:t>
            </a:r>
            <a:r>
              <a:rPr sz="105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05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(</a:t>
            </a:r>
            <a:r>
              <a:rPr sz="105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มี</a:t>
            </a:r>
            <a:r>
              <a:rPr sz="105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เงื่อนไข</a:t>
            </a:r>
            <a:r>
              <a:rPr sz="1050" b="0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)</a:t>
            </a:r>
          </a:p>
        </p:txBody>
      </p:sp>
      <p:sp>
        <p:nvSpPr>
          <p:cNvPr id="366" name="text364"/>
          <p:cNvSpPr txBox="1"/>
          <p:nvPr/>
        </p:nvSpPr>
        <p:spPr>
          <a:xfrm>
            <a:off x="9858375" y="1656755"/>
            <a:ext cx="733425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ตัว</a:t>
            </a:r>
            <a:r>
              <a:rPr sz="13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ชี้</a:t>
            </a:r>
            <a:r>
              <a:rPr sz="135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วัด</a:t>
            </a:r>
          </a:p>
        </p:txBody>
      </p:sp>
      <p:sp>
        <p:nvSpPr>
          <p:cNvPr id="367" name="text365"/>
          <p:cNvSpPr txBox="1"/>
          <p:nvPr/>
        </p:nvSpPr>
        <p:spPr>
          <a:xfrm>
            <a:off x="3352800" y="2475905"/>
            <a:ext cx="1118711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②</a:t>
            </a:r>
            <a:r>
              <a:rPr sz="105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 </a:t>
            </a:r>
            <a:r>
              <a:rPr sz="105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ระดับ</a:t>
            </a:r>
            <a:r>
              <a:rPr sz="105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องค์กร</a:t>
            </a:r>
          </a:p>
        </p:txBody>
      </p:sp>
      <p:sp>
        <p:nvSpPr>
          <p:cNvPr id="368" name="text366"/>
          <p:cNvSpPr txBox="1"/>
          <p:nvPr/>
        </p:nvSpPr>
        <p:spPr>
          <a:xfrm>
            <a:off x="3352800" y="2638127"/>
            <a:ext cx="1735931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Growth Strategy</a:t>
            </a:r>
          </a:p>
        </p:txBody>
      </p:sp>
      <p:sp>
        <p:nvSpPr>
          <p:cNvPr id="369" name="text367"/>
          <p:cNvSpPr txBox="1"/>
          <p:nvPr/>
        </p:nvSpPr>
        <p:spPr>
          <a:xfrm>
            <a:off x="4953000" y="2479179"/>
            <a:ext cx="1576388" cy="8118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E2B5E"/>
                </a:solidFill>
                <a:latin typeface="Kanit"/>
                <a:ea typeface="Kanit"/>
                <a:cs typeface="Kanit"/>
              </a:rPr>
              <a:t>Horizontal Growth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ขยาย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OEM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/ODM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และ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ต่างประเทศ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ลด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สต็อก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เพิ่ม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กำไร</a:t>
            </a:r>
          </a:p>
        </p:txBody>
      </p:sp>
      <p:sp>
        <p:nvSpPr>
          <p:cNvPr id="370" name="text368"/>
          <p:cNvSpPr txBox="1"/>
          <p:nvPr/>
        </p:nvSpPr>
        <p:spPr>
          <a:xfrm>
            <a:off x="6605588" y="2474416"/>
            <a:ext cx="1524000" cy="8213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เริ่ม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E2B5E"/>
                </a:solidFill>
                <a:latin typeface="Kanit"/>
                <a:ea typeface="Kanit"/>
                <a:cs typeface="Kanit"/>
              </a:rPr>
              <a:t>Concentric</a:t>
            </a:r>
            <a:br/>
            <a:r>
              <a:rPr sz="1150" b="0">
                <a:solidFill>
                  <a:srgbClr val="1E2B5E"/>
                </a:solidFill>
                <a:latin typeface="Kanit"/>
                <a:ea typeface="Kanit"/>
                <a:cs typeface="Kanit"/>
              </a:rPr>
              <a:t>Diversification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นำร่อง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ผ้าม่าน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กับ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พันธมิตร</a:t>
            </a:r>
          </a:p>
        </p:txBody>
      </p:sp>
      <p:sp>
        <p:nvSpPr>
          <p:cNvPr id="371" name="text369"/>
          <p:cNvSpPr txBox="1"/>
          <p:nvPr/>
        </p:nvSpPr>
        <p:spPr>
          <a:xfrm>
            <a:off x="8205788" y="2314575"/>
            <a:ext cx="1576388" cy="601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ขยาย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สิ่งทอ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ตกแต่ง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อาคาร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(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ปลอกหมอน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ผ้าคลุมเตียง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)</a:t>
            </a:r>
          </a:p>
        </p:txBody>
      </p:sp>
      <p:sp>
        <p:nvSpPr>
          <p:cNvPr id="372" name="text370"/>
          <p:cNvSpPr txBox="1"/>
          <p:nvPr/>
        </p:nvSpPr>
        <p:spPr>
          <a:xfrm>
            <a:off x="8291512" y="2954982"/>
            <a:ext cx="1490662" cy="4961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6"/>
              </a:lnSpc>
            </a:pPr>
            <a:r>
              <a:rPr sz="100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ขยาย</a:t>
            </a:r>
            <a:r>
              <a:rPr sz="100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เมื่อ</a:t>
            </a:r>
            <a:r>
              <a:rPr sz="100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ผล</a:t>
            </a:r>
            <a:r>
              <a:rPr sz="100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ทดลอง</a:t>
            </a:r>
            <a:r>
              <a:rPr sz="100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ผ่าน</a:t>
            </a:r>
            <a:br/>
            <a:r>
              <a:rPr sz="100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เกณฑ์</a:t>
            </a:r>
            <a:r>
              <a:rPr sz="100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กำไร</a:t>
            </a:r>
            <a:r>
              <a:rPr sz="100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00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เงินสด</a:t>
            </a:r>
            <a:r>
              <a:rPr sz="100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00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และ</a:t>
            </a:r>
            <a:r>
              <a:rPr sz="100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มี</a:t>
            </a:r>
            <a:br/>
            <a:r>
              <a:rPr sz="100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คำสั่งซื้อ</a:t>
            </a:r>
            <a:r>
              <a:rPr sz="100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รองรับ</a:t>
            </a:r>
          </a:p>
        </p:txBody>
      </p:sp>
      <p:sp>
        <p:nvSpPr>
          <p:cNvPr id="373" name="text371"/>
          <p:cNvSpPr txBox="1"/>
          <p:nvPr/>
        </p:nvSpPr>
        <p:spPr>
          <a:xfrm>
            <a:off x="9858375" y="2374106"/>
            <a:ext cx="2288858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รายได้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กำไร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เงินสด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เพิ่มขึ้น</a:t>
            </a:r>
          </a:p>
        </p:txBody>
      </p:sp>
      <p:sp>
        <p:nvSpPr>
          <p:cNvPr id="374" name="text372"/>
          <p:cNvSpPr txBox="1"/>
          <p:nvPr/>
        </p:nvSpPr>
        <p:spPr>
          <a:xfrm>
            <a:off x="9858375" y="2584400"/>
            <a:ext cx="185166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พึ่งพา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หลัก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ลดลง</a:t>
            </a:r>
          </a:p>
        </p:txBody>
      </p:sp>
      <p:sp>
        <p:nvSpPr>
          <p:cNvPr id="375" name="text373"/>
          <p:cNvSpPr txBox="1"/>
          <p:nvPr/>
        </p:nvSpPr>
        <p:spPr>
          <a:xfrm>
            <a:off x="9858375" y="2794695"/>
            <a:ext cx="1797177" cy="601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ผ่าน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เกณฑ์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ความคุ้มค่า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และ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ความพร้อม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ก่อน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ขยาย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ลงทุน</a:t>
            </a:r>
          </a:p>
        </p:txBody>
      </p:sp>
      <p:sp>
        <p:nvSpPr>
          <p:cNvPr id="376" name="text374"/>
          <p:cNvSpPr txBox="1"/>
          <p:nvPr/>
        </p:nvSpPr>
        <p:spPr>
          <a:xfrm>
            <a:off x="3352800" y="3983831"/>
            <a:ext cx="99012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③</a:t>
            </a:r>
            <a:r>
              <a:rPr sz="105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 </a:t>
            </a:r>
            <a:r>
              <a:rPr sz="105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ระดับ</a:t>
            </a:r>
            <a:r>
              <a:rPr sz="1050" b="0">
                <a:solidFill>
                  <a:srgbClr val="56607A"/>
                </a:solidFill>
                <a:latin typeface="Kanit"/>
                <a:ea typeface="Kanit"/>
                <a:cs typeface="Kanit"/>
              </a:rPr>
              <a:t>ธุรกิจ</a:t>
            </a:r>
          </a:p>
        </p:txBody>
      </p:sp>
      <p:sp>
        <p:nvSpPr>
          <p:cNvPr id="377" name="text375"/>
          <p:cNvSpPr txBox="1"/>
          <p:nvPr/>
        </p:nvSpPr>
        <p:spPr>
          <a:xfrm>
            <a:off x="3352800" y="4146054"/>
            <a:ext cx="1620202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Differentiation</a:t>
            </a:r>
          </a:p>
        </p:txBody>
      </p:sp>
      <p:sp>
        <p:nvSpPr>
          <p:cNvPr id="378" name="text376"/>
          <p:cNvSpPr txBox="1"/>
          <p:nvPr/>
        </p:nvSpPr>
        <p:spPr>
          <a:xfrm>
            <a:off x="4953000" y="4092327"/>
            <a:ext cx="1576388" cy="601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ข้อเสนอ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เฉพาะ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กลุ่ม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: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คุณภาพ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ดีไซน์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วัสดุ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มี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ใบรับรอง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ODM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ครบวงจร</a:t>
            </a:r>
          </a:p>
        </p:txBody>
      </p:sp>
      <p:sp>
        <p:nvSpPr>
          <p:cNvPr id="379" name="text377"/>
          <p:cNvSpPr txBox="1"/>
          <p:nvPr/>
        </p:nvSpPr>
        <p:spPr>
          <a:xfrm>
            <a:off x="6605588" y="4192786"/>
            <a:ext cx="1524000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ปรับ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ข้อเสนอ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สำหรับ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โครงการ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ผ้าม่าน</a:t>
            </a:r>
          </a:p>
        </p:txBody>
      </p:sp>
      <p:sp>
        <p:nvSpPr>
          <p:cNvPr id="380" name="text378"/>
          <p:cNvSpPr txBox="1"/>
          <p:nvPr/>
        </p:nvSpPr>
        <p:spPr>
          <a:xfrm>
            <a:off x="8205788" y="4092327"/>
            <a:ext cx="1576388" cy="601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ขายตรง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องค์กร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+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ผู้จัดจำหน่าย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ตั้งราคา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ตาม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คุณค่า</a:t>
            </a:r>
          </a:p>
        </p:txBody>
      </p:sp>
      <p:sp>
        <p:nvSpPr>
          <p:cNvPr id="381" name="text379"/>
          <p:cNvSpPr txBox="1"/>
          <p:nvPr/>
        </p:nvSpPr>
        <p:spPr>
          <a:xfrm>
            <a:off x="9858375" y="4188023"/>
            <a:ext cx="2192417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ใบเสนอราคา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→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คำสั่งซื้อ</a:t>
            </a:r>
          </a:p>
        </p:txBody>
      </p:sp>
      <p:sp>
        <p:nvSpPr>
          <p:cNvPr id="382" name="text380"/>
          <p:cNvSpPr txBox="1"/>
          <p:nvPr/>
        </p:nvSpPr>
        <p:spPr>
          <a:xfrm>
            <a:off x="9858375" y="4398318"/>
            <a:ext cx="1825942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ความพึงพอใจ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ซื้อ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ซ้ำ</a:t>
            </a:r>
          </a:p>
        </p:txBody>
      </p:sp>
      <p:sp>
        <p:nvSpPr>
          <p:cNvPr id="383" name="text381"/>
          <p:cNvSpPr txBox="1"/>
          <p:nvPr/>
        </p:nvSpPr>
        <p:spPr>
          <a:xfrm>
            <a:off x="3352800" y="5126980"/>
            <a:ext cx="4256246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36"/>
              </a:lnSpc>
            </a:pPr>
            <a:r>
              <a:rPr sz="1350" b="0">
                <a:solidFill>
                  <a:srgbClr val="7D5D0F"/>
                </a:solidFill>
                <a:latin typeface="Kanit"/>
                <a:ea typeface="Kanit"/>
                <a:cs typeface="Kanit"/>
              </a:rPr>
              <a:t>④</a:t>
            </a:r>
            <a:r>
              <a:rPr sz="1350" b="0">
                <a:solidFill>
                  <a:srgbClr val="7D5D0F"/>
                </a:solidFill>
                <a:latin typeface="Kanit"/>
                <a:ea typeface="Kanit"/>
                <a:cs typeface="Kanit"/>
              </a:rPr>
              <a:t> </a:t>
            </a:r>
            <a:r>
              <a:rPr sz="1350" b="0">
                <a:solidFill>
                  <a:srgbClr val="7D5D0F"/>
                </a:solidFill>
                <a:latin typeface="Kanit"/>
                <a:ea typeface="Kanit"/>
                <a:cs typeface="Kanit"/>
              </a:rPr>
              <a:t>กลยุทธ์</a:t>
            </a:r>
            <a:r>
              <a:rPr sz="1350" b="0">
                <a:solidFill>
                  <a:srgbClr val="7D5D0F"/>
                </a:solidFill>
                <a:latin typeface="Kanit"/>
                <a:ea typeface="Kanit"/>
                <a:cs typeface="Kanit"/>
              </a:rPr>
              <a:t>ระดับ</a:t>
            </a:r>
            <a:r>
              <a:rPr sz="1350" b="0">
                <a:solidFill>
                  <a:srgbClr val="7D5D0F"/>
                </a:solidFill>
                <a:latin typeface="Kanit"/>
                <a:ea typeface="Kanit"/>
                <a:cs typeface="Kanit"/>
              </a:rPr>
              <a:t>หน้าที่</a:t>
            </a:r>
            <a:r>
              <a:rPr sz="1350" b="0">
                <a:solidFill>
                  <a:srgbClr val="7D5D0F"/>
                </a:solidFill>
                <a:latin typeface="Kanit"/>
                <a:ea typeface="Kanit"/>
                <a:cs typeface="Kanit"/>
              </a:rPr>
              <a:t> </a:t>
            </a:r>
            <a:r>
              <a:rPr sz="1350" b="0">
                <a:solidFill>
                  <a:srgbClr val="7D5D0F"/>
                </a:solidFill>
                <a:latin typeface="Kanit"/>
                <a:ea typeface="Kanit"/>
                <a:cs typeface="Kanit"/>
              </a:rPr>
              <a:t>(Functional</a:t>
            </a:r>
            <a:r>
              <a:rPr sz="1350" b="0">
                <a:solidFill>
                  <a:srgbClr val="7D5D0F"/>
                </a:solidFill>
                <a:latin typeface="Kanit"/>
                <a:ea typeface="Kanit"/>
                <a:cs typeface="Kanit"/>
              </a:rPr>
              <a:t> </a:t>
            </a:r>
            <a:r>
              <a:rPr sz="1350" b="0">
                <a:solidFill>
                  <a:srgbClr val="7D5D0F"/>
                </a:solidFill>
                <a:latin typeface="Kanit"/>
                <a:ea typeface="Kanit"/>
                <a:cs typeface="Kanit"/>
              </a:rPr>
              <a:t>Strategy</a:t>
            </a:r>
            <a:r>
              <a:rPr sz="1350" b="0">
                <a:solidFill>
                  <a:srgbClr val="7D5D0F"/>
                </a:solidFill>
                <a:latin typeface="Kanit"/>
                <a:ea typeface="Kanit"/>
                <a:cs typeface="Kanit"/>
              </a:rPr>
              <a:t>)</a:t>
            </a:r>
          </a:p>
        </p:txBody>
      </p:sp>
      <p:sp>
        <p:nvSpPr>
          <p:cNvPr id="384" name="text382"/>
          <p:cNvSpPr txBox="1"/>
          <p:nvPr/>
        </p:nvSpPr>
        <p:spPr>
          <a:xfrm>
            <a:off x="7581900" y="5174605"/>
            <a:ext cx="5362099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28"/>
              </a:lnSpc>
            </a:pP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*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งบประมาณ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: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ล้าน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บาท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ต่อ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ปี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เฉพาะ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ปี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ที่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ดำเนิน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กิจกรรม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ตาม</a:t>
            </a:r>
            <a:r>
              <a:rPr sz="1050" b="0">
                <a:solidFill>
                  <a:srgbClr val="7D5D0F"/>
                </a:solidFill>
                <a:latin typeface="Sarabun"/>
                <a:ea typeface="Sarabun"/>
                <a:cs typeface="Sarabun"/>
              </a:rPr>
              <a:t>แผนปฏิบัติงาน</a:t>
            </a:r>
          </a:p>
        </p:txBody>
      </p:sp>
      <p:sp>
        <p:nvSpPr>
          <p:cNvPr id="385" name="text383"/>
          <p:cNvSpPr txBox="1"/>
          <p:nvPr/>
        </p:nvSpPr>
        <p:spPr>
          <a:xfrm>
            <a:off x="3352800" y="5668566"/>
            <a:ext cx="912971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การตลาด</a:t>
            </a:r>
          </a:p>
        </p:txBody>
      </p:sp>
      <p:sp>
        <p:nvSpPr>
          <p:cNvPr id="386" name="text384"/>
          <p:cNvSpPr txBox="1"/>
          <p:nvPr/>
        </p:nvSpPr>
        <p:spPr>
          <a:xfrm>
            <a:off x="4953000" y="5705475"/>
            <a:ext cx="1576388" cy="601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หา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OEM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/ODM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และ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เครื่องแบบ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องค์กร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ศึกษา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ตลาด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ผ้าม่าน</a:t>
            </a:r>
          </a:p>
        </p:txBody>
      </p:sp>
      <p:sp>
        <p:nvSpPr>
          <p:cNvPr id="387" name="text385"/>
          <p:cNvSpPr txBox="1"/>
          <p:nvPr/>
        </p:nvSpPr>
        <p:spPr>
          <a:xfrm>
            <a:off x="6605588" y="5805934"/>
            <a:ext cx="1524000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ทดลอง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ขาย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ผ้าม่าน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เก็บ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ความเห็น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</a:t>
            </a:r>
          </a:p>
        </p:txBody>
      </p:sp>
      <p:sp>
        <p:nvSpPr>
          <p:cNvPr id="388" name="text386"/>
          <p:cNvSpPr txBox="1"/>
          <p:nvPr/>
        </p:nvSpPr>
        <p:spPr>
          <a:xfrm>
            <a:off x="8205788" y="5805934"/>
            <a:ext cx="1576388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ขยาย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ตลาด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เพิ่ม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สินค้า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เคหะ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สิ่งทอ</a:t>
            </a:r>
          </a:p>
        </p:txBody>
      </p:sp>
      <p:sp>
        <p:nvSpPr>
          <p:cNvPr id="389" name="text387"/>
          <p:cNvSpPr txBox="1"/>
          <p:nvPr/>
        </p:nvSpPr>
        <p:spPr>
          <a:xfrm>
            <a:off x="9858375" y="5801171"/>
            <a:ext cx="160734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ใหม่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ที่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ซื้อ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จริง</a:t>
            </a:r>
          </a:p>
        </p:txBody>
      </p:sp>
      <p:sp>
        <p:nvSpPr>
          <p:cNvPr id="390" name="text388"/>
          <p:cNvSpPr txBox="1"/>
          <p:nvPr/>
        </p:nvSpPr>
        <p:spPr>
          <a:xfrm>
            <a:off x="9858375" y="6011466"/>
            <a:ext cx="1928812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ยอดขาย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จาก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ใหม่</a:t>
            </a:r>
          </a:p>
        </p:txBody>
      </p:sp>
      <p:sp>
        <p:nvSpPr>
          <p:cNvPr id="391" name="text389"/>
          <p:cNvSpPr txBox="1"/>
          <p:nvPr/>
        </p:nvSpPr>
        <p:spPr>
          <a:xfrm>
            <a:off x="3352800" y="6781949"/>
            <a:ext cx="752475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การเงิน</a:t>
            </a:r>
          </a:p>
        </p:txBody>
      </p:sp>
      <p:sp>
        <p:nvSpPr>
          <p:cNvPr id="392" name="text390"/>
          <p:cNvSpPr txBox="1"/>
          <p:nvPr/>
        </p:nvSpPr>
        <p:spPr>
          <a:xfrm>
            <a:off x="4953000" y="6717060"/>
            <a:ext cx="1576388" cy="601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รายงาน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ต้นทุน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–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เงินสด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ราย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กลุ่ม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สินค้า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เร่ง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เก็บ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หนี้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ลด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เงิน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จม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สต็อก</a:t>
            </a:r>
          </a:p>
        </p:txBody>
      </p:sp>
      <p:sp>
        <p:nvSpPr>
          <p:cNvPr id="393" name="text391"/>
          <p:cNvSpPr txBox="1"/>
          <p:nvPr/>
        </p:nvSpPr>
        <p:spPr>
          <a:xfrm>
            <a:off x="6605588" y="6817519"/>
            <a:ext cx="1524000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ตั้ง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งบ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นำร่อง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เงินมัดจำ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งวด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ชำระ</a:t>
            </a:r>
          </a:p>
        </p:txBody>
      </p:sp>
      <p:sp>
        <p:nvSpPr>
          <p:cNvPr id="394" name="text392"/>
          <p:cNvSpPr txBox="1"/>
          <p:nvPr/>
        </p:nvSpPr>
        <p:spPr>
          <a:xfrm>
            <a:off x="8205788" y="6817519"/>
            <a:ext cx="1576388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ลงทุน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เพิ่ม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ตาม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ผล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และ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เงินสด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จริง</a:t>
            </a:r>
          </a:p>
        </p:txBody>
      </p:sp>
      <p:sp>
        <p:nvSpPr>
          <p:cNvPr id="395" name="text393"/>
          <p:cNvSpPr txBox="1"/>
          <p:nvPr/>
        </p:nvSpPr>
        <p:spPr>
          <a:xfrm>
            <a:off x="9858375" y="6812756"/>
            <a:ext cx="1363028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เงินสด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เพียงพอ</a:t>
            </a:r>
          </a:p>
        </p:txBody>
      </p:sp>
      <p:sp>
        <p:nvSpPr>
          <p:cNvPr id="396" name="text394"/>
          <p:cNvSpPr txBox="1"/>
          <p:nvPr/>
        </p:nvSpPr>
        <p:spPr>
          <a:xfrm>
            <a:off x="9858375" y="7023050"/>
            <a:ext cx="212169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ผล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จริง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เทียบ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ประมาณการ</a:t>
            </a:r>
          </a:p>
        </p:txBody>
      </p:sp>
      <p:sp>
        <p:nvSpPr>
          <p:cNvPr id="397" name="text395"/>
          <p:cNvSpPr txBox="1"/>
          <p:nvPr/>
        </p:nvSpPr>
        <p:spPr>
          <a:xfrm>
            <a:off x="3352800" y="7663458"/>
            <a:ext cx="1375886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วิจัยและพัฒนา</a:t>
            </a:r>
          </a:p>
        </p:txBody>
      </p:sp>
      <p:sp>
        <p:nvSpPr>
          <p:cNvPr id="398" name="text396"/>
          <p:cNvSpPr txBox="1"/>
          <p:nvPr/>
        </p:nvSpPr>
        <p:spPr>
          <a:xfrm>
            <a:off x="4953000" y="7699028"/>
            <a:ext cx="1576388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พัฒนา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เครื่องนุ่งห่ม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กับ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ทำ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ต้นแบบ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ผ้าม่าน</a:t>
            </a:r>
          </a:p>
        </p:txBody>
      </p:sp>
      <p:sp>
        <p:nvSpPr>
          <p:cNvPr id="399" name="text397"/>
          <p:cNvSpPr txBox="1"/>
          <p:nvPr/>
        </p:nvSpPr>
        <p:spPr>
          <a:xfrm>
            <a:off x="6605588" y="7699028"/>
            <a:ext cx="1524000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ทดสอบ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ต้นแบบ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ให้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ผ่าน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ข้อกำหนด</a:t>
            </a:r>
          </a:p>
        </p:txBody>
      </p:sp>
      <p:sp>
        <p:nvSpPr>
          <p:cNvPr id="400" name="text398"/>
          <p:cNvSpPr txBox="1"/>
          <p:nvPr/>
        </p:nvSpPr>
        <p:spPr>
          <a:xfrm>
            <a:off x="8205788" y="7699028"/>
            <a:ext cx="1576388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ปรับ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จาก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การ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ใช้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จริง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ต่อยอด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สินค้า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ใหม่</a:t>
            </a:r>
          </a:p>
        </p:txBody>
      </p:sp>
      <p:sp>
        <p:nvSpPr>
          <p:cNvPr id="401" name="text399"/>
          <p:cNvSpPr txBox="1"/>
          <p:nvPr/>
        </p:nvSpPr>
        <p:spPr>
          <a:xfrm>
            <a:off x="9858375" y="7694265"/>
            <a:ext cx="2070259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ต้นแบบ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ผ่านการทดสอบ</a:t>
            </a:r>
          </a:p>
        </p:txBody>
      </p:sp>
      <p:sp>
        <p:nvSpPr>
          <p:cNvPr id="402" name="text400"/>
          <p:cNvSpPr txBox="1"/>
          <p:nvPr/>
        </p:nvSpPr>
        <p:spPr>
          <a:xfrm>
            <a:off x="9858375" y="7904559"/>
            <a:ext cx="181308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ต้นแบบ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ที่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ได้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คำสั่งซื้อ</a:t>
            </a:r>
          </a:p>
        </p:txBody>
      </p:sp>
      <p:sp>
        <p:nvSpPr>
          <p:cNvPr id="403" name="text401"/>
          <p:cNvSpPr txBox="1"/>
          <p:nvPr/>
        </p:nvSpPr>
        <p:spPr>
          <a:xfrm>
            <a:off x="3352800" y="8581430"/>
            <a:ext cx="1350169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การ</a:t>
            </a: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ดำเนินงาน</a:t>
            </a:r>
          </a:p>
        </p:txBody>
      </p:sp>
      <p:sp>
        <p:nvSpPr>
          <p:cNvPr id="404" name="text402"/>
          <p:cNvSpPr txBox="1"/>
          <p:nvPr/>
        </p:nvSpPr>
        <p:spPr>
          <a:xfrm>
            <a:off x="4953000" y="8518029"/>
            <a:ext cx="1576388" cy="8023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ผลิต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ตาม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คำสั่งซื้อ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ลด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สต็อก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เก่า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ใช้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Semi-Automation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จุด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ที่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คุ้มค่า</a:t>
            </a:r>
          </a:p>
        </p:txBody>
      </p:sp>
      <p:sp>
        <p:nvSpPr>
          <p:cNvPr id="405" name="text403"/>
          <p:cNvSpPr txBox="1"/>
          <p:nvPr/>
        </p:nvSpPr>
        <p:spPr>
          <a:xfrm>
            <a:off x="6605588" y="8718798"/>
            <a:ext cx="1524000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ทดลอง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ผลิต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–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ติดตั้ง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ผ้าม่าน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กับ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พันธมิตร</a:t>
            </a:r>
          </a:p>
        </p:txBody>
      </p:sp>
      <p:sp>
        <p:nvSpPr>
          <p:cNvPr id="406" name="text404"/>
          <p:cNvSpPr txBox="1"/>
          <p:nvPr/>
        </p:nvSpPr>
        <p:spPr>
          <a:xfrm>
            <a:off x="8205788" y="8718798"/>
            <a:ext cx="1576388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เพิ่ม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กำลังผลิต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ตาม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คำสั่งซื้อ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จริง</a:t>
            </a:r>
          </a:p>
        </p:txBody>
      </p:sp>
      <p:sp>
        <p:nvSpPr>
          <p:cNvPr id="407" name="text405"/>
          <p:cNvSpPr txBox="1"/>
          <p:nvPr/>
        </p:nvSpPr>
        <p:spPr>
          <a:xfrm>
            <a:off x="9858375" y="8613577"/>
            <a:ext cx="1797177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ต้นทุน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/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หน่วย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ของเสีย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ลดลง</a:t>
            </a:r>
          </a:p>
        </p:txBody>
      </p:sp>
      <p:sp>
        <p:nvSpPr>
          <p:cNvPr id="408" name="text406"/>
          <p:cNvSpPr txBox="1"/>
          <p:nvPr/>
        </p:nvSpPr>
        <p:spPr>
          <a:xfrm>
            <a:off x="9858375" y="9024640"/>
            <a:ext cx="1414462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ส่งมอบ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ตรงเวลา</a:t>
            </a:r>
          </a:p>
        </p:txBody>
      </p:sp>
      <p:sp>
        <p:nvSpPr>
          <p:cNvPr id="409" name="text407"/>
          <p:cNvSpPr txBox="1"/>
          <p:nvPr/>
        </p:nvSpPr>
        <p:spPr>
          <a:xfrm>
            <a:off x="3352800" y="9821763"/>
            <a:ext cx="1504474" cy="2571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ทรัพยากร</a:t>
            </a:r>
            <a:r>
              <a:rPr sz="1350" b="1">
                <a:solidFill>
                  <a:srgbClr val="1E2B5E"/>
                </a:solidFill>
                <a:latin typeface="Kanit"/>
                <a:ea typeface="Kanit"/>
                <a:cs typeface="Kanit"/>
              </a:rPr>
              <a:t>มนุษย์</a:t>
            </a:r>
          </a:p>
        </p:txBody>
      </p:sp>
      <p:sp>
        <p:nvSpPr>
          <p:cNvPr id="410" name="text408"/>
          <p:cNvSpPr txBox="1"/>
          <p:nvPr/>
        </p:nvSpPr>
        <p:spPr>
          <a:xfrm>
            <a:off x="4953000" y="9757023"/>
            <a:ext cx="1576388" cy="60156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อบรม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ขาย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B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B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ข้อมูล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การผลิต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ตั้ง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ทีม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ข้ามสายงาน</a:t>
            </a:r>
          </a:p>
        </p:txBody>
      </p:sp>
      <p:sp>
        <p:nvSpPr>
          <p:cNvPr id="411" name="text409"/>
          <p:cNvSpPr txBox="1"/>
          <p:nvPr/>
        </p:nvSpPr>
        <p:spPr>
          <a:xfrm>
            <a:off x="6605588" y="9857333"/>
            <a:ext cx="1524000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ทีม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เรียน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รู้งาน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ร่วมกับ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พันธมิตร</a:t>
            </a:r>
          </a:p>
        </p:txBody>
      </p:sp>
      <p:sp>
        <p:nvSpPr>
          <p:cNvPr id="412" name="text410"/>
          <p:cNvSpPr txBox="1"/>
          <p:nvPr/>
        </p:nvSpPr>
        <p:spPr>
          <a:xfrm>
            <a:off x="8205788" y="9857333"/>
            <a:ext cx="1576388" cy="400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ทำ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คู่มือ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รับ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บุคลากร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เฉพาะทาง</a:t>
            </a:r>
          </a:p>
        </p:txBody>
      </p:sp>
      <p:sp>
        <p:nvSpPr>
          <p:cNvPr id="413" name="text411"/>
          <p:cNvSpPr txBox="1"/>
          <p:nvPr/>
        </p:nvSpPr>
        <p:spPr>
          <a:xfrm>
            <a:off x="9858375" y="9852571"/>
            <a:ext cx="1928812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ผ่าน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ทดสอบ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หลัง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อบรม</a:t>
            </a:r>
          </a:p>
        </p:txBody>
      </p:sp>
      <p:sp>
        <p:nvSpPr>
          <p:cNvPr id="414" name="text412"/>
          <p:cNvSpPr txBox="1"/>
          <p:nvPr/>
        </p:nvSpPr>
        <p:spPr>
          <a:xfrm>
            <a:off x="9858375" y="10062865"/>
            <a:ext cx="154305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0"/>
              </a:lnSpc>
            </a:pPr>
            <a:r>
              <a:rPr sz="1150" b="1">
                <a:solidFill>
                  <a:srgbClr val="1F7A6B"/>
                </a:solidFill>
                <a:latin typeface="Sarabun"/>
                <a:ea typeface="Sarabun"/>
                <a:cs typeface="Sarabun"/>
              </a:rPr>
              <a:t>✓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ข้อผิดพลาด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ลดลง</a:t>
            </a:r>
          </a:p>
        </p:txBody>
      </p:sp>
      <p:sp>
        <p:nvSpPr>
          <p:cNvPr id="415" name="text413"/>
          <p:cNvSpPr txBox="1"/>
          <p:nvPr/>
        </p:nvSpPr>
        <p:spPr>
          <a:xfrm>
            <a:off x="12192000" y="1209675"/>
            <a:ext cx="2314575" cy="295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42"/>
              </a:lnSpc>
            </a:pPr>
            <a:r>
              <a:rPr sz="16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การประเมินผล (BSC)</a:t>
            </a:r>
          </a:p>
        </p:txBody>
      </p:sp>
      <p:sp>
        <p:nvSpPr>
          <p:cNvPr id="416" name="text414"/>
          <p:cNvSpPr txBox="1"/>
          <p:nvPr/>
        </p:nvSpPr>
        <p:spPr>
          <a:xfrm>
            <a:off x="11963400" y="1662559"/>
            <a:ext cx="1157288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ด้าน</a:t>
            </a: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การเงิน</a:t>
            </a:r>
          </a:p>
        </p:txBody>
      </p:sp>
      <p:sp>
        <p:nvSpPr>
          <p:cNvPr id="417" name="text415"/>
          <p:cNvSpPr txBox="1"/>
          <p:nvPr/>
        </p:nvSpPr>
        <p:spPr>
          <a:xfrm>
            <a:off x="12064157" y="2193727"/>
            <a:ext cx="693688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2C3D7A"/>
                </a:solidFill>
                <a:latin typeface="Kanit"/>
                <a:ea typeface="Kanit"/>
                <a:cs typeface="Kanit"/>
              </a:rPr>
              <a:t>≥5%</a:t>
            </a:r>
          </a:p>
        </p:txBody>
      </p:sp>
      <p:sp>
        <p:nvSpPr>
          <p:cNvPr id="418" name="text416"/>
          <p:cNvSpPr txBox="1"/>
          <p:nvPr/>
        </p:nvSpPr>
        <p:spPr>
          <a:xfrm>
            <a:off x="12096750" y="2520851"/>
            <a:ext cx="62865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23"/>
              </a:lnSpc>
            </a:pPr>
            <a:r>
              <a:rPr sz="1000" b="0">
                <a:solidFill>
                  <a:srgbClr val="2C3D7A"/>
                </a:solidFill>
                <a:latin typeface="Kanit"/>
                <a:ea typeface="Kanit"/>
                <a:cs typeface="Kanit"/>
              </a:rPr>
              <a:t>เฉลี่ย</a:t>
            </a:r>
            <a:r>
              <a:rPr sz="1000" b="0">
                <a:solidFill>
                  <a:srgbClr val="2C3D7A"/>
                </a:solidFill>
                <a:latin typeface="Kanit"/>
                <a:ea typeface="Kanit"/>
                <a:cs typeface="Kanit"/>
              </a:rPr>
              <a:t>/</a:t>
            </a:r>
            <a:r>
              <a:rPr sz="1000" b="0">
                <a:solidFill>
                  <a:srgbClr val="2C3D7A"/>
                </a:solidFill>
                <a:latin typeface="Kanit"/>
                <a:ea typeface="Kanit"/>
                <a:cs typeface="Kanit"/>
              </a:rPr>
              <a:t>ปี</a:t>
            </a:r>
          </a:p>
        </p:txBody>
      </p:sp>
      <p:sp>
        <p:nvSpPr>
          <p:cNvPr id="419" name="text417"/>
          <p:cNvSpPr txBox="1"/>
          <p:nvPr/>
        </p:nvSpPr>
        <p:spPr>
          <a:xfrm>
            <a:off x="12954000" y="2153692"/>
            <a:ext cx="1247299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รายได้</a:t>
            </a: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เติบโต</a:t>
            </a:r>
          </a:p>
        </p:txBody>
      </p:sp>
      <p:sp>
        <p:nvSpPr>
          <p:cNvPr id="420" name="text418"/>
          <p:cNvSpPr txBox="1"/>
          <p:nvPr/>
        </p:nvSpPr>
        <p:spPr>
          <a:xfrm>
            <a:off x="12954000" y="2368004"/>
            <a:ext cx="1928432" cy="3948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รายได้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จาก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การ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ขาย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เติบโต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เฉลี่ย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≥5%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ต่อ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ปี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ตลอด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แผน</a:t>
            </a:r>
          </a:p>
        </p:txBody>
      </p:sp>
      <p:sp>
        <p:nvSpPr>
          <p:cNvPr id="421" name="text419"/>
          <p:cNvSpPr txBox="1"/>
          <p:nvPr/>
        </p:nvSpPr>
        <p:spPr>
          <a:xfrm>
            <a:off x="12172950" y="3004691"/>
            <a:ext cx="476250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2C3D7A"/>
                </a:solidFill>
                <a:latin typeface="Kanit"/>
                <a:ea typeface="Kanit"/>
                <a:cs typeface="Kanit"/>
              </a:rPr>
              <a:t>+2</a:t>
            </a:r>
          </a:p>
        </p:txBody>
      </p:sp>
      <p:sp>
        <p:nvSpPr>
          <p:cNvPr id="422" name="text420"/>
          <p:cNvSpPr txBox="1"/>
          <p:nvPr/>
        </p:nvSpPr>
        <p:spPr>
          <a:xfrm>
            <a:off x="12053888" y="3331815"/>
            <a:ext cx="7143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23"/>
              </a:lnSpc>
            </a:pPr>
            <a:r>
              <a:rPr sz="1000" b="0">
                <a:solidFill>
                  <a:srgbClr val="2C3D7A"/>
                </a:solidFill>
                <a:latin typeface="Kanit"/>
                <a:ea typeface="Kanit"/>
                <a:cs typeface="Kanit"/>
              </a:rPr>
              <a:t>จุด</a:t>
            </a:r>
            <a:r>
              <a:rPr sz="1000" b="0">
                <a:solidFill>
                  <a:srgbClr val="2C3D7A"/>
                </a:solidFill>
                <a:latin typeface="Kanit"/>
                <a:ea typeface="Kanit"/>
                <a:cs typeface="Kanit"/>
              </a:rPr>
              <a:t>%</a:t>
            </a:r>
            <a:r>
              <a:rPr sz="1000" b="0">
                <a:solidFill>
                  <a:srgbClr val="2C3D7A"/>
                </a:solidFill>
                <a:latin typeface="Kanit"/>
                <a:ea typeface="Kanit"/>
                <a:cs typeface="Kanit"/>
              </a:rPr>
              <a:t> </a:t>
            </a:r>
            <a:r>
              <a:rPr sz="1000" b="0">
                <a:solidFill>
                  <a:srgbClr val="2C3D7A"/>
                </a:solidFill>
                <a:latin typeface="Kanit"/>
                <a:ea typeface="Kanit"/>
                <a:cs typeface="Kanit"/>
              </a:rPr>
              <a:t>ปี</a:t>
            </a:r>
            <a:r>
              <a:rPr sz="1000" b="0">
                <a:solidFill>
                  <a:srgbClr val="2C3D7A"/>
                </a:solidFill>
                <a:latin typeface="Kanit"/>
                <a:ea typeface="Kanit"/>
                <a:cs typeface="Kanit"/>
              </a:rPr>
              <a:t> </a:t>
            </a:r>
            <a:r>
              <a:rPr sz="1000" b="0">
                <a:solidFill>
                  <a:srgbClr val="2C3D7A"/>
                </a:solidFill>
                <a:latin typeface="Kanit"/>
                <a:ea typeface="Kanit"/>
                <a:cs typeface="Kanit"/>
              </a:rPr>
              <a:t>73</a:t>
            </a:r>
          </a:p>
        </p:txBody>
      </p:sp>
      <p:sp>
        <p:nvSpPr>
          <p:cNvPr id="423" name="text421"/>
          <p:cNvSpPr txBox="1"/>
          <p:nvPr/>
        </p:nvSpPr>
        <p:spPr>
          <a:xfrm>
            <a:off x="12954000" y="2964656"/>
            <a:ext cx="951548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กำไร</a:t>
            </a: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ดีขึ้น</a:t>
            </a:r>
          </a:p>
        </p:txBody>
      </p:sp>
      <p:sp>
        <p:nvSpPr>
          <p:cNvPr id="424" name="text422"/>
          <p:cNvSpPr txBox="1"/>
          <p:nvPr/>
        </p:nvSpPr>
        <p:spPr>
          <a:xfrm>
            <a:off x="12954000" y="3178969"/>
            <a:ext cx="1928432" cy="3948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อัตรา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กำไร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ขั้นต้น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สูง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กว่า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ปี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2568</a:t>
            </a:r>
          </a:p>
        </p:txBody>
      </p:sp>
      <p:sp>
        <p:nvSpPr>
          <p:cNvPr id="425" name="text423"/>
          <p:cNvSpPr txBox="1"/>
          <p:nvPr/>
        </p:nvSpPr>
        <p:spPr>
          <a:xfrm>
            <a:off x="11963400" y="3890070"/>
            <a:ext cx="964406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ด้าน</a:t>
            </a: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ลูกค้า</a:t>
            </a:r>
          </a:p>
        </p:txBody>
      </p:sp>
      <p:sp>
        <p:nvSpPr>
          <p:cNvPr id="426" name="text424"/>
          <p:cNvSpPr txBox="1"/>
          <p:nvPr/>
        </p:nvSpPr>
        <p:spPr>
          <a:xfrm>
            <a:off x="11968479" y="4407991"/>
            <a:ext cx="885044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1F7A6B"/>
                </a:solidFill>
                <a:latin typeface="Kanit"/>
                <a:ea typeface="Kanit"/>
                <a:cs typeface="Kanit"/>
              </a:rPr>
              <a:t>≥80%</a:t>
            </a:r>
          </a:p>
        </p:txBody>
      </p:sp>
      <p:sp>
        <p:nvSpPr>
          <p:cNvPr id="427" name="text425"/>
          <p:cNvSpPr txBox="1"/>
          <p:nvPr/>
        </p:nvSpPr>
        <p:spPr>
          <a:xfrm>
            <a:off x="12187238" y="4735116"/>
            <a:ext cx="4476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23"/>
              </a:lnSpc>
            </a:pPr>
            <a:r>
              <a:rPr sz="1000" b="0">
                <a:solidFill>
                  <a:srgbClr val="1F7A6B"/>
                </a:solidFill>
                <a:latin typeface="Kanit"/>
                <a:ea typeface="Kanit"/>
                <a:cs typeface="Kanit"/>
              </a:rPr>
              <a:t>ต่อ</a:t>
            </a:r>
            <a:r>
              <a:rPr sz="1000" b="0">
                <a:solidFill>
                  <a:srgbClr val="1F7A6B"/>
                </a:solidFill>
                <a:latin typeface="Kanit"/>
                <a:ea typeface="Kanit"/>
                <a:cs typeface="Kanit"/>
              </a:rPr>
              <a:t>ปี</a:t>
            </a:r>
          </a:p>
        </p:txBody>
      </p:sp>
      <p:sp>
        <p:nvSpPr>
          <p:cNvPr id="428" name="text426"/>
          <p:cNvSpPr txBox="1"/>
          <p:nvPr/>
        </p:nvSpPr>
        <p:spPr>
          <a:xfrm>
            <a:off x="12954000" y="4465290"/>
            <a:ext cx="1453039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รักษา</a:t>
            </a: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ลูกค้า</a:t>
            </a: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เดิม</a:t>
            </a:r>
          </a:p>
        </p:txBody>
      </p:sp>
      <p:sp>
        <p:nvSpPr>
          <p:cNvPr id="429" name="text427"/>
          <p:cNvSpPr txBox="1"/>
          <p:nvPr/>
        </p:nvSpPr>
        <p:spPr>
          <a:xfrm>
            <a:off x="12954000" y="4679603"/>
            <a:ext cx="1941671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เดิม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กลับมา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สั่งซื้อ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ซ้ำ</a:t>
            </a:r>
          </a:p>
        </p:txBody>
      </p:sp>
      <p:sp>
        <p:nvSpPr>
          <p:cNvPr id="430" name="text428"/>
          <p:cNvSpPr txBox="1"/>
          <p:nvPr/>
        </p:nvSpPr>
        <p:spPr>
          <a:xfrm>
            <a:off x="12159407" y="5205561"/>
            <a:ext cx="503188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1F7A6B"/>
                </a:solidFill>
                <a:latin typeface="Kanit"/>
                <a:ea typeface="Kanit"/>
                <a:cs typeface="Kanit"/>
              </a:rPr>
              <a:t>≥5</a:t>
            </a:r>
          </a:p>
        </p:txBody>
      </p:sp>
      <p:sp>
        <p:nvSpPr>
          <p:cNvPr id="431" name="text429"/>
          <p:cNvSpPr txBox="1"/>
          <p:nvPr/>
        </p:nvSpPr>
        <p:spPr>
          <a:xfrm>
            <a:off x="12130088" y="5532686"/>
            <a:ext cx="5619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23"/>
              </a:lnSpc>
            </a:pPr>
            <a:r>
              <a:rPr sz="1000" b="0">
                <a:solidFill>
                  <a:srgbClr val="1F7A6B"/>
                </a:solidFill>
                <a:latin typeface="Kanit"/>
                <a:ea typeface="Kanit"/>
                <a:cs typeface="Kanit"/>
              </a:rPr>
              <a:t>ราย</a:t>
            </a:r>
            <a:r>
              <a:rPr sz="1000" b="0">
                <a:solidFill>
                  <a:srgbClr val="1F7A6B"/>
                </a:solidFill>
                <a:latin typeface="Kanit"/>
                <a:ea typeface="Kanit"/>
                <a:cs typeface="Kanit"/>
              </a:rPr>
              <a:t>/</a:t>
            </a:r>
            <a:r>
              <a:rPr sz="1000" b="0">
                <a:solidFill>
                  <a:srgbClr val="1F7A6B"/>
                </a:solidFill>
                <a:latin typeface="Kanit"/>
                <a:ea typeface="Kanit"/>
                <a:cs typeface="Kanit"/>
              </a:rPr>
              <a:t>ปี</a:t>
            </a:r>
          </a:p>
        </p:txBody>
      </p:sp>
      <p:sp>
        <p:nvSpPr>
          <p:cNvPr id="432" name="text430"/>
          <p:cNvSpPr txBox="1"/>
          <p:nvPr/>
        </p:nvSpPr>
        <p:spPr>
          <a:xfrm>
            <a:off x="12954000" y="5165527"/>
            <a:ext cx="1465898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ขยาย</a:t>
            </a: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ลูกค้า</a:t>
            </a: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ใหม่</a:t>
            </a:r>
          </a:p>
        </p:txBody>
      </p:sp>
      <p:sp>
        <p:nvSpPr>
          <p:cNvPr id="433" name="text431"/>
          <p:cNvSpPr txBox="1"/>
          <p:nvPr/>
        </p:nvSpPr>
        <p:spPr>
          <a:xfrm>
            <a:off x="12954000" y="5379839"/>
            <a:ext cx="1928432" cy="3948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ลูกค้า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ใหม่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≥5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ราย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/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ปี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·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ผ้าม่าน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≥3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ราย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ปี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71</a:t>
            </a:r>
          </a:p>
        </p:txBody>
      </p:sp>
      <p:sp>
        <p:nvSpPr>
          <p:cNvPr id="434" name="text432"/>
          <p:cNvSpPr txBox="1"/>
          <p:nvPr/>
        </p:nvSpPr>
        <p:spPr>
          <a:xfrm>
            <a:off x="11963400" y="6117580"/>
            <a:ext cx="2224564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ด้าน</a:t>
            </a: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กระบวนการ</a:t>
            </a: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ภายใน</a:t>
            </a:r>
          </a:p>
        </p:txBody>
      </p:sp>
      <p:sp>
        <p:nvSpPr>
          <p:cNvPr id="435" name="text433"/>
          <p:cNvSpPr txBox="1"/>
          <p:nvPr/>
        </p:nvSpPr>
        <p:spPr>
          <a:xfrm>
            <a:off x="12020550" y="6707981"/>
            <a:ext cx="781050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3E4A66"/>
                </a:solidFill>
                <a:latin typeface="Kanit"/>
                <a:ea typeface="Kanit"/>
                <a:cs typeface="Kanit"/>
              </a:rPr>
              <a:t>–15%</a:t>
            </a:r>
          </a:p>
        </p:txBody>
      </p:sp>
      <p:sp>
        <p:nvSpPr>
          <p:cNvPr id="436" name="text434"/>
          <p:cNvSpPr txBox="1"/>
          <p:nvPr/>
        </p:nvSpPr>
        <p:spPr>
          <a:xfrm>
            <a:off x="12015788" y="7035105"/>
            <a:ext cx="7905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23"/>
              </a:lnSpc>
            </a:pPr>
            <a:r>
              <a:rPr sz="1000" b="0">
                <a:solidFill>
                  <a:srgbClr val="3E4A66"/>
                </a:solidFill>
                <a:latin typeface="Kanit"/>
                <a:ea typeface="Kanit"/>
                <a:cs typeface="Kanit"/>
              </a:rPr>
              <a:t>ภายใน</a:t>
            </a:r>
            <a:r>
              <a:rPr sz="1000" b="0">
                <a:solidFill>
                  <a:srgbClr val="3E4A66"/>
                </a:solidFill>
                <a:latin typeface="Kanit"/>
                <a:ea typeface="Kanit"/>
                <a:cs typeface="Kanit"/>
              </a:rPr>
              <a:t>ปี</a:t>
            </a:r>
            <a:r>
              <a:rPr sz="1000" b="0">
                <a:solidFill>
                  <a:srgbClr val="3E4A66"/>
                </a:solidFill>
                <a:latin typeface="Kanit"/>
                <a:ea typeface="Kanit"/>
                <a:cs typeface="Kanit"/>
              </a:rPr>
              <a:t> </a:t>
            </a:r>
            <a:r>
              <a:rPr sz="1000" b="0">
                <a:solidFill>
                  <a:srgbClr val="3E4A66"/>
                </a:solidFill>
                <a:latin typeface="Kanit"/>
                <a:ea typeface="Kanit"/>
                <a:cs typeface="Kanit"/>
              </a:rPr>
              <a:t>70</a:t>
            </a:r>
          </a:p>
        </p:txBody>
      </p:sp>
      <p:sp>
        <p:nvSpPr>
          <p:cNvPr id="437" name="text435"/>
          <p:cNvSpPr txBox="1"/>
          <p:nvPr/>
        </p:nvSpPr>
        <p:spPr>
          <a:xfrm>
            <a:off x="12954000" y="6570464"/>
            <a:ext cx="1465898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ลด</a:t>
            </a: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สินค้า</a:t>
            </a: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คงคลัง</a:t>
            </a:r>
          </a:p>
        </p:txBody>
      </p:sp>
      <p:sp>
        <p:nvSpPr>
          <p:cNvPr id="438" name="text436"/>
          <p:cNvSpPr txBox="1"/>
          <p:nvPr/>
        </p:nvSpPr>
        <p:spPr>
          <a:xfrm>
            <a:off x="12954000" y="6784777"/>
            <a:ext cx="1928432" cy="5896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ระยะเวลา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ถือครอง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สินค้า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คงคลัง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เฉลี่ย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ลด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≥15%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ภายใน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ปี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2570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br/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เทียบ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ปี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 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2568</a:t>
            </a:r>
          </a:p>
        </p:txBody>
      </p:sp>
      <p:sp>
        <p:nvSpPr>
          <p:cNvPr id="439" name="text437"/>
          <p:cNvSpPr txBox="1"/>
          <p:nvPr/>
        </p:nvSpPr>
        <p:spPr>
          <a:xfrm>
            <a:off x="11987957" y="7537996"/>
            <a:ext cx="846088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3E4A66"/>
                </a:solidFill>
                <a:latin typeface="Kanit"/>
                <a:ea typeface="Kanit"/>
                <a:cs typeface="Kanit"/>
              </a:rPr>
              <a:t>≥95%</a:t>
            </a:r>
          </a:p>
        </p:txBody>
      </p:sp>
      <p:sp>
        <p:nvSpPr>
          <p:cNvPr id="440" name="text438"/>
          <p:cNvSpPr txBox="1"/>
          <p:nvPr/>
        </p:nvSpPr>
        <p:spPr>
          <a:xfrm>
            <a:off x="12034838" y="7865120"/>
            <a:ext cx="7524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23"/>
              </a:lnSpc>
            </a:pPr>
            <a:r>
              <a:rPr sz="1000" b="0">
                <a:solidFill>
                  <a:srgbClr val="3E4A66"/>
                </a:solidFill>
                <a:latin typeface="Kanit"/>
                <a:ea typeface="Kanit"/>
                <a:cs typeface="Kanit"/>
              </a:rPr>
              <a:t>ตั้งแต่</a:t>
            </a:r>
            <a:r>
              <a:rPr sz="1000" b="0">
                <a:solidFill>
                  <a:srgbClr val="3E4A66"/>
                </a:solidFill>
                <a:latin typeface="Kanit"/>
                <a:ea typeface="Kanit"/>
                <a:cs typeface="Kanit"/>
              </a:rPr>
              <a:t>ปี</a:t>
            </a:r>
            <a:r>
              <a:rPr sz="1000" b="0">
                <a:solidFill>
                  <a:srgbClr val="3E4A66"/>
                </a:solidFill>
                <a:latin typeface="Kanit"/>
                <a:ea typeface="Kanit"/>
                <a:cs typeface="Kanit"/>
              </a:rPr>
              <a:t> </a:t>
            </a:r>
            <a:r>
              <a:rPr sz="1000" b="0">
                <a:solidFill>
                  <a:srgbClr val="3E4A66"/>
                </a:solidFill>
                <a:latin typeface="Kanit"/>
                <a:ea typeface="Kanit"/>
                <a:cs typeface="Kanit"/>
              </a:rPr>
              <a:t>70</a:t>
            </a:r>
          </a:p>
        </p:txBody>
      </p:sp>
      <p:sp>
        <p:nvSpPr>
          <p:cNvPr id="441" name="text439"/>
          <p:cNvSpPr txBox="1"/>
          <p:nvPr/>
        </p:nvSpPr>
        <p:spPr>
          <a:xfrm>
            <a:off x="12954000" y="7595295"/>
            <a:ext cx="1517332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ส่งมอบ</a:t>
            </a: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ตรงเวลา</a:t>
            </a:r>
          </a:p>
        </p:txBody>
      </p:sp>
      <p:sp>
        <p:nvSpPr>
          <p:cNvPr id="442" name="text440"/>
          <p:cNvSpPr txBox="1"/>
          <p:nvPr/>
        </p:nvSpPr>
        <p:spPr>
          <a:xfrm>
            <a:off x="12954000" y="7809607"/>
            <a:ext cx="2301716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คำสั่งซื้อ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ที่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ส่ง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ครบ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และ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ตรงเวลา</a:t>
            </a:r>
          </a:p>
        </p:txBody>
      </p:sp>
      <p:sp>
        <p:nvSpPr>
          <p:cNvPr id="443" name="text441"/>
          <p:cNvSpPr txBox="1"/>
          <p:nvPr/>
        </p:nvSpPr>
        <p:spPr>
          <a:xfrm>
            <a:off x="11963400" y="8345091"/>
            <a:ext cx="2803208" cy="2762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38"/>
              </a:lnSpc>
            </a:pP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ด้าน</a:t>
            </a: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นวัตกรรม</a:t>
            </a: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และ</a:t>
            </a:r>
            <a:r>
              <a:rPr sz="1400" b="0">
                <a:solidFill>
                  <a:srgbClr val="FFFFFF"/>
                </a:solidFill>
                <a:latin typeface="Kanit"/>
                <a:ea typeface="Kanit"/>
                <a:cs typeface="Kanit"/>
              </a:rPr>
              <a:t>การเรียนรู้</a:t>
            </a:r>
          </a:p>
        </p:txBody>
      </p:sp>
      <p:sp>
        <p:nvSpPr>
          <p:cNvPr id="444" name="text442"/>
          <p:cNvSpPr txBox="1"/>
          <p:nvPr/>
        </p:nvSpPr>
        <p:spPr>
          <a:xfrm>
            <a:off x="12139612" y="8889653"/>
            <a:ext cx="542925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8A6512"/>
                </a:solidFill>
                <a:latin typeface="Kanit"/>
                <a:ea typeface="Kanit"/>
                <a:cs typeface="Kanit"/>
              </a:rPr>
              <a:t>Q2</a:t>
            </a:r>
          </a:p>
        </p:txBody>
      </p:sp>
      <p:sp>
        <p:nvSpPr>
          <p:cNvPr id="445" name="text443"/>
          <p:cNvSpPr txBox="1"/>
          <p:nvPr/>
        </p:nvSpPr>
        <p:spPr>
          <a:xfrm>
            <a:off x="12130088" y="9216777"/>
            <a:ext cx="561975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23"/>
              </a:lnSpc>
            </a:pPr>
            <a:r>
              <a:rPr sz="100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ปี</a:t>
            </a:r>
            <a:r>
              <a:rPr sz="100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 </a:t>
            </a:r>
            <a:r>
              <a:rPr sz="100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2571</a:t>
            </a:r>
          </a:p>
        </p:txBody>
      </p:sp>
      <p:sp>
        <p:nvSpPr>
          <p:cNvPr id="446" name="text444"/>
          <p:cNvSpPr txBox="1"/>
          <p:nvPr/>
        </p:nvSpPr>
        <p:spPr>
          <a:xfrm>
            <a:off x="12954000" y="8946952"/>
            <a:ext cx="2070259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ต้นแบบ</a:t>
            </a: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ผ้าม่าน</a:t>
            </a: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พร้อม</a:t>
            </a:r>
          </a:p>
        </p:txBody>
      </p:sp>
      <p:sp>
        <p:nvSpPr>
          <p:cNvPr id="447" name="text445"/>
          <p:cNvSpPr txBox="1"/>
          <p:nvPr/>
        </p:nvSpPr>
        <p:spPr>
          <a:xfrm>
            <a:off x="12954000" y="9161264"/>
            <a:ext cx="2456021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ผ่าน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ข้อกำหนด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ก่อน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ทดลอง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ขาย</a:t>
            </a:r>
          </a:p>
        </p:txBody>
      </p:sp>
      <p:sp>
        <p:nvSpPr>
          <p:cNvPr id="448" name="text446"/>
          <p:cNvSpPr txBox="1"/>
          <p:nvPr/>
        </p:nvSpPr>
        <p:spPr>
          <a:xfrm>
            <a:off x="11968479" y="9673828"/>
            <a:ext cx="885044" cy="3905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</a:pPr>
            <a:r>
              <a:rPr sz="2000" b="1">
                <a:solidFill>
                  <a:srgbClr val="8A6512"/>
                </a:solidFill>
                <a:latin typeface="Kanit"/>
                <a:ea typeface="Kanit"/>
                <a:cs typeface="Kanit"/>
              </a:rPr>
              <a:t>≥80%</a:t>
            </a:r>
          </a:p>
        </p:txBody>
      </p:sp>
      <p:sp>
        <p:nvSpPr>
          <p:cNvPr id="449" name="text447"/>
          <p:cNvSpPr txBox="1"/>
          <p:nvPr/>
        </p:nvSpPr>
        <p:spPr>
          <a:xfrm>
            <a:off x="12030075" y="10000952"/>
            <a:ext cx="762000" cy="1809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023"/>
              </a:lnSpc>
            </a:pPr>
            <a:r>
              <a:rPr sz="100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ผู้</a:t>
            </a:r>
            <a:r>
              <a:rPr sz="100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เข้า</a:t>
            </a:r>
            <a:r>
              <a:rPr sz="1000" b="0">
                <a:solidFill>
                  <a:srgbClr val="8A6512"/>
                </a:solidFill>
                <a:latin typeface="Kanit"/>
                <a:ea typeface="Kanit"/>
                <a:cs typeface="Kanit"/>
              </a:rPr>
              <a:t>อบรม</a:t>
            </a:r>
          </a:p>
        </p:txBody>
      </p:sp>
      <p:sp>
        <p:nvSpPr>
          <p:cNvPr id="450" name="text448"/>
          <p:cNvSpPr txBox="1"/>
          <p:nvPr/>
        </p:nvSpPr>
        <p:spPr>
          <a:xfrm>
            <a:off x="12954000" y="9731127"/>
            <a:ext cx="1465898" cy="2190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87"/>
              </a:lnSpc>
            </a:pP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พนักงาน</a:t>
            </a:r>
            <a:r>
              <a:rPr sz="1350" b="1">
                <a:solidFill>
                  <a:srgbClr val="1E2B5E"/>
                </a:solidFill>
                <a:latin typeface="Sarabun"/>
                <a:ea typeface="Sarabun"/>
                <a:cs typeface="Sarabun"/>
              </a:rPr>
              <a:t>พร้อม</a:t>
            </a:r>
          </a:p>
        </p:txBody>
      </p:sp>
      <p:sp>
        <p:nvSpPr>
          <p:cNvPr id="451" name="text449"/>
          <p:cNvSpPr txBox="1"/>
          <p:nvPr/>
        </p:nvSpPr>
        <p:spPr>
          <a:xfrm>
            <a:off x="12954000" y="9945439"/>
            <a:ext cx="2031682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34"/>
              </a:lnSpc>
            </a:pP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ผ่านการทดสอบ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หลัง</a:t>
            </a:r>
            <a:r>
              <a:rPr sz="1150" b="0">
                <a:solidFill>
                  <a:srgbClr val="1D2433"/>
                </a:solidFill>
                <a:latin typeface="Sarabun"/>
                <a:ea typeface="Sarabun"/>
                <a:cs typeface="Sarabun"/>
              </a:rPr>
              <a:t>อบรม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