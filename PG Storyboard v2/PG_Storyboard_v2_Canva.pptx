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0"/>
          <p:cNvSpPr/>
          <p:nvPr/>
        </p:nvSpPr>
        <p:spPr>
          <a:xfrm>
            <a:off x="0" y="0"/>
            <a:ext cx="15116175" cy="10687050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ox1"/>
          <p:cNvSpPr/>
          <p:nvPr/>
        </p:nvSpPr>
        <p:spPr>
          <a:xfrm>
            <a:off x="133350" y="114300"/>
            <a:ext cx="148494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ox2"/>
          <p:cNvSpPr/>
          <p:nvPr/>
        </p:nvSpPr>
        <p:spPr>
          <a:xfrm>
            <a:off x="3914775" y="123825"/>
            <a:ext cx="38100" cy="933450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03324"/>
            <a:ext cx="3429000" cy="374452"/>
          </a:xfrm>
          <a:prstGeom prst="rect">
            <a:avLst/>
          </a:prstGeom>
        </p:spPr>
      </p:pic>
      <p:sp>
        <p:nvSpPr>
          <p:cNvPr id="6" name="box4"/>
          <p:cNvSpPr/>
          <p:nvPr/>
        </p:nvSpPr>
        <p:spPr>
          <a:xfrm>
            <a:off x="3952875" y="123825"/>
            <a:ext cx="4867275" cy="9334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5"/>
          <p:cNvSpPr/>
          <p:nvPr/>
        </p:nvSpPr>
        <p:spPr>
          <a:xfrm>
            <a:off x="41624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6"/>
          <p:cNvSpPr/>
          <p:nvPr/>
        </p:nvSpPr>
        <p:spPr>
          <a:xfrm>
            <a:off x="5029200" y="690414"/>
            <a:ext cx="73342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7"/>
          <p:cNvSpPr/>
          <p:nvPr/>
        </p:nvSpPr>
        <p:spPr>
          <a:xfrm>
            <a:off x="59912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8"/>
          <p:cNvSpPr/>
          <p:nvPr/>
        </p:nvSpPr>
        <p:spPr>
          <a:xfrm>
            <a:off x="6858000" y="690414"/>
            <a:ext cx="6286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x9"/>
          <p:cNvSpPr/>
          <p:nvPr/>
        </p:nvSpPr>
        <p:spPr>
          <a:xfrm>
            <a:off x="7715250" y="690414"/>
            <a:ext cx="8953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garment.jpg"/>
          <p:cNvPicPr>
            <a:picLocks noChangeAspect="1"/>
          </p:cNvPicPr>
          <p:nvPr/>
        </p:nvPicPr>
        <p:blipFill>
          <a:blip r:embed="rId3"/>
          <a:srcRect t="10781" b="10781"/>
          <a:stretch>
            <a:fillRect/>
          </a:stretch>
        </p:blipFill>
        <p:spPr>
          <a:xfrm>
            <a:off x="8820150" y="123825"/>
            <a:ext cx="1025426" cy="933450"/>
          </a:xfrm>
          <a:prstGeom prst="rect">
            <a:avLst/>
          </a:prstGeom>
        </p:spPr>
      </p:pic>
      <p:sp>
        <p:nvSpPr>
          <p:cNvPr id="13" name="box11"/>
          <p:cNvSpPr/>
          <p:nvPr/>
        </p:nvSpPr>
        <p:spPr>
          <a:xfrm>
            <a:off x="8820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uniform.jpg"/>
          <p:cNvPicPr>
            <a:picLocks noChangeAspect="1"/>
          </p:cNvPicPr>
          <p:nvPr/>
        </p:nvPicPr>
        <p:blipFill>
          <a:blip r:embed="rId4"/>
          <a:srcRect t="10786" b="10786"/>
          <a:stretch>
            <a:fillRect/>
          </a:stretch>
        </p:blipFill>
        <p:spPr>
          <a:xfrm>
            <a:off x="9845576" y="123825"/>
            <a:ext cx="1025575" cy="933450"/>
          </a:xfrm>
          <a:prstGeom prst="rect">
            <a:avLst/>
          </a:prstGeom>
        </p:spPr>
      </p:pic>
      <p:sp>
        <p:nvSpPr>
          <p:cNvPr id="15" name="box13"/>
          <p:cNvSpPr/>
          <p:nvPr/>
        </p:nvSpPr>
        <p:spPr>
          <a:xfrm>
            <a:off x="9845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healthcare.jpg"/>
          <p:cNvPicPr>
            <a:picLocks noChangeAspect="1"/>
          </p:cNvPicPr>
          <p:nvPr/>
        </p:nvPicPr>
        <p:blipFill>
          <a:blip r:embed="rId5"/>
          <a:srcRect t="10781" b="10781"/>
          <a:stretch>
            <a:fillRect/>
          </a:stretch>
        </p:blipFill>
        <p:spPr>
          <a:xfrm>
            <a:off x="10871150" y="123825"/>
            <a:ext cx="1025426" cy="933450"/>
          </a:xfrm>
          <a:prstGeom prst="rect">
            <a:avLst/>
          </a:prstGeom>
        </p:spPr>
      </p:pic>
      <p:sp>
        <p:nvSpPr>
          <p:cNvPr id="17" name="box15"/>
          <p:cNvSpPr/>
          <p:nvPr/>
        </p:nvSpPr>
        <p:spPr>
          <a:xfrm>
            <a:off x="10871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portwear.jpg"/>
          <p:cNvPicPr>
            <a:picLocks noChangeAspect="1"/>
          </p:cNvPicPr>
          <p:nvPr/>
        </p:nvPicPr>
        <p:blipFill>
          <a:blip r:embed="rId6"/>
          <a:srcRect t="10786" b="10786"/>
          <a:stretch>
            <a:fillRect/>
          </a:stretch>
        </p:blipFill>
        <p:spPr>
          <a:xfrm>
            <a:off x="11896576" y="123825"/>
            <a:ext cx="1025575" cy="933450"/>
          </a:xfrm>
          <a:prstGeom prst="rect">
            <a:avLst/>
          </a:prstGeom>
        </p:spPr>
      </p:pic>
      <p:sp>
        <p:nvSpPr>
          <p:cNvPr id="19" name="box17"/>
          <p:cNvSpPr/>
          <p:nvPr/>
        </p:nvSpPr>
        <p:spPr>
          <a:xfrm>
            <a:off x="11896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nnerwear.jpg"/>
          <p:cNvPicPr>
            <a:picLocks noChangeAspect="1"/>
          </p:cNvPicPr>
          <p:nvPr/>
        </p:nvPicPr>
        <p:blipFill>
          <a:blip r:embed="rId7"/>
          <a:srcRect t="10786" b="10786"/>
          <a:stretch>
            <a:fillRect/>
          </a:stretch>
        </p:blipFill>
        <p:spPr>
          <a:xfrm>
            <a:off x="12922151" y="123825"/>
            <a:ext cx="1025575" cy="933450"/>
          </a:xfrm>
          <a:prstGeom prst="rect">
            <a:avLst/>
          </a:prstGeom>
        </p:spPr>
      </p:pic>
      <p:sp>
        <p:nvSpPr>
          <p:cNvPr id="21" name="box19"/>
          <p:cNvSpPr/>
          <p:nvPr/>
        </p:nvSpPr>
        <p:spPr>
          <a:xfrm>
            <a:off x="12922151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textile.jpg"/>
          <p:cNvPicPr>
            <a:picLocks noChangeAspect="1"/>
          </p:cNvPicPr>
          <p:nvPr/>
        </p:nvPicPr>
        <p:blipFill>
          <a:blip r:embed="rId8"/>
          <a:srcRect t="10781" b="10781"/>
          <a:stretch>
            <a:fillRect/>
          </a:stretch>
        </p:blipFill>
        <p:spPr>
          <a:xfrm>
            <a:off x="13947725" y="123825"/>
            <a:ext cx="1025426" cy="933450"/>
          </a:xfrm>
          <a:prstGeom prst="rect">
            <a:avLst/>
          </a:prstGeom>
        </p:spPr>
      </p:pic>
      <p:sp>
        <p:nvSpPr>
          <p:cNvPr id="23" name="box21"/>
          <p:cNvSpPr/>
          <p:nvPr/>
        </p:nvSpPr>
        <p:spPr>
          <a:xfrm>
            <a:off x="13947725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ox22"/>
          <p:cNvSpPr/>
          <p:nvPr/>
        </p:nvSpPr>
        <p:spPr>
          <a:xfrm>
            <a:off x="133350" y="1162050"/>
            <a:ext cx="3028950" cy="94107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ox23"/>
          <p:cNvSpPr/>
          <p:nvPr/>
        </p:nvSpPr>
        <p:spPr>
          <a:xfrm>
            <a:off x="142875" y="1171575"/>
            <a:ext cx="300990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x24"/>
          <p:cNvSpPr/>
          <p:nvPr/>
        </p:nvSpPr>
        <p:spPr>
          <a:xfrm>
            <a:off x="2571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ox25"/>
          <p:cNvSpPr/>
          <p:nvPr/>
        </p:nvSpPr>
        <p:spPr>
          <a:xfrm>
            <a:off x="238125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ox26"/>
          <p:cNvSpPr/>
          <p:nvPr/>
        </p:nvSpPr>
        <p:spPr>
          <a:xfrm>
            <a:off x="552450" y="185038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ox27"/>
          <p:cNvSpPr/>
          <p:nvPr/>
        </p:nvSpPr>
        <p:spPr>
          <a:xfrm>
            <a:off x="1943100" y="185038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ox28"/>
          <p:cNvSpPr/>
          <p:nvPr/>
        </p:nvSpPr>
        <p:spPr>
          <a:xfrm>
            <a:off x="2276475" y="185038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ox29"/>
          <p:cNvSpPr/>
          <p:nvPr/>
        </p:nvSpPr>
        <p:spPr>
          <a:xfrm>
            <a:off x="2419350" y="185038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ox30"/>
          <p:cNvSpPr/>
          <p:nvPr/>
        </p:nvSpPr>
        <p:spPr>
          <a:xfrm>
            <a:off x="2743200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ox31"/>
          <p:cNvSpPr/>
          <p:nvPr/>
        </p:nvSpPr>
        <p:spPr>
          <a:xfrm>
            <a:off x="238125" y="1869430"/>
            <a:ext cx="2819400" cy="26565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ox32"/>
          <p:cNvSpPr/>
          <p:nvPr/>
        </p:nvSpPr>
        <p:spPr>
          <a:xfrm>
            <a:off x="238125" y="2125563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ox33"/>
          <p:cNvSpPr/>
          <p:nvPr/>
        </p:nvSpPr>
        <p:spPr>
          <a:xfrm>
            <a:off x="238125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ox34"/>
          <p:cNvSpPr/>
          <p:nvPr/>
        </p:nvSpPr>
        <p:spPr>
          <a:xfrm>
            <a:off x="285750" y="230356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ox35"/>
          <p:cNvSpPr/>
          <p:nvPr/>
        </p:nvSpPr>
        <p:spPr>
          <a:xfrm>
            <a:off x="552450" y="261878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ox36"/>
          <p:cNvSpPr/>
          <p:nvPr/>
        </p:nvSpPr>
        <p:spPr>
          <a:xfrm>
            <a:off x="1943100" y="261878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ox37"/>
          <p:cNvSpPr/>
          <p:nvPr/>
        </p:nvSpPr>
        <p:spPr>
          <a:xfrm>
            <a:off x="2276475" y="261878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ox38"/>
          <p:cNvSpPr/>
          <p:nvPr/>
        </p:nvSpPr>
        <p:spPr>
          <a:xfrm>
            <a:off x="2419350" y="261878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ox39"/>
          <p:cNvSpPr/>
          <p:nvPr/>
        </p:nvSpPr>
        <p:spPr>
          <a:xfrm>
            <a:off x="2743200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ox40"/>
          <p:cNvSpPr/>
          <p:nvPr/>
        </p:nvSpPr>
        <p:spPr>
          <a:xfrm>
            <a:off x="2814638" y="231204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ox41"/>
          <p:cNvSpPr/>
          <p:nvPr/>
        </p:nvSpPr>
        <p:spPr>
          <a:xfrm>
            <a:off x="238125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ox42"/>
          <p:cNvSpPr/>
          <p:nvPr/>
        </p:nvSpPr>
        <p:spPr>
          <a:xfrm>
            <a:off x="276225" y="27007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box43"/>
          <p:cNvSpPr/>
          <p:nvPr/>
        </p:nvSpPr>
        <p:spPr>
          <a:xfrm>
            <a:off x="552450" y="292000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box44"/>
          <p:cNvSpPr/>
          <p:nvPr/>
        </p:nvSpPr>
        <p:spPr>
          <a:xfrm>
            <a:off x="1943100" y="292000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box45"/>
          <p:cNvSpPr/>
          <p:nvPr/>
        </p:nvSpPr>
        <p:spPr>
          <a:xfrm>
            <a:off x="2276475" y="292000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ox46"/>
          <p:cNvSpPr/>
          <p:nvPr/>
        </p:nvSpPr>
        <p:spPr>
          <a:xfrm>
            <a:off x="2419350" y="292000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box47"/>
          <p:cNvSpPr/>
          <p:nvPr/>
        </p:nvSpPr>
        <p:spPr>
          <a:xfrm>
            <a:off x="2743200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box48"/>
          <p:cNvSpPr/>
          <p:nvPr/>
        </p:nvSpPr>
        <p:spPr>
          <a:xfrm>
            <a:off x="2814638" y="2709267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box49"/>
          <p:cNvSpPr/>
          <p:nvPr/>
        </p:nvSpPr>
        <p:spPr>
          <a:xfrm>
            <a:off x="238125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box50"/>
          <p:cNvSpPr/>
          <p:nvPr/>
        </p:nvSpPr>
        <p:spPr>
          <a:xfrm>
            <a:off x="276225" y="300201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ox51"/>
          <p:cNvSpPr/>
          <p:nvPr/>
        </p:nvSpPr>
        <p:spPr>
          <a:xfrm>
            <a:off x="552450" y="322123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ox52"/>
          <p:cNvSpPr/>
          <p:nvPr/>
        </p:nvSpPr>
        <p:spPr>
          <a:xfrm>
            <a:off x="1943100" y="322123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ox53"/>
          <p:cNvSpPr/>
          <p:nvPr/>
        </p:nvSpPr>
        <p:spPr>
          <a:xfrm>
            <a:off x="2276475" y="322123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ox54"/>
          <p:cNvSpPr/>
          <p:nvPr/>
        </p:nvSpPr>
        <p:spPr>
          <a:xfrm>
            <a:off x="2419350" y="322123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ox55"/>
          <p:cNvSpPr/>
          <p:nvPr/>
        </p:nvSpPr>
        <p:spPr>
          <a:xfrm>
            <a:off x="2743200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ox56"/>
          <p:cNvSpPr/>
          <p:nvPr/>
        </p:nvSpPr>
        <p:spPr>
          <a:xfrm>
            <a:off x="2814638" y="301049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ox57"/>
          <p:cNvSpPr/>
          <p:nvPr/>
        </p:nvSpPr>
        <p:spPr>
          <a:xfrm>
            <a:off x="238125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ox58"/>
          <p:cNvSpPr/>
          <p:nvPr/>
        </p:nvSpPr>
        <p:spPr>
          <a:xfrm>
            <a:off x="266700" y="330324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ox59"/>
          <p:cNvSpPr/>
          <p:nvPr/>
        </p:nvSpPr>
        <p:spPr>
          <a:xfrm>
            <a:off x="552450" y="352246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ox60"/>
          <p:cNvSpPr/>
          <p:nvPr/>
        </p:nvSpPr>
        <p:spPr>
          <a:xfrm>
            <a:off x="1943100" y="352246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ox61"/>
          <p:cNvSpPr/>
          <p:nvPr/>
        </p:nvSpPr>
        <p:spPr>
          <a:xfrm>
            <a:off x="2276475" y="352246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ox62"/>
          <p:cNvSpPr/>
          <p:nvPr/>
        </p:nvSpPr>
        <p:spPr>
          <a:xfrm>
            <a:off x="2419350" y="352246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ox63"/>
          <p:cNvSpPr/>
          <p:nvPr/>
        </p:nvSpPr>
        <p:spPr>
          <a:xfrm>
            <a:off x="2743200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ox64"/>
          <p:cNvSpPr/>
          <p:nvPr/>
        </p:nvSpPr>
        <p:spPr>
          <a:xfrm>
            <a:off x="2828925" y="3311723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ox65"/>
          <p:cNvSpPr/>
          <p:nvPr/>
        </p:nvSpPr>
        <p:spPr>
          <a:xfrm>
            <a:off x="238125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ox66"/>
          <p:cNvSpPr/>
          <p:nvPr/>
        </p:nvSpPr>
        <p:spPr>
          <a:xfrm>
            <a:off x="257175" y="3604468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ox67"/>
          <p:cNvSpPr/>
          <p:nvPr/>
        </p:nvSpPr>
        <p:spPr>
          <a:xfrm>
            <a:off x="552450" y="382369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ox68"/>
          <p:cNvSpPr/>
          <p:nvPr/>
        </p:nvSpPr>
        <p:spPr>
          <a:xfrm>
            <a:off x="1943100" y="382369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ox69"/>
          <p:cNvSpPr/>
          <p:nvPr/>
        </p:nvSpPr>
        <p:spPr>
          <a:xfrm>
            <a:off x="2276475" y="382369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ox70"/>
          <p:cNvSpPr/>
          <p:nvPr/>
        </p:nvSpPr>
        <p:spPr>
          <a:xfrm>
            <a:off x="2419350" y="382369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ox71"/>
          <p:cNvSpPr/>
          <p:nvPr/>
        </p:nvSpPr>
        <p:spPr>
          <a:xfrm>
            <a:off x="2743200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ox72"/>
          <p:cNvSpPr/>
          <p:nvPr/>
        </p:nvSpPr>
        <p:spPr>
          <a:xfrm>
            <a:off x="2814638" y="3612952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ox73"/>
          <p:cNvSpPr/>
          <p:nvPr/>
        </p:nvSpPr>
        <p:spPr>
          <a:xfrm>
            <a:off x="238125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ox74"/>
          <p:cNvSpPr/>
          <p:nvPr/>
        </p:nvSpPr>
        <p:spPr>
          <a:xfrm>
            <a:off x="257175" y="3905696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ox75"/>
          <p:cNvSpPr/>
          <p:nvPr/>
        </p:nvSpPr>
        <p:spPr>
          <a:xfrm>
            <a:off x="552450" y="412492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ox76"/>
          <p:cNvSpPr/>
          <p:nvPr/>
        </p:nvSpPr>
        <p:spPr>
          <a:xfrm>
            <a:off x="1943100" y="412492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box77"/>
          <p:cNvSpPr/>
          <p:nvPr/>
        </p:nvSpPr>
        <p:spPr>
          <a:xfrm>
            <a:off x="2276475" y="412492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box78"/>
          <p:cNvSpPr/>
          <p:nvPr/>
        </p:nvSpPr>
        <p:spPr>
          <a:xfrm>
            <a:off x="2419350" y="412492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box79"/>
          <p:cNvSpPr/>
          <p:nvPr/>
        </p:nvSpPr>
        <p:spPr>
          <a:xfrm>
            <a:off x="2743200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box80"/>
          <p:cNvSpPr/>
          <p:nvPr/>
        </p:nvSpPr>
        <p:spPr>
          <a:xfrm>
            <a:off x="2809875" y="3914180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box81"/>
          <p:cNvSpPr/>
          <p:nvPr/>
        </p:nvSpPr>
        <p:spPr>
          <a:xfrm>
            <a:off x="238125" y="4134445"/>
            <a:ext cx="2819400" cy="260896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box82"/>
          <p:cNvSpPr/>
          <p:nvPr/>
        </p:nvSpPr>
        <p:spPr>
          <a:xfrm>
            <a:off x="238125" y="4385816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box83"/>
          <p:cNvSpPr/>
          <p:nvPr/>
        </p:nvSpPr>
        <p:spPr>
          <a:xfrm>
            <a:off x="238125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box84"/>
          <p:cNvSpPr/>
          <p:nvPr/>
        </p:nvSpPr>
        <p:spPr>
          <a:xfrm>
            <a:off x="276225" y="44678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box85"/>
          <p:cNvSpPr/>
          <p:nvPr/>
        </p:nvSpPr>
        <p:spPr>
          <a:xfrm>
            <a:off x="552450" y="468704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box86"/>
          <p:cNvSpPr/>
          <p:nvPr/>
        </p:nvSpPr>
        <p:spPr>
          <a:xfrm>
            <a:off x="1943100" y="468704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box87"/>
          <p:cNvSpPr/>
          <p:nvPr/>
        </p:nvSpPr>
        <p:spPr>
          <a:xfrm>
            <a:off x="2276475" y="468704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box88"/>
          <p:cNvSpPr/>
          <p:nvPr/>
        </p:nvSpPr>
        <p:spPr>
          <a:xfrm>
            <a:off x="2419350" y="468704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box89"/>
          <p:cNvSpPr/>
          <p:nvPr/>
        </p:nvSpPr>
        <p:spPr>
          <a:xfrm>
            <a:off x="2743200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ox90"/>
          <p:cNvSpPr/>
          <p:nvPr/>
        </p:nvSpPr>
        <p:spPr>
          <a:xfrm>
            <a:off x="2814638" y="447630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box91"/>
          <p:cNvSpPr/>
          <p:nvPr/>
        </p:nvSpPr>
        <p:spPr>
          <a:xfrm>
            <a:off x="238125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box92"/>
          <p:cNvSpPr/>
          <p:nvPr/>
        </p:nvSpPr>
        <p:spPr>
          <a:xfrm>
            <a:off x="266700" y="476904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box93"/>
          <p:cNvSpPr/>
          <p:nvPr/>
        </p:nvSpPr>
        <p:spPr>
          <a:xfrm>
            <a:off x="552450" y="498827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ox94"/>
          <p:cNvSpPr/>
          <p:nvPr/>
        </p:nvSpPr>
        <p:spPr>
          <a:xfrm>
            <a:off x="1943100" y="498827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box95"/>
          <p:cNvSpPr/>
          <p:nvPr/>
        </p:nvSpPr>
        <p:spPr>
          <a:xfrm>
            <a:off x="2276475" y="498827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ox96"/>
          <p:cNvSpPr/>
          <p:nvPr/>
        </p:nvSpPr>
        <p:spPr>
          <a:xfrm>
            <a:off x="2419350" y="498827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box97"/>
          <p:cNvSpPr/>
          <p:nvPr/>
        </p:nvSpPr>
        <p:spPr>
          <a:xfrm>
            <a:off x="2743200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ox98"/>
          <p:cNvSpPr/>
          <p:nvPr/>
        </p:nvSpPr>
        <p:spPr>
          <a:xfrm>
            <a:off x="2828925" y="4777532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box99"/>
          <p:cNvSpPr/>
          <p:nvPr/>
        </p:nvSpPr>
        <p:spPr>
          <a:xfrm>
            <a:off x="238125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box100"/>
          <p:cNvSpPr/>
          <p:nvPr/>
        </p:nvSpPr>
        <p:spPr>
          <a:xfrm>
            <a:off x="266700" y="5070277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box101"/>
          <p:cNvSpPr/>
          <p:nvPr/>
        </p:nvSpPr>
        <p:spPr>
          <a:xfrm>
            <a:off x="552450" y="528950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ox102"/>
          <p:cNvSpPr/>
          <p:nvPr/>
        </p:nvSpPr>
        <p:spPr>
          <a:xfrm>
            <a:off x="1943100" y="528950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ox103"/>
          <p:cNvSpPr/>
          <p:nvPr/>
        </p:nvSpPr>
        <p:spPr>
          <a:xfrm>
            <a:off x="2276475" y="528950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box104"/>
          <p:cNvSpPr/>
          <p:nvPr/>
        </p:nvSpPr>
        <p:spPr>
          <a:xfrm>
            <a:off x="2419350" y="528950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box105"/>
          <p:cNvSpPr/>
          <p:nvPr/>
        </p:nvSpPr>
        <p:spPr>
          <a:xfrm>
            <a:off x="2743200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ox106"/>
          <p:cNvSpPr/>
          <p:nvPr/>
        </p:nvSpPr>
        <p:spPr>
          <a:xfrm>
            <a:off x="2828925" y="5078760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ox107"/>
          <p:cNvSpPr/>
          <p:nvPr/>
        </p:nvSpPr>
        <p:spPr>
          <a:xfrm>
            <a:off x="238125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ox108"/>
          <p:cNvSpPr/>
          <p:nvPr/>
        </p:nvSpPr>
        <p:spPr>
          <a:xfrm>
            <a:off x="285750" y="5371505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box109"/>
          <p:cNvSpPr/>
          <p:nvPr/>
        </p:nvSpPr>
        <p:spPr>
          <a:xfrm>
            <a:off x="552450" y="5590729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box110"/>
          <p:cNvSpPr/>
          <p:nvPr/>
        </p:nvSpPr>
        <p:spPr>
          <a:xfrm>
            <a:off x="1943100" y="5590729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box111"/>
          <p:cNvSpPr/>
          <p:nvPr/>
        </p:nvSpPr>
        <p:spPr>
          <a:xfrm>
            <a:off x="2276475" y="5590729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box112"/>
          <p:cNvSpPr/>
          <p:nvPr/>
        </p:nvSpPr>
        <p:spPr>
          <a:xfrm>
            <a:off x="2419350" y="5590729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box113"/>
          <p:cNvSpPr/>
          <p:nvPr/>
        </p:nvSpPr>
        <p:spPr>
          <a:xfrm>
            <a:off x="2743200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ox114"/>
          <p:cNvSpPr/>
          <p:nvPr/>
        </p:nvSpPr>
        <p:spPr>
          <a:xfrm>
            <a:off x="2809875" y="5379988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ox115"/>
          <p:cNvSpPr/>
          <p:nvPr/>
        </p:nvSpPr>
        <p:spPr>
          <a:xfrm>
            <a:off x="238125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ox116"/>
          <p:cNvSpPr/>
          <p:nvPr/>
        </p:nvSpPr>
        <p:spPr>
          <a:xfrm>
            <a:off x="276225" y="5672733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ox117"/>
          <p:cNvSpPr/>
          <p:nvPr/>
        </p:nvSpPr>
        <p:spPr>
          <a:xfrm>
            <a:off x="552450" y="589195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ox118"/>
          <p:cNvSpPr/>
          <p:nvPr/>
        </p:nvSpPr>
        <p:spPr>
          <a:xfrm>
            <a:off x="1943100" y="589195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ox119"/>
          <p:cNvSpPr/>
          <p:nvPr/>
        </p:nvSpPr>
        <p:spPr>
          <a:xfrm>
            <a:off x="2276475" y="589195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ox120"/>
          <p:cNvSpPr/>
          <p:nvPr/>
        </p:nvSpPr>
        <p:spPr>
          <a:xfrm>
            <a:off x="2419350" y="589195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ox121"/>
          <p:cNvSpPr/>
          <p:nvPr/>
        </p:nvSpPr>
        <p:spPr>
          <a:xfrm>
            <a:off x="2743200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ox122"/>
          <p:cNvSpPr/>
          <p:nvPr/>
        </p:nvSpPr>
        <p:spPr>
          <a:xfrm>
            <a:off x="2814638" y="5681216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ox123"/>
          <p:cNvSpPr/>
          <p:nvPr/>
        </p:nvSpPr>
        <p:spPr>
          <a:xfrm>
            <a:off x="238125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ox124"/>
          <p:cNvSpPr/>
          <p:nvPr/>
        </p:nvSpPr>
        <p:spPr>
          <a:xfrm>
            <a:off x="276225" y="597396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ox125"/>
          <p:cNvSpPr/>
          <p:nvPr/>
        </p:nvSpPr>
        <p:spPr>
          <a:xfrm>
            <a:off x="552450" y="619794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box126"/>
          <p:cNvSpPr/>
          <p:nvPr/>
        </p:nvSpPr>
        <p:spPr>
          <a:xfrm>
            <a:off x="1943100" y="619794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box127"/>
          <p:cNvSpPr/>
          <p:nvPr/>
        </p:nvSpPr>
        <p:spPr>
          <a:xfrm>
            <a:off x="2276475" y="619794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ox128"/>
          <p:cNvSpPr/>
          <p:nvPr/>
        </p:nvSpPr>
        <p:spPr>
          <a:xfrm>
            <a:off x="2419350" y="619794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ox129"/>
          <p:cNvSpPr/>
          <p:nvPr/>
        </p:nvSpPr>
        <p:spPr>
          <a:xfrm>
            <a:off x="2743200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ox130"/>
          <p:cNvSpPr/>
          <p:nvPr/>
        </p:nvSpPr>
        <p:spPr>
          <a:xfrm>
            <a:off x="2809875" y="5982444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ox131"/>
          <p:cNvSpPr/>
          <p:nvPr/>
        </p:nvSpPr>
        <p:spPr>
          <a:xfrm>
            <a:off x="238125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box132"/>
          <p:cNvSpPr/>
          <p:nvPr/>
        </p:nvSpPr>
        <p:spPr>
          <a:xfrm>
            <a:off x="552450" y="6207472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ox133"/>
          <p:cNvSpPr/>
          <p:nvPr/>
        </p:nvSpPr>
        <p:spPr>
          <a:xfrm>
            <a:off x="1943100" y="6207472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box134"/>
          <p:cNvSpPr/>
          <p:nvPr/>
        </p:nvSpPr>
        <p:spPr>
          <a:xfrm>
            <a:off x="2276475" y="6207472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box135"/>
          <p:cNvSpPr/>
          <p:nvPr/>
        </p:nvSpPr>
        <p:spPr>
          <a:xfrm>
            <a:off x="2419350" y="6207472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ox136"/>
          <p:cNvSpPr/>
          <p:nvPr/>
        </p:nvSpPr>
        <p:spPr>
          <a:xfrm>
            <a:off x="2743200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box137"/>
          <p:cNvSpPr/>
          <p:nvPr/>
        </p:nvSpPr>
        <p:spPr>
          <a:xfrm>
            <a:off x="238125" y="6627614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box138"/>
          <p:cNvSpPr/>
          <p:nvPr/>
        </p:nvSpPr>
        <p:spPr>
          <a:xfrm>
            <a:off x="685800" y="6627614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ox139"/>
          <p:cNvSpPr/>
          <p:nvPr/>
        </p:nvSpPr>
        <p:spPr>
          <a:xfrm>
            <a:off x="1209675" y="662761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ox140"/>
          <p:cNvSpPr/>
          <p:nvPr/>
        </p:nvSpPr>
        <p:spPr>
          <a:xfrm>
            <a:off x="238125" y="6871692"/>
            <a:ext cx="2819400" cy="1319957"/>
          </a:xfrm>
          <a:prstGeom prst="roundRect">
            <a:avLst>
              <a:gd name="adj" fmla="val 5772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ox141"/>
          <p:cNvSpPr/>
          <p:nvPr/>
        </p:nvSpPr>
        <p:spPr>
          <a:xfrm>
            <a:off x="238125" y="6871692"/>
            <a:ext cx="47625" cy="1319957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4" name="Picture 143" descr="textile.jpg"/>
          <p:cNvPicPr>
            <a:picLocks noChangeAspect="1"/>
          </p:cNvPicPr>
          <p:nvPr/>
        </p:nvPicPr>
        <p:blipFill>
          <a:blip r:embed="rId8"/>
          <a:srcRect l="13574" r="13574" t="0" b="0"/>
          <a:stretch>
            <a:fillRect/>
          </a:stretch>
        </p:blipFill>
        <p:spPr>
          <a:xfrm>
            <a:off x="238125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45" name="box143"/>
          <p:cNvSpPr/>
          <p:nvPr/>
        </p:nvSpPr>
        <p:spPr>
          <a:xfrm>
            <a:off x="238125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6" name="Picture 145" descr="healthcare.jpg"/>
          <p:cNvPicPr>
            <a:picLocks noChangeAspect="1"/>
          </p:cNvPicPr>
          <p:nvPr/>
        </p:nvPicPr>
        <p:blipFill>
          <a:blip r:embed="rId5"/>
          <a:srcRect l="13574" r="13574" t="0" b="0"/>
          <a:stretch>
            <a:fillRect/>
          </a:stretch>
        </p:blipFill>
        <p:spPr>
          <a:xfrm>
            <a:off x="1676400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47" name="box145"/>
          <p:cNvSpPr/>
          <p:nvPr/>
        </p:nvSpPr>
        <p:spPr>
          <a:xfrm>
            <a:off x="1676400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box146"/>
          <p:cNvSpPr/>
          <p:nvPr/>
        </p:nvSpPr>
        <p:spPr>
          <a:xfrm>
            <a:off x="3257550" y="1162050"/>
            <a:ext cx="8391525" cy="9410700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ox147"/>
          <p:cNvSpPr/>
          <p:nvPr/>
        </p:nvSpPr>
        <p:spPr>
          <a:xfrm>
            <a:off x="3267075" y="1171575"/>
            <a:ext cx="8372475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ox148"/>
          <p:cNvSpPr/>
          <p:nvPr/>
        </p:nvSpPr>
        <p:spPr>
          <a:xfrm>
            <a:off x="33813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ox149"/>
          <p:cNvSpPr/>
          <p:nvPr/>
        </p:nvSpPr>
        <p:spPr>
          <a:xfrm>
            <a:off x="435292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box150"/>
          <p:cNvSpPr/>
          <p:nvPr/>
        </p:nvSpPr>
        <p:spPr>
          <a:xfrm>
            <a:off x="52006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ox151"/>
          <p:cNvSpPr/>
          <p:nvPr/>
        </p:nvSpPr>
        <p:spPr>
          <a:xfrm>
            <a:off x="3267075" y="1557784"/>
            <a:ext cx="1600200" cy="460921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box152"/>
          <p:cNvSpPr/>
          <p:nvPr/>
        </p:nvSpPr>
        <p:spPr>
          <a:xfrm>
            <a:off x="4867275" y="1557784"/>
            <a:ext cx="1652588" cy="460921"/>
          </a:xfrm>
          <a:prstGeom prst="rect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box153"/>
          <p:cNvSpPr/>
          <p:nvPr/>
        </p:nvSpPr>
        <p:spPr>
          <a:xfrm>
            <a:off x="6519862" y="1557784"/>
            <a:ext cx="1600200" cy="460921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ox154"/>
          <p:cNvSpPr/>
          <p:nvPr/>
        </p:nvSpPr>
        <p:spPr>
          <a:xfrm>
            <a:off x="8120062" y="1557784"/>
            <a:ext cx="1652588" cy="460921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box155"/>
          <p:cNvSpPr/>
          <p:nvPr/>
        </p:nvSpPr>
        <p:spPr>
          <a:xfrm>
            <a:off x="9772650" y="1557784"/>
            <a:ext cx="1866900" cy="460921"/>
          </a:xfrm>
          <a:prstGeom prst="rect">
            <a:avLst/>
          </a:prstGeom>
          <a:solidFill>
            <a:srgbClr val="4B58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box156"/>
          <p:cNvSpPr/>
          <p:nvPr/>
        </p:nvSpPr>
        <p:spPr>
          <a:xfrm>
            <a:off x="3267075" y="2018705"/>
            <a:ext cx="1600200" cy="141922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box157"/>
          <p:cNvSpPr/>
          <p:nvPr/>
        </p:nvSpPr>
        <p:spPr>
          <a:xfrm>
            <a:off x="3267075" y="3428405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box158"/>
          <p:cNvSpPr/>
          <p:nvPr/>
        </p:nvSpPr>
        <p:spPr>
          <a:xfrm>
            <a:off x="4857750" y="2018705"/>
            <a:ext cx="9525" cy="14192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box159"/>
          <p:cNvSpPr/>
          <p:nvPr/>
        </p:nvSpPr>
        <p:spPr>
          <a:xfrm>
            <a:off x="3352800" y="2738884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box160"/>
          <p:cNvSpPr/>
          <p:nvPr/>
        </p:nvSpPr>
        <p:spPr>
          <a:xfrm>
            <a:off x="3600450" y="273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box161"/>
          <p:cNvSpPr/>
          <p:nvPr/>
        </p:nvSpPr>
        <p:spPr>
          <a:xfrm>
            <a:off x="3867150" y="2738884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box162"/>
          <p:cNvSpPr/>
          <p:nvPr/>
        </p:nvSpPr>
        <p:spPr>
          <a:xfrm>
            <a:off x="4152900" y="2738884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box163"/>
          <p:cNvSpPr/>
          <p:nvPr/>
        </p:nvSpPr>
        <p:spPr>
          <a:xfrm>
            <a:off x="3371850" y="2942332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box164"/>
          <p:cNvSpPr/>
          <p:nvPr/>
        </p:nvSpPr>
        <p:spPr>
          <a:xfrm>
            <a:off x="4867275" y="2018705"/>
            <a:ext cx="1652588" cy="141922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box165"/>
          <p:cNvSpPr/>
          <p:nvPr/>
        </p:nvSpPr>
        <p:spPr>
          <a:xfrm>
            <a:off x="4867275" y="3428405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box166"/>
          <p:cNvSpPr/>
          <p:nvPr/>
        </p:nvSpPr>
        <p:spPr>
          <a:xfrm>
            <a:off x="6519862" y="2018705"/>
            <a:ext cx="1600200" cy="141922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box167"/>
          <p:cNvSpPr/>
          <p:nvPr/>
        </p:nvSpPr>
        <p:spPr>
          <a:xfrm>
            <a:off x="6519862" y="3428405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box168"/>
          <p:cNvSpPr/>
          <p:nvPr/>
        </p:nvSpPr>
        <p:spPr>
          <a:xfrm>
            <a:off x="8120062" y="2018705"/>
            <a:ext cx="1652588" cy="141922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box169"/>
          <p:cNvSpPr/>
          <p:nvPr/>
        </p:nvSpPr>
        <p:spPr>
          <a:xfrm>
            <a:off x="8120062" y="3428405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box170"/>
          <p:cNvSpPr/>
          <p:nvPr/>
        </p:nvSpPr>
        <p:spPr>
          <a:xfrm>
            <a:off x="9772650" y="3428405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box171"/>
          <p:cNvSpPr/>
          <p:nvPr/>
        </p:nvSpPr>
        <p:spPr>
          <a:xfrm>
            <a:off x="3267075" y="3437930"/>
            <a:ext cx="1600200" cy="1386334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box172"/>
          <p:cNvSpPr/>
          <p:nvPr/>
        </p:nvSpPr>
        <p:spPr>
          <a:xfrm>
            <a:off x="3267075" y="481473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box173"/>
          <p:cNvSpPr/>
          <p:nvPr/>
        </p:nvSpPr>
        <p:spPr>
          <a:xfrm>
            <a:off x="4857750" y="3437930"/>
            <a:ext cx="9525" cy="1386334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box174"/>
          <p:cNvSpPr/>
          <p:nvPr/>
        </p:nvSpPr>
        <p:spPr>
          <a:xfrm>
            <a:off x="3352800" y="4141738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box175"/>
          <p:cNvSpPr/>
          <p:nvPr/>
        </p:nvSpPr>
        <p:spPr>
          <a:xfrm>
            <a:off x="3600450" y="414173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box176"/>
          <p:cNvSpPr/>
          <p:nvPr/>
        </p:nvSpPr>
        <p:spPr>
          <a:xfrm>
            <a:off x="3867150" y="414173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box177"/>
          <p:cNvSpPr/>
          <p:nvPr/>
        </p:nvSpPr>
        <p:spPr>
          <a:xfrm>
            <a:off x="4133850" y="414173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box178"/>
          <p:cNvSpPr/>
          <p:nvPr/>
        </p:nvSpPr>
        <p:spPr>
          <a:xfrm>
            <a:off x="3371850" y="4345186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box179"/>
          <p:cNvSpPr/>
          <p:nvPr/>
        </p:nvSpPr>
        <p:spPr>
          <a:xfrm>
            <a:off x="4867275" y="3437930"/>
            <a:ext cx="1652588" cy="1386334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box180"/>
          <p:cNvSpPr/>
          <p:nvPr/>
        </p:nvSpPr>
        <p:spPr>
          <a:xfrm>
            <a:off x="4867275" y="481473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box181"/>
          <p:cNvSpPr/>
          <p:nvPr/>
        </p:nvSpPr>
        <p:spPr>
          <a:xfrm>
            <a:off x="6519862" y="3437930"/>
            <a:ext cx="1600200" cy="1386334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box182"/>
          <p:cNvSpPr/>
          <p:nvPr/>
        </p:nvSpPr>
        <p:spPr>
          <a:xfrm>
            <a:off x="6519862" y="481473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box183"/>
          <p:cNvSpPr/>
          <p:nvPr/>
        </p:nvSpPr>
        <p:spPr>
          <a:xfrm>
            <a:off x="8120062" y="3437930"/>
            <a:ext cx="1652588" cy="1386334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box184"/>
          <p:cNvSpPr/>
          <p:nvPr/>
        </p:nvSpPr>
        <p:spPr>
          <a:xfrm>
            <a:off x="8120062" y="481473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box185"/>
          <p:cNvSpPr/>
          <p:nvPr/>
        </p:nvSpPr>
        <p:spPr>
          <a:xfrm>
            <a:off x="9772650" y="4814739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box186"/>
          <p:cNvSpPr/>
          <p:nvPr/>
        </p:nvSpPr>
        <p:spPr>
          <a:xfrm>
            <a:off x="3267075" y="4824264"/>
            <a:ext cx="8372475" cy="50676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box187"/>
          <p:cNvSpPr/>
          <p:nvPr/>
        </p:nvSpPr>
        <p:spPr>
          <a:xfrm>
            <a:off x="3267075" y="5321498"/>
            <a:ext cx="83724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box188"/>
          <p:cNvSpPr/>
          <p:nvPr/>
        </p:nvSpPr>
        <p:spPr>
          <a:xfrm>
            <a:off x="3267075" y="5331023"/>
            <a:ext cx="1600200" cy="108942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box189"/>
          <p:cNvSpPr/>
          <p:nvPr/>
        </p:nvSpPr>
        <p:spPr>
          <a:xfrm>
            <a:off x="3267075" y="641092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box190"/>
          <p:cNvSpPr/>
          <p:nvPr/>
        </p:nvSpPr>
        <p:spPr>
          <a:xfrm>
            <a:off x="4857750" y="5331023"/>
            <a:ext cx="9525" cy="108942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box191"/>
          <p:cNvSpPr/>
          <p:nvPr/>
        </p:nvSpPr>
        <p:spPr>
          <a:xfrm>
            <a:off x="3352800" y="5900589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box192"/>
          <p:cNvSpPr/>
          <p:nvPr/>
        </p:nvSpPr>
        <p:spPr>
          <a:xfrm>
            <a:off x="3638550" y="5900589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box193"/>
          <p:cNvSpPr/>
          <p:nvPr/>
        </p:nvSpPr>
        <p:spPr>
          <a:xfrm>
            <a:off x="3905250" y="5900589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box194"/>
          <p:cNvSpPr/>
          <p:nvPr/>
        </p:nvSpPr>
        <p:spPr>
          <a:xfrm>
            <a:off x="4210050" y="5897463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box195"/>
          <p:cNvSpPr/>
          <p:nvPr/>
        </p:nvSpPr>
        <p:spPr>
          <a:xfrm>
            <a:off x="4867275" y="5331023"/>
            <a:ext cx="1652588" cy="108942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box196"/>
          <p:cNvSpPr/>
          <p:nvPr/>
        </p:nvSpPr>
        <p:spPr>
          <a:xfrm>
            <a:off x="4867275" y="641092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box197"/>
          <p:cNvSpPr/>
          <p:nvPr/>
        </p:nvSpPr>
        <p:spPr>
          <a:xfrm>
            <a:off x="6519862" y="5331023"/>
            <a:ext cx="1600200" cy="108942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box198"/>
          <p:cNvSpPr/>
          <p:nvPr/>
        </p:nvSpPr>
        <p:spPr>
          <a:xfrm>
            <a:off x="6519862" y="641092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ox199"/>
          <p:cNvSpPr/>
          <p:nvPr/>
        </p:nvSpPr>
        <p:spPr>
          <a:xfrm>
            <a:off x="8120062" y="5331023"/>
            <a:ext cx="1652588" cy="108942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box200"/>
          <p:cNvSpPr/>
          <p:nvPr/>
        </p:nvSpPr>
        <p:spPr>
          <a:xfrm>
            <a:off x="8120062" y="641092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box201"/>
          <p:cNvSpPr/>
          <p:nvPr/>
        </p:nvSpPr>
        <p:spPr>
          <a:xfrm>
            <a:off x="9772650" y="641092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box202"/>
          <p:cNvSpPr/>
          <p:nvPr/>
        </p:nvSpPr>
        <p:spPr>
          <a:xfrm>
            <a:off x="3267075" y="6420445"/>
            <a:ext cx="1600200" cy="108942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box203"/>
          <p:cNvSpPr/>
          <p:nvPr/>
        </p:nvSpPr>
        <p:spPr>
          <a:xfrm>
            <a:off x="3267075" y="750034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box204"/>
          <p:cNvSpPr/>
          <p:nvPr/>
        </p:nvSpPr>
        <p:spPr>
          <a:xfrm>
            <a:off x="4857750" y="6420445"/>
            <a:ext cx="9525" cy="108942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box205"/>
          <p:cNvSpPr/>
          <p:nvPr/>
        </p:nvSpPr>
        <p:spPr>
          <a:xfrm>
            <a:off x="3352800" y="699001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box206"/>
          <p:cNvSpPr/>
          <p:nvPr/>
        </p:nvSpPr>
        <p:spPr>
          <a:xfrm>
            <a:off x="3619500" y="6990011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box207"/>
          <p:cNvSpPr/>
          <p:nvPr/>
        </p:nvSpPr>
        <p:spPr>
          <a:xfrm>
            <a:off x="3943350" y="6986885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box208"/>
          <p:cNvSpPr/>
          <p:nvPr/>
        </p:nvSpPr>
        <p:spPr>
          <a:xfrm>
            <a:off x="4867275" y="6420445"/>
            <a:ext cx="1652588" cy="108942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box209"/>
          <p:cNvSpPr/>
          <p:nvPr/>
        </p:nvSpPr>
        <p:spPr>
          <a:xfrm>
            <a:off x="4867275" y="750034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box210"/>
          <p:cNvSpPr/>
          <p:nvPr/>
        </p:nvSpPr>
        <p:spPr>
          <a:xfrm>
            <a:off x="6519862" y="6420445"/>
            <a:ext cx="1600200" cy="108942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box211"/>
          <p:cNvSpPr/>
          <p:nvPr/>
        </p:nvSpPr>
        <p:spPr>
          <a:xfrm>
            <a:off x="6519862" y="750034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box212"/>
          <p:cNvSpPr/>
          <p:nvPr/>
        </p:nvSpPr>
        <p:spPr>
          <a:xfrm>
            <a:off x="8120062" y="6420445"/>
            <a:ext cx="1652588" cy="108942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box213"/>
          <p:cNvSpPr/>
          <p:nvPr/>
        </p:nvSpPr>
        <p:spPr>
          <a:xfrm>
            <a:off x="8120062" y="750034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box214"/>
          <p:cNvSpPr/>
          <p:nvPr/>
        </p:nvSpPr>
        <p:spPr>
          <a:xfrm>
            <a:off x="9772650" y="750034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box215"/>
          <p:cNvSpPr/>
          <p:nvPr/>
        </p:nvSpPr>
        <p:spPr>
          <a:xfrm>
            <a:off x="3267075" y="7509867"/>
            <a:ext cx="1600200" cy="831056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box216"/>
          <p:cNvSpPr/>
          <p:nvPr/>
        </p:nvSpPr>
        <p:spPr>
          <a:xfrm>
            <a:off x="3267075" y="833139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box217"/>
          <p:cNvSpPr/>
          <p:nvPr/>
        </p:nvSpPr>
        <p:spPr>
          <a:xfrm>
            <a:off x="4857750" y="7509867"/>
            <a:ext cx="9525" cy="831056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box218"/>
          <p:cNvSpPr/>
          <p:nvPr/>
        </p:nvSpPr>
        <p:spPr>
          <a:xfrm>
            <a:off x="3352800" y="79502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box219"/>
          <p:cNvSpPr/>
          <p:nvPr/>
        </p:nvSpPr>
        <p:spPr>
          <a:xfrm>
            <a:off x="3619500" y="79502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box220"/>
          <p:cNvSpPr/>
          <p:nvPr/>
        </p:nvSpPr>
        <p:spPr>
          <a:xfrm>
            <a:off x="3905250" y="7947124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box221"/>
          <p:cNvSpPr/>
          <p:nvPr/>
        </p:nvSpPr>
        <p:spPr>
          <a:xfrm>
            <a:off x="4867275" y="7509867"/>
            <a:ext cx="1652588" cy="831056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box222"/>
          <p:cNvSpPr/>
          <p:nvPr/>
        </p:nvSpPr>
        <p:spPr>
          <a:xfrm>
            <a:off x="4867275" y="833139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box223"/>
          <p:cNvSpPr/>
          <p:nvPr/>
        </p:nvSpPr>
        <p:spPr>
          <a:xfrm>
            <a:off x="6519862" y="7509867"/>
            <a:ext cx="1600200" cy="831056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box224"/>
          <p:cNvSpPr/>
          <p:nvPr/>
        </p:nvSpPr>
        <p:spPr>
          <a:xfrm>
            <a:off x="6519862" y="833139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box225"/>
          <p:cNvSpPr/>
          <p:nvPr/>
        </p:nvSpPr>
        <p:spPr>
          <a:xfrm>
            <a:off x="8120062" y="7509867"/>
            <a:ext cx="1652588" cy="831056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box226"/>
          <p:cNvSpPr/>
          <p:nvPr/>
        </p:nvSpPr>
        <p:spPr>
          <a:xfrm>
            <a:off x="8120062" y="833139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box227"/>
          <p:cNvSpPr/>
          <p:nvPr/>
        </p:nvSpPr>
        <p:spPr>
          <a:xfrm>
            <a:off x="9772650" y="8331398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box228"/>
          <p:cNvSpPr/>
          <p:nvPr/>
        </p:nvSpPr>
        <p:spPr>
          <a:xfrm>
            <a:off x="3267075" y="8340923"/>
            <a:ext cx="1600200" cy="1132284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box229"/>
          <p:cNvSpPr/>
          <p:nvPr/>
        </p:nvSpPr>
        <p:spPr>
          <a:xfrm>
            <a:off x="3267075" y="946368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box230"/>
          <p:cNvSpPr/>
          <p:nvPr/>
        </p:nvSpPr>
        <p:spPr>
          <a:xfrm>
            <a:off x="4857750" y="8340923"/>
            <a:ext cx="9525" cy="1132284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box231"/>
          <p:cNvSpPr/>
          <p:nvPr/>
        </p:nvSpPr>
        <p:spPr>
          <a:xfrm>
            <a:off x="3352800" y="893192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box232"/>
          <p:cNvSpPr/>
          <p:nvPr/>
        </p:nvSpPr>
        <p:spPr>
          <a:xfrm>
            <a:off x="3657600" y="893192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box233"/>
          <p:cNvSpPr/>
          <p:nvPr/>
        </p:nvSpPr>
        <p:spPr>
          <a:xfrm>
            <a:off x="3962400" y="89319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box234"/>
          <p:cNvSpPr/>
          <p:nvPr/>
        </p:nvSpPr>
        <p:spPr>
          <a:xfrm>
            <a:off x="4248150" y="8928795"/>
            <a:ext cx="4286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box235"/>
          <p:cNvSpPr/>
          <p:nvPr/>
        </p:nvSpPr>
        <p:spPr>
          <a:xfrm>
            <a:off x="4867275" y="8340923"/>
            <a:ext cx="1652588" cy="1132284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box236"/>
          <p:cNvSpPr/>
          <p:nvPr/>
        </p:nvSpPr>
        <p:spPr>
          <a:xfrm>
            <a:off x="4867275" y="946368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box237"/>
          <p:cNvSpPr/>
          <p:nvPr/>
        </p:nvSpPr>
        <p:spPr>
          <a:xfrm>
            <a:off x="6519862" y="8340923"/>
            <a:ext cx="1600200" cy="1132284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box238"/>
          <p:cNvSpPr/>
          <p:nvPr/>
        </p:nvSpPr>
        <p:spPr>
          <a:xfrm>
            <a:off x="6519862" y="946368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box239"/>
          <p:cNvSpPr/>
          <p:nvPr/>
        </p:nvSpPr>
        <p:spPr>
          <a:xfrm>
            <a:off x="8120062" y="8340923"/>
            <a:ext cx="1652588" cy="1132284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box240"/>
          <p:cNvSpPr/>
          <p:nvPr/>
        </p:nvSpPr>
        <p:spPr>
          <a:xfrm>
            <a:off x="8120062" y="946368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box241"/>
          <p:cNvSpPr/>
          <p:nvPr/>
        </p:nvSpPr>
        <p:spPr>
          <a:xfrm>
            <a:off x="9772650" y="9463683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box242"/>
          <p:cNvSpPr/>
          <p:nvPr/>
        </p:nvSpPr>
        <p:spPr>
          <a:xfrm>
            <a:off x="3267075" y="9473208"/>
            <a:ext cx="1600200" cy="1090017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box243"/>
          <p:cNvSpPr/>
          <p:nvPr/>
        </p:nvSpPr>
        <p:spPr>
          <a:xfrm>
            <a:off x="3267075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box244"/>
          <p:cNvSpPr/>
          <p:nvPr/>
        </p:nvSpPr>
        <p:spPr>
          <a:xfrm>
            <a:off x="4857750" y="9473208"/>
            <a:ext cx="9525" cy="1090017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box245"/>
          <p:cNvSpPr/>
          <p:nvPr/>
        </p:nvSpPr>
        <p:spPr>
          <a:xfrm>
            <a:off x="3352800" y="10043071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box246"/>
          <p:cNvSpPr/>
          <p:nvPr/>
        </p:nvSpPr>
        <p:spPr>
          <a:xfrm>
            <a:off x="3657600" y="10043071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box247"/>
          <p:cNvSpPr/>
          <p:nvPr/>
        </p:nvSpPr>
        <p:spPr>
          <a:xfrm>
            <a:off x="3924300" y="10039945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box248"/>
          <p:cNvSpPr/>
          <p:nvPr/>
        </p:nvSpPr>
        <p:spPr>
          <a:xfrm>
            <a:off x="4867275" y="9473208"/>
            <a:ext cx="1652588" cy="1090017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box249"/>
          <p:cNvSpPr/>
          <p:nvPr/>
        </p:nvSpPr>
        <p:spPr>
          <a:xfrm>
            <a:off x="4867275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box250"/>
          <p:cNvSpPr/>
          <p:nvPr/>
        </p:nvSpPr>
        <p:spPr>
          <a:xfrm>
            <a:off x="6519862" y="9473208"/>
            <a:ext cx="1600200" cy="1090017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box251"/>
          <p:cNvSpPr/>
          <p:nvPr/>
        </p:nvSpPr>
        <p:spPr>
          <a:xfrm>
            <a:off x="6519862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box252"/>
          <p:cNvSpPr/>
          <p:nvPr/>
        </p:nvSpPr>
        <p:spPr>
          <a:xfrm>
            <a:off x="8120062" y="9473208"/>
            <a:ext cx="1652588" cy="1090017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box253"/>
          <p:cNvSpPr/>
          <p:nvPr/>
        </p:nvSpPr>
        <p:spPr>
          <a:xfrm>
            <a:off x="8120062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box254"/>
          <p:cNvSpPr/>
          <p:nvPr/>
        </p:nvSpPr>
        <p:spPr>
          <a:xfrm>
            <a:off x="9772650" y="1055370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box255"/>
          <p:cNvSpPr/>
          <p:nvPr/>
        </p:nvSpPr>
        <p:spPr>
          <a:xfrm>
            <a:off x="11744325" y="1162050"/>
            <a:ext cx="3238500" cy="9410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box256"/>
          <p:cNvSpPr/>
          <p:nvPr/>
        </p:nvSpPr>
        <p:spPr>
          <a:xfrm>
            <a:off x="11753850" y="1171575"/>
            <a:ext cx="321945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box257"/>
          <p:cNvSpPr/>
          <p:nvPr/>
        </p:nvSpPr>
        <p:spPr>
          <a:xfrm>
            <a:off x="118681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box258"/>
          <p:cNvSpPr/>
          <p:nvPr/>
        </p:nvSpPr>
        <p:spPr>
          <a:xfrm>
            <a:off x="11849100" y="1633984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box259"/>
          <p:cNvSpPr/>
          <p:nvPr/>
        </p:nvSpPr>
        <p:spPr>
          <a:xfrm>
            <a:off x="11858625" y="1643509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box260"/>
          <p:cNvSpPr/>
          <p:nvPr/>
        </p:nvSpPr>
        <p:spPr>
          <a:xfrm>
            <a:off x="11953875" y="220325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box261"/>
          <p:cNvSpPr/>
          <p:nvPr/>
        </p:nvSpPr>
        <p:spPr>
          <a:xfrm>
            <a:off x="11953875" y="30142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box262"/>
          <p:cNvSpPr/>
          <p:nvPr/>
        </p:nvSpPr>
        <p:spPr>
          <a:xfrm>
            <a:off x="11849100" y="386149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box263"/>
          <p:cNvSpPr/>
          <p:nvPr/>
        </p:nvSpPr>
        <p:spPr>
          <a:xfrm>
            <a:off x="11858625" y="387102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box264"/>
          <p:cNvSpPr/>
          <p:nvPr/>
        </p:nvSpPr>
        <p:spPr>
          <a:xfrm>
            <a:off x="11953875" y="44175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box265"/>
          <p:cNvSpPr/>
          <p:nvPr/>
        </p:nvSpPr>
        <p:spPr>
          <a:xfrm>
            <a:off x="11953875" y="521508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box266"/>
          <p:cNvSpPr/>
          <p:nvPr/>
        </p:nvSpPr>
        <p:spPr>
          <a:xfrm>
            <a:off x="11849100" y="608900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box267"/>
          <p:cNvSpPr/>
          <p:nvPr/>
        </p:nvSpPr>
        <p:spPr>
          <a:xfrm>
            <a:off x="11858625" y="609853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5662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box268"/>
          <p:cNvSpPr/>
          <p:nvPr/>
        </p:nvSpPr>
        <p:spPr>
          <a:xfrm>
            <a:off x="11953875" y="668506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box269"/>
          <p:cNvSpPr/>
          <p:nvPr/>
        </p:nvSpPr>
        <p:spPr>
          <a:xfrm>
            <a:off x="11953875" y="7482780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box270"/>
          <p:cNvSpPr/>
          <p:nvPr/>
        </p:nvSpPr>
        <p:spPr>
          <a:xfrm>
            <a:off x="11849100" y="8316516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box271"/>
          <p:cNvSpPr/>
          <p:nvPr/>
        </p:nvSpPr>
        <p:spPr>
          <a:xfrm>
            <a:off x="11858625" y="8326041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box272"/>
          <p:cNvSpPr/>
          <p:nvPr/>
        </p:nvSpPr>
        <p:spPr>
          <a:xfrm>
            <a:off x="11953875" y="8899178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box273"/>
          <p:cNvSpPr/>
          <p:nvPr/>
        </p:nvSpPr>
        <p:spPr>
          <a:xfrm>
            <a:off x="11953875" y="9683353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text274"/>
          <p:cNvSpPr txBox="1"/>
          <p:nvPr/>
        </p:nvSpPr>
        <p:spPr>
          <a:xfrm>
            <a:off x="4162425" y="252264"/>
            <a:ext cx="4464558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2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Strategy Storyboard </a:t>
            </a:r>
            <a:r>
              <a:rPr sz="2250" b="1">
                <a:solidFill>
                  <a:srgbClr val="C39A2E"/>
                </a:solidFill>
                <a:latin typeface="Kanit"/>
                <a:ea typeface="Kanit"/>
                <a:cs typeface="Kanit"/>
              </a:rPr>
              <a:t>2569–2573</a:t>
            </a:r>
          </a:p>
        </p:txBody>
      </p:sp>
      <p:sp>
        <p:nvSpPr>
          <p:cNvPr id="277" name="text275"/>
          <p:cNvSpPr txBox="1"/>
          <p:nvPr/>
        </p:nvSpPr>
        <p:spPr>
          <a:xfrm>
            <a:off x="4229100" y="680889"/>
            <a:ext cx="5048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① SFAS</a:t>
            </a:r>
          </a:p>
        </p:txBody>
      </p:sp>
      <p:sp>
        <p:nvSpPr>
          <p:cNvPr id="278" name="text276"/>
          <p:cNvSpPr txBox="1"/>
          <p:nvPr/>
        </p:nvSpPr>
        <p:spPr>
          <a:xfrm>
            <a:off x="4857750" y="680889"/>
            <a:ext cx="1714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79" name="text277"/>
          <p:cNvSpPr txBox="1"/>
          <p:nvPr/>
        </p:nvSpPr>
        <p:spPr>
          <a:xfrm>
            <a:off x="5095875" y="680889"/>
            <a:ext cx="6000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② องค์กร</a:t>
            </a:r>
          </a:p>
        </p:txBody>
      </p:sp>
      <p:sp>
        <p:nvSpPr>
          <p:cNvPr id="280" name="text278"/>
          <p:cNvSpPr txBox="1"/>
          <p:nvPr/>
        </p:nvSpPr>
        <p:spPr>
          <a:xfrm>
            <a:off x="5819775" y="680889"/>
            <a:ext cx="1714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1" name="text279"/>
          <p:cNvSpPr txBox="1"/>
          <p:nvPr/>
        </p:nvSpPr>
        <p:spPr>
          <a:xfrm>
            <a:off x="6057900" y="680889"/>
            <a:ext cx="5048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③ ธุรกิจ</a:t>
            </a:r>
          </a:p>
        </p:txBody>
      </p:sp>
      <p:sp>
        <p:nvSpPr>
          <p:cNvPr id="282" name="text280"/>
          <p:cNvSpPr txBox="1"/>
          <p:nvPr/>
        </p:nvSpPr>
        <p:spPr>
          <a:xfrm>
            <a:off x="6686550" y="680889"/>
            <a:ext cx="1714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3" name="text281"/>
          <p:cNvSpPr txBox="1"/>
          <p:nvPr/>
        </p:nvSpPr>
        <p:spPr>
          <a:xfrm>
            <a:off x="6924675" y="680889"/>
            <a:ext cx="4953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④ หน้าที่</a:t>
            </a:r>
          </a:p>
        </p:txBody>
      </p:sp>
      <p:sp>
        <p:nvSpPr>
          <p:cNvPr id="284" name="text282"/>
          <p:cNvSpPr txBox="1"/>
          <p:nvPr/>
        </p:nvSpPr>
        <p:spPr>
          <a:xfrm>
            <a:off x="7543800" y="680889"/>
            <a:ext cx="1714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5" name="text283"/>
          <p:cNvSpPr txBox="1"/>
          <p:nvPr/>
        </p:nvSpPr>
        <p:spPr>
          <a:xfrm>
            <a:off x="7781925" y="680889"/>
            <a:ext cx="7620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⑤ ประเมินผล</a:t>
            </a:r>
          </a:p>
        </p:txBody>
      </p:sp>
      <p:sp>
        <p:nvSpPr>
          <p:cNvPr id="286" name="text284"/>
          <p:cNvSpPr txBox="1"/>
          <p:nvPr/>
        </p:nvSpPr>
        <p:spPr>
          <a:xfrm>
            <a:off x="8921383" y="841325"/>
            <a:ext cx="82296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เสื้อผ้าสำเร็จรูป</a:t>
            </a:r>
          </a:p>
        </p:txBody>
      </p:sp>
      <p:sp>
        <p:nvSpPr>
          <p:cNvPr id="287" name="text285"/>
          <p:cNvSpPr txBox="1"/>
          <p:nvPr/>
        </p:nvSpPr>
        <p:spPr>
          <a:xfrm>
            <a:off x="9879943" y="841325"/>
            <a:ext cx="95669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เครื่องแบบองค์กร</a:t>
            </a:r>
          </a:p>
        </p:txBody>
      </p:sp>
      <p:sp>
        <p:nvSpPr>
          <p:cNvPr id="288" name="text286"/>
          <p:cNvSpPr txBox="1"/>
          <p:nvPr/>
        </p:nvSpPr>
        <p:spPr>
          <a:xfrm>
            <a:off x="11026676" y="841325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ชุดการแพทย์</a:t>
            </a:r>
          </a:p>
        </p:txBody>
      </p:sp>
      <p:sp>
        <p:nvSpPr>
          <p:cNvPr id="289" name="text287"/>
          <p:cNvSpPr txBox="1"/>
          <p:nvPr/>
        </p:nvSpPr>
        <p:spPr>
          <a:xfrm>
            <a:off x="12194977" y="841325"/>
            <a:ext cx="4286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ชุดกีฬา</a:t>
            </a:r>
          </a:p>
        </p:txBody>
      </p:sp>
      <p:sp>
        <p:nvSpPr>
          <p:cNvPr id="290" name="text288"/>
          <p:cNvSpPr txBox="1"/>
          <p:nvPr/>
        </p:nvSpPr>
        <p:spPr>
          <a:xfrm>
            <a:off x="13049101" y="841325"/>
            <a:ext cx="7715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เสื้อยืด / ชั้นใน</a:t>
            </a:r>
          </a:p>
        </p:txBody>
      </p:sp>
      <p:sp>
        <p:nvSpPr>
          <p:cNvPr id="291" name="text289"/>
          <p:cNvSpPr txBox="1"/>
          <p:nvPr/>
        </p:nvSpPr>
        <p:spPr>
          <a:xfrm>
            <a:off x="14117538" y="841325"/>
            <a:ext cx="685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ผ้านวัตกรรม</a:t>
            </a:r>
          </a:p>
        </p:txBody>
      </p:sp>
      <p:sp>
        <p:nvSpPr>
          <p:cNvPr id="292" name="text290"/>
          <p:cNvSpPr txBox="1"/>
          <p:nvPr/>
        </p:nvSpPr>
        <p:spPr>
          <a:xfrm>
            <a:off x="581025" y="1209675"/>
            <a:ext cx="1635633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SFAS ปัจจัยที่เลือก</a:t>
            </a:r>
          </a:p>
        </p:txBody>
      </p:sp>
      <p:sp>
        <p:nvSpPr>
          <p:cNvPr id="293" name="text291"/>
          <p:cNvSpPr txBox="1"/>
          <p:nvPr/>
        </p:nvSpPr>
        <p:spPr>
          <a:xfrm>
            <a:off x="328612" y="1248370"/>
            <a:ext cx="10477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294" name="text292"/>
          <p:cNvSpPr txBox="1"/>
          <p:nvPr/>
        </p:nvSpPr>
        <p:spPr>
          <a:xfrm>
            <a:off x="581025" y="1633984"/>
            <a:ext cx="3905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ปัจจัย</a:t>
            </a:r>
          </a:p>
        </p:txBody>
      </p:sp>
      <p:sp>
        <p:nvSpPr>
          <p:cNvPr id="295" name="text293"/>
          <p:cNvSpPr txBox="1"/>
          <p:nvPr/>
        </p:nvSpPr>
        <p:spPr>
          <a:xfrm>
            <a:off x="2019300" y="1633984"/>
            <a:ext cx="1809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</a:t>
            </a:r>
          </a:p>
        </p:txBody>
      </p:sp>
      <p:sp>
        <p:nvSpPr>
          <p:cNvPr id="296" name="text294"/>
          <p:cNvSpPr txBox="1"/>
          <p:nvPr/>
        </p:nvSpPr>
        <p:spPr>
          <a:xfrm>
            <a:off x="2276475" y="1633984"/>
            <a:ext cx="1428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R</a:t>
            </a:r>
          </a:p>
        </p:txBody>
      </p:sp>
      <p:sp>
        <p:nvSpPr>
          <p:cNvPr id="297" name="text295"/>
          <p:cNvSpPr txBox="1"/>
          <p:nvPr/>
        </p:nvSpPr>
        <p:spPr>
          <a:xfrm>
            <a:off x="2452688" y="1633984"/>
            <a:ext cx="2571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WS</a:t>
            </a:r>
          </a:p>
        </p:txBody>
      </p:sp>
      <p:sp>
        <p:nvSpPr>
          <p:cNvPr id="298" name="text296"/>
          <p:cNvSpPr txBox="1"/>
          <p:nvPr/>
        </p:nvSpPr>
        <p:spPr>
          <a:xfrm>
            <a:off x="2743200" y="1633984"/>
            <a:ext cx="314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ระยะ</a:t>
            </a:r>
          </a:p>
        </p:txBody>
      </p:sp>
      <p:sp>
        <p:nvSpPr>
          <p:cNvPr id="299" name="text297"/>
          <p:cNvSpPr txBox="1"/>
          <p:nvPr/>
        </p:nvSpPr>
        <p:spPr>
          <a:xfrm>
            <a:off x="295275" y="1888480"/>
            <a:ext cx="7715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ปัจจัยภายใน</a:t>
            </a:r>
          </a:p>
        </p:txBody>
      </p:sp>
      <p:sp>
        <p:nvSpPr>
          <p:cNvPr id="300" name="text298"/>
          <p:cNvSpPr txBox="1"/>
          <p:nvPr/>
        </p:nvSpPr>
        <p:spPr>
          <a:xfrm>
            <a:off x="304800" y="2294037"/>
            <a:ext cx="1809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301" name="text299"/>
          <p:cNvSpPr txBox="1"/>
          <p:nvPr/>
        </p:nvSpPr>
        <p:spPr>
          <a:xfrm>
            <a:off x="571500" y="2187476"/>
            <a:ext cx="1381125" cy="375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ผลิตครบวงจร OEM/ODM</a:t>
            </a:r>
          </a:p>
        </p:txBody>
      </p:sp>
      <p:sp>
        <p:nvSpPr>
          <p:cNvPr id="302" name="text300"/>
          <p:cNvSpPr txBox="1"/>
          <p:nvPr/>
        </p:nvSpPr>
        <p:spPr>
          <a:xfrm>
            <a:off x="1990725" y="2284512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03" name="text301"/>
          <p:cNvSpPr txBox="1"/>
          <p:nvPr/>
        </p:nvSpPr>
        <p:spPr>
          <a:xfrm>
            <a:off x="2281238" y="2284512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04" name="text302"/>
          <p:cNvSpPr txBox="1"/>
          <p:nvPr/>
        </p:nvSpPr>
        <p:spPr>
          <a:xfrm>
            <a:off x="2414588" y="2284512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05" name="text303"/>
          <p:cNvSpPr txBox="1"/>
          <p:nvPr/>
        </p:nvSpPr>
        <p:spPr>
          <a:xfrm>
            <a:off x="2843212" y="2312045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06" name="text304"/>
          <p:cNvSpPr txBox="1"/>
          <p:nvPr/>
        </p:nvSpPr>
        <p:spPr>
          <a:xfrm>
            <a:off x="295275" y="2691259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307" name="text305"/>
          <p:cNvSpPr txBox="1"/>
          <p:nvPr/>
        </p:nvSpPr>
        <p:spPr>
          <a:xfrm>
            <a:off x="571500" y="2681734"/>
            <a:ext cx="142989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นวัตกรรมสิ่งทอรักษ์โลก</a:t>
            </a:r>
          </a:p>
        </p:txBody>
      </p:sp>
      <p:sp>
        <p:nvSpPr>
          <p:cNvPr id="308" name="text306"/>
          <p:cNvSpPr txBox="1"/>
          <p:nvPr/>
        </p:nvSpPr>
        <p:spPr>
          <a:xfrm>
            <a:off x="1990725" y="2681734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09" name="text307"/>
          <p:cNvSpPr txBox="1"/>
          <p:nvPr/>
        </p:nvSpPr>
        <p:spPr>
          <a:xfrm>
            <a:off x="2281238" y="2681734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10" name="text308"/>
          <p:cNvSpPr txBox="1"/>
          <p:nvPr/>
        </p:nvSpPr>
        <p:spPr>
          <a:xfrm>
            <a:off x="2414588" y="2681734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0.45</a:t>
            </a:r>
          </a:p>
        </p:txBody>
      </p:sp>
      <p:sp>
        <p:nvSpPr>
          <p:cNvPr id="311" name="text309"/>
          <p:cNvSpPr txBox="1"/>
          <p:nvPr/>
        </p:nvSpPr>
        <p:spPr>
          <a:xfrm>
            <a:off x="2843212" y="2709267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12" name="text310"/>
          <p:cNvSpPr txBox="1"/>
          <p:nvPr/>
        </p:nvSpPr>
        <p:spPr>
          <a:xfrm>
            <a:off x="295275" y="2992487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313" name="text311"/>
          <p:cNvSpPr txBox="1"/>
          <p:nvPr/>
        </p:nvSpPr>
        <p:spPr>
          <a:xfrm>
            <a:off x="571500" y="2982962"/>
            <a:ext cx="115214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ฐานะการเงินมั่นคง</a:t>
            </a:r>
          </a:p>
        </p:txBody>
      </p:sp>
      <p:sp>
        <p:nvSpPr>
          <p:cNvPr id="314" name="text312"/>
          <p:cNvSpPr txBox="1"/>
          <p:nvPr/>
        </p:nvSpPr>
        <p:spPr>
          <a:xfrm>
            <a:off x="1990725" y="2982962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.07</a:t>
            </a:r>
          </a:p>
        </p:txBody>
      </p:sp>
      <p:sp>
        <p:nvSpPr>
          <p:cNvPr id="315" name="text313"/>
          <p:cNvSpPr txBox="1"/>
          <p:nvPr/>
        </p:nvSpPr>
        <p:spPr>
          <a:xfrm>
            <a:off x="2281238" y="2982962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16" name="text314"/>
          <p:cNvSpPr txBox="1"/>
          <p:nvPr/>
        </p:nvSpPr>
        <p:spPr>
          <a:xfrm>
            <a:off x="2414588" y="2982962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0.21</a:t>
            </a:r>
          </a:p>
        </p:txBody>
      </p:sp>
      <p:sp>
        <p:nvSpPr>
          <p:cNvPr id="317" name="text315"/>
          <p:cNvSpPr txBox="1"/>
          <p:nvPr/>
        </p:nvSpPr>
        <p:spPr>
          <a:xfrm>
            <a:off x="2843212" y="3010495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18" name="text316"/>
          <p:cNvSpPr txBox="1"/>
          <p:nvPr/>
        </p:nvSpPr>
        <p:spPr>
          <a:xfrm>
            <a:off x="285750" y="3293715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319" name="text317"/>
          <p:cNvSpPr txBox="1"/>
          <p:nvPr/>
        </p:nvSpPr>
        <p:spPr>
          <a:xfrm>
            <a:off x="571500" y="3284190"/>
            <a:ext cx="132702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พึ่งพาลูกค้า ICC 40%</a:t>
            </a:r>
          </a:p>
        </p:txBody>
      </p:sp>
      <p:sp>
        <p:nvSpPr>
          <p:cNvPr id="320" name="text318"/>
          <p:cNvSpPr txBox="1"/>
          <p:nvPr/>
        </p:nvSpPr>
        <p:spPr>
          <a:xfrm>
            <a:off x="1990725" y="3284190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.12</a:t>
            </a:r>
          </a:p>
        </p:txBody>
      </p:sp>
      <p:sp>
        <p:nvSpPr>
          <p:cNvPr id="321" name="text319"/>
          <p:cNvSpPr txBox="1"/>
          <p:nvPr/>
        </p:nvSpPr>
        <p:spPr>
          <a:xfrm>
            <a:off x="2281238" y="3284190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22" name="text320"/>
          <p:cNvSpPr txBox="1"/>
          <p:nvPr/>
        </p:nvSpPr>
        <p:spPr>
          <a:xfrm>
            <a:off x="2414588" y="3284190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23" name="text321"/>
          <p:cNvSpPr txBox="1"/>
          <p:nvPr/>
        </p:nvSpPr>
        <p:spPr>
          <a:xfrm>
            <a:off x="2857500" y="3311723"/>
            <a:ext cx="857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24" name="text322"/>
          <p:cNvSpPr txBox="1"/>
          <p:nvPr/>
        </p:nvSpPr>
        <p:spPr>
          <a:xfrm>
            <a:off x="276225" y="3594943"/>
            <a:ext cx="2381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325" name="text323"/>
          <p:cNvSpPr txBox="1"/>
          <p:nvPr/>
        </p:nvSpPr>
        <p:spPr>
          <a:xfrm>
            <a:off x="571500" y="3585418"/>
            <a:ext cx="103898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ต้นทุนแรงงานสูง</a:t>
            </a:r>
          </a:p>
        </p:txBody>
      </p:sp>
      <p:sp>
        <p:nvSpPr>
          <p:cNvPr id="326" name="text324"/>
          <p:cNvSpPr txBox="1"/>
          <p:nvPr/>
        </p:nvSpPr>
        <p:spPr>
          <a:xfrm>
            <a:off x="1990725" y="3585418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27" name="text325"/>
          <p:cNvSpPr txBox="1"/>
          <p:nvPr/>
        </p:nvSpPr>
        <p:spPr>
          <a:xfrm>
            <a:off x="2281238" y="3585418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28" name="text326"/>
          <p:cNvSpPr txBox="1"/>
          <p:nvPr/>
        </p:nvSpPr>
        <p:spPr>
          <a:xfrm>
            <a:off x="2414588" y="3585418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0.16</a:t>
            </a:r>
          </a:p>
        </p:txBody>
      </p:sp>
      <p:sp>
        <p:nvSpPr>
          <p:cNvPr id="329" name="text327"/>
          <p:cNvSpPr txBox="1"/>
          <p:nvPr/>
        </p:nvSpPr>
        <p:spPr>
          <a:xfrm>
            <a:off x="2843212" y="3612952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30" name="text328"/>
          <p:cNvSpPr txBox="1"/>
          <p:nvPr/>
        </p:nvSpPr>
        <p:spPr>
          <a:xfrm>
            <a:off x="276225" y="3896171"/>
            <a:ext cx="2381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331" name="text329"/>
          <p:cNvSpPr txBox="1"/>
          <p:nvPr/>
        </p:nvSpPr>
        <p:spPr>
          <a:xfrm>
            <a:off x="571500" y="3886646"/>
            <a:ext cx="100812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สต็อกสูง หมุนช้า</a:t>
            </a:r>
          </a:p>
        </p:txBody>
      </p:sp>
      <p:sp>
        <p:nvSpPr>
          <p:cNvPr id="332" name="text330"/>
          <p:cNvSpPr txBox="1"/>
          <p:nvPr/>
        </p:nvSpPr>
        <p:spPr>
          <a:xfrm>
            <a:off x="1990725" y="3886646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33" name="text331"/>
          <p:cNvSpPr txBox="1"/>
          <p:nvPr/>
        </p:nvSpPr>
        <p:spPr>
          <a:xfrm>
            <a:off x="2281238" y="3886646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34" name="text332"/>
          <p:cNvSpPr txBox="1"/>
          <p:nvPr/>
        </p:nvSpPr>
        <p:spPr>
          <a:xfrm>
            <a:off x="2414588" y="3886646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0.18</a:t>
            </a:r>
          </a:p>
        </p:txBody>
      </p:sp>
      <p:sp>
        <p:nvSpPr>
          <p:cNvPr id="335" name="text333"/>
          <p:cNvSpPr txBox="1"/>
          <p:nvPr/>
        </p:nvSpPr>
        <p:spPr>
          <a:xfrm>
            <a:off x="2838450" y="3914180"/>
            <a:ext cx="1238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36" name="text334"/>
          <p:cNvSpPr txBox="1"/>
          <p:nvPr/>
        </p:nvSpPr>
        <p:spPr>
          <a:xfrm>
            <a:off x="295275" y="4148733"/>
            <a:ext cx="90525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ปัจจัยภายนอก</a:t>
            </a:r>
          </a:p>
        </p:txBody>
      </p:sp>
      <p:sp>
        <p:nvSpPr>
          <p:cNvPr id="337" name="text335"/>
          <p:cNvSpPr txBox="1"/>
          <p:nvPr/>
        </p:nvSpPr>
        <p:spPr>
          <a:xfrm>
            <a:off x="295275" y="4458295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338" name="text336"/>
          <p:cNvSpPr txBox="1"/>
          <p:nvPr/>
        </p:nvSpPr>
        <p:spPr>
          <a:xfrm>
            <a:off x="571500" y="4448770"/>
            <a:ext cx="125501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เทรนด์สินค้ารักษ์โลก</a:t>
            </a:r>
          </a:p>
        </p:txBody>
      </p:sp>
      <p:sp>
        <p:nvSpPr>
          <p:cNvPr id="339" name="text337"/>
          <p:cNvSpPr txBox="1"/>
          <p:nvPr/>
        </p:nvSpPr>
        <p:spPr>
          <a:xfrm>
            <a:off x="1990725" y="4448770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40" name="text338"/>
          <p:cNvSpPr txBox="1"/>
          <p:nvPr/>
        </p:nvSpPr>
        <p:spPr>
          <a:xfrm>
            <a:off x="2281238" y="4448770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41" name="text339"/>
          <p:cNvSpPr txBox="1"/>
          <p:nvPr/>
        </p:nvSpPr>
        <p:spPr>
          <a:xfrm>
            <a:off x="2414588" y="4448770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42" name="text340"/>
          <p:cNvSpPr txBox="1"/>
          <p:nvPr/>
        </p:nvSpPr>
        <p:spPr>
          <a:xfrm>
            <a:off x="2843212" y="4476304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43" name="text341"/>
          <p:cNvSpPr txBox="1"/>
          <p:nvPr/>
        </p:nvSpPr>
        <p:spPr>
          <a:xfrm>
            <a:off x="285750" y="4759523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344" name="text342"/>
          <p:cNvSpPr txBox="1"/>
          <p:nvPr/>
        </p:nvSpPr>
        <p:spPr>
          <a:xfrm>
            <a:off x="571500" y="4749998"/>
            <a:ext cx="133731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ตลาดชุดเฉพาะทางโต</a:t>
            </a:r>
          </a:p>
        </p:txBody>
      </p:sp>
      <p:sp>
        <p:nvSpPr>
          <p:cNvPr id="345" name="text343"/>
          <p:cNvSpPr txBox="1"/>
          <p:nvPr/>
        </p:nvSpPr>
        <p:spPr>
          <a:xfrm>
            <a:off x="1990725" y="4749998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46" name="text344"/>
          <p:cNvSpPr txBox="1"/>
          <p:nvPr/>
        </p:nvSpPr>
        <p:spPr>
          <a:xfrm>
            <a:off x="2281238" y="4749998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47" name="text345"/>
          <p:cNvSpPr txBox="1"/>
          <p:nvPr/>
        </p:nvSpPr>
        <p:spPr>
          <a:xfrm>
            <a:off x="2414588" y="4749998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48" name="text346"/>
          <p:cNvSpPr txBox="1"/>
          <p:nvPr/>
        </p:nvSpPr>
        <p:spPr>
          <a:xfrm>
            <a:off x="2857500" y="4777532"/>
            <a:ext cx="857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49" name="text347"/>
          <p:cNvSpPr txBox="1"/>
          <p:nvPr/>
        </p:nvSpPr>
        <p:spPr>
          <a:xfrm>
            <a:off x="285750" y="5060752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350" name="text348"/>
          <p:cNvSpPr txBox="1"/>
          <p:nvPr/>
        </p:nvSpPr>
        <p:spPr>
          <a:xfrm>
            <a:off x="571500" y="5051227"/>
            <a:ext cx="104927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สิทธิภาษีอาเซียน</a:t>
            </a:r>
          </a:p>
        </p:txBody>
      </p:sp>
      <p:sp>
        <p:nvSpPr>
          <p:cNvPr id="351" name="text349"/>
          <p:cNvSpPr txBox="1"/>
          <p:nvPr/>
        </p:nvSpPr>
        <p:spPr>
          <a:xfrm>
            <a:off x="1990725" y="5051227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52" name="text350"/>
          <p:cNvSpPr txBox="1"/>
          <p:nvPr/>
        </p:nvSpPr>
        <p:spPr>
          <a:xfrm>
            <a:off x="2281238" y="5051227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53" name="text351"/>
          <p:cNvSpPr txBox="1"/>
          <p:nvPr/>
        </p:nvSpPr>
        <p:spPr>
          <a:xfrm>
            <a:off x="2414588" y="5051227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54" name="text352"/>
          <p:cNvSpPr txBox="1"/>
          <p:nvPr/>
        </p:nvSpPr>
        <p:spPr>
          <a:xfrm>
            <a:off x="2857500" y="5078760"/>
            <a:ext cx="857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55" name="text353"/>
          <p:cNvSpPr txBox="1"/>
          <p:nvPr/>
        </p:nvSpPr>
        <p:spPr>
          <a:xfrm>
            <a:off x="304800" y="5361980"/>
            <a:ext cx="1809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T1</a:t>
            </a:r>
          </a:p>
        </p:txBody>
      </p:sp>
      <p:sp>
        <p:nvSpPr>
          <p:cNvPr id="356" name="text354"/>
          <p:cNvSpPr txBox="1"/>
          <p:nvPr/>
        </p:nvSpPr>
        <p:spPr>
          <a:xfrm>
            <a:off x="571500" y="5352455"/>
            <a:ext cx="113157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กำแพงภาษีสหรัฐฯ</a:t>
            </a:r>
          </a:p>
        </p:txBody>
      </p:sp>
      <p:sp>
        <p:nvSpPr>
          <p:cNvPr id="357" name="text355"/>
          <p:cNvSpPr txBox="1"/>
          <p:nvPr/>
        </p:nvSpPr>
        <p:spPr>
          <a:xfrm>
            <a:off x="1990725" y="5352455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.11</a:t>
            </a:r>
          </a:p>
        </p:txBody>
      </p:sp>
      <p:sp>
        <p:nvSpPr>
          <p:cNvPr id="358" name="text356"/>
          <p:cNvSpPr txBox="1"/>
          <p:nvPr/>
        </p:nvSpPr>
        <p:spPr>
          <a:xfrm>
            <a:off x="2281238" y="5352455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59" name="text357"/>
          <p:cNvSpPr txBox="1"/>
          <p:nvPr/>
        </p:nvSpPr>
        <p:spPr>
          <a:xfrm>
            <a:off x="2414588" y="5352455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0.22</a:t>
            </a:r>
          </a:p>
        </p:txBody>
      </p:sp>
      <p:sp>
        <p:nvSpPr>
          <p:cNvPr id="360" name="text358"/>
          <p:cNvSpPr txBox="1"/>
          <p:nvPr/>
        </p:nvSpPr>
        <p:spPr>
          <a:xfrm>
            <a:off x="2838450" y="5379988"/>
            <a:ext cx="1238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61" name="text359"/>
          <p:cNvSpPr txBox="1"/>
          <p:nvPr/>
        </p:nvSpPr>
        <p:spPr>
          <a:xfrm>
            <a:off x="295275" y="5663208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362" name="text360"/>
          <p:cNvSpPr txBox="1"/>
          <p:nvPr/>
        </p:nvSpPr>
        <p:spPr>
          <a:xfrm>
            <a:off x="571500" y="5653683"/>
            <a:ext cx="1028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แข่งขันด้านราคา</a:t>
            </a:r>
          </a:p>
        </p:txBody>
      </p:sp>
      <p:sp>
        <p:nvSpPr>
          <p:cNvPr id="363" name="text361"/>
          <p:cNvSpPr txBox="1"/>
          <p:nvPr/>
        </p:nvSpPr>
        <p:spPr>
          <a:xfrm>
            <a:off x="1990725" y="5653683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64" name="text362"/>
          <p:cNvSpPr txBox="1"/>
          <p:nvPr/>
        </p:nvSpPr>
        <p:spPr>
          <a:xfrm>
            <a:off x="2281238" y="5653683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65" name="text363"/>
          <p:cNvSpPr txBox="1"/>
          <p:nvPr/>
        </p:nvSpPr>
        <p:spPr>
          <a:xfrm>
            <a:off x="2414588" y="5653683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66" name="text364"/>
          <p:cNvSpPr txBox="1"/>
          <p:nvPr/>
        </p:nvSpPr>
        <p:spPr>
          <a:xfrm>
            <a:off x="2843212" y="5681216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67" name="text365"/>
          <p:cNvSpPr txBox="1"/>
          <p:nvPr/>
        </p:nvSpPr>
        <p:spPr>
          <a:xfrm>
            <a:off x="295275" y="5964436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368" name="text366"/>
          <p:cNvSpPr txBox="1"/>
          <p:nvPr/>
        </p:nvSpPr>
        <p:spPr>
          <a:xfrm>
            <a:off x="571500" y="5954911"/>
            <a:ext cx="146075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สงครามราคาในประเทศ</a:t>
            </a:r>
          </a:p>
        </p:txBody>
      </p:sp>
      <p:sp>
        <p:nvSpPr>
          <p:cNvPr id="369" name="text367"/>
          <p:cNvSpPr txBox="1"/>
          <p:nvPr/>
        </p:nvSpPr>
        <p:spPr>
          <a:xfrm>
            <a:off x="1990725" y="5954911"/>
            <a:ext cx="238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.06</a:t>
            </a:r>
          </a:p>
        </p:txBody>
      </p:sp>
      <p:sp>
        <p:nvSpPr>
          <p:cNvPr id="370" name="text368"/>
          <p:cNvSpPr txBox="1"/>
          <p:nvPr/>
        </p:nvSpPr>
        <p:spPr>
          <a:xfrm>
            <a:off x="2281238" y="5954911"/>
            <a:ext cx="133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71" name="text369"/>
          <p:cNvSpPr txBox="1"/>
          <p:nvPr/>
        </p:nvSpPr>
        <p:spPr>
          <a:xfrm>
            <a:off x="2414588" y="5954911"/>
            <a:ext cx="333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0.12</a:t>
            </a:r>
          </a:p>
        </p:txBody>
      </p:sp>
      <p:sp>
        <p:nvSpPr>
          <p:cNvPr id="372" name="text370"/>
          <p:cNvSpPr txBox="1"/>
          <p:nvPr/>
        </p:nvSpPr>
        <p:spPr>
          <a:xfrm>
            <a:off x="2838450" y="5982444"/>
            <a:ext cx="1238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73" name="text371"/>
          <p:cNvSpPr txBox="1"/>
          <p:nvPr/>
        </p:nvSpPr>
        <p:spPr>
          <a:xfrm>
            <a:off x="571500" y="6245572"/>
            <a:ext cx="802386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คะแนนรวม</a:t>
            </a:r>
          </a:p>
        </p:txBody>
      </p:sp>
      <p:sp>
        <p:nvSpPr>
          <p:cNvPr id="374" name="text372"/>
          <p:cNvSpPr txBox="1"/>
          <p:nvPr/>
        </p:nvSpPr>
        <p:spPr>
          <a:xfrm>
            <a:off x="1933575" y="6245572"/>
            <a:ext cx="35242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1.00</a:t>
            </a:r>
          </a:p>
        </p:txBody>
      </p:sp>
      <p:sp>
        <p:nvSpPr>
          <p:cNvPr id="375" name="text373"/>
          <p:cNvSpPr txBox="1"/>
          <p:nvPr/>
        </p:nvSpPr>
        <p:spPr>
          <a:xfrm>
            <a:off x="2409825" y="6245572"/>
            <a:ext cx="34290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3.22</a:t>
            </a:r>
          </a:p>
        </p:txBody>
      </p:sp>
      <p:sp>
        <p:nvSpPr>
          <p:cNvPr id="376" name="text374"/>
          <p:cNvSpPr txBox="1"/>
          <p:nvPr/>
        </p:nvSpPr>
        <p:spPr>
          <a:xfrm>
            <a:off x="295275" y="6608564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สั้น</a:t>
            </a:r>
          </a:p>
        </p:txBody>
      </p:sp>
      <p:sp>
        <p:nvSpPr>
          <p:cNvPr id="377" name="text375"/>
          <p:cNvSpPr txBox="1"/>
          <p:nvPr/>
        </p:nvSpPr>
        <p:spPr>
          <a:xfrm>
            <a:off x="742950" y="6608564"/>
            <a:ext cx="419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กลาง</a:t>
            </a:r>
          </a:p>
        </p:txBody>
      </p:sp>
      <p:sp>
        <p:nvSpPr>
          <p:cNvPr id="378" name="text376"/>
          <p:cNvSpPr txBox="1"/>
          <p:nvPr/>
        </p:nvSpPr>
        <p:spPr>
          <a:xfrm>
            <a:off x="1266825" y="6608564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ยาว</a:t>
            </a:r>
          </a:p>
        </p:txBody>
      </p:sp>
      <p:sp>
        <p:nvSpPr>
          <p:cNvPr id="379" name="text377"/>
          <p:cNvSpPr txBox="1"/>
          <p:nvPr/>
        </p:nvSpPr>
        <p:spPr>
          <a:xfrm>
            <a:off x="381000" y="6928842"/>
            <a:ext cx="119329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ทิศทางกลยุทธ์</a:t>
            </a:r>
          </a:p>
        </p:txBody>
      </p:sp>
      <p:sp>
        <p:nvSpPr>
          <p:cNvPr id="380" name="text378"/>
          <p:cNvSpPr txBox="1"/>
          <p:nvPr/>
        </p:nvSpPr>
        <p:spPr>
          <a:xfrm>
            <a:off x="400050" y="7264003"/>
            <a:ext cx="260261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1.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S1 S2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หาลูกค้าใหม่ ลด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W1 T1</a:t>
            </a:r>
          </a:p>
        </p:txBody>
      </p:sp>
      <p:sp>
        <p:nvSpPr>
          <p:cNvPr id="381" name="text379"/>
          <p:cNvSpPr txBox="1"/>
          <p:nvPr/>
        </p:nvSpPr>
        <p:spPr>
          <a:xfrm>
            <a:off x="400050" y="7547818"/>
            <a:ext cx="2232279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ผลิตตามคำสั่งซื้อ แก้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W2 W3</a:t>
            </a:r>
          </a:p>
        </p:txBody>
      </p:sp>
      <p:sp>
        <p:nvSpPr>
          <p:cNvPr id="382" name="text380"/>
          <p:cNvSpPr txBox="1"/>
          <p:nvPr/>
        </p:nvSpPr>
        <p:spPr>
          <a:xfrm>
            <a:off x="400050" y="7831634"/>
            <a:ext cx="1944243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O1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ต่อยอด “ผ้าม่าน”</a:t>
            </a:r>
          </a:p>
        </p:txBody>
      </p:sp>
      <p:sp>
        <p:nvSpPr>
          <p:cNvPr id="383" name="text381"/>
          <p:cNvSpPr txBox="1"/>
          <p:nvPr/>
        </p:nvSpPr>
        <p:spPr>
          <a:xfrm>
            <a:off x="295275" y="10235952"/>
            <a:ext cx="98755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 สิ่งทอรักษ์โลก</a:t>
            </a:r>
          </a:p>
        </p:txBody>
      </p:sp>
      <p:sp>
        <p:nvSpPr>
          <p:cNvPr id="384" name="text382"/>
          <p:cNvSpPr txBox="1"/>
          <p:nvPr/>
        </p:nvSpPr>
        <p:spPr>
          <a:xfrm>
            <a:off x="1733550" y="10235952"/>
            <a:ext cx="94640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 ชุดเฉพาะทาง</a:t>
            </a:r>
          </a:p>
        </p:txBody>
      </p:sp>
      <p:sp>
        <p:nvSpPr>
          <p:cNvPr id="385" name="text383"/>
          <p:cNvSpPr txBox="1"/>
          <p:nvPr/>
        </p:nvSpPr>
        <p:spPr>
          <a:xfrm>
            <a:off x="3705225" y="1209675"/>
            <a:ext cx="62865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86" name="text384"/>
          <p:cNvSpPr txBox="1"/>
          <p:nvPr/>
        </p:nvSpPr>
        <p:spPr>
          <a:xfrm>
            <a:off x="4676775" y="1209675"/>
            <a:ext cx="50482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87" name="text385"/>
          <p:cNvSpPr txBox="1"/>
          <p:nvPr/>
        </p:nvSpPr>
        <p:spPr>
          <a:xfrm>
            <a:off x="5524500" y="1209675"/>
            <a:ext cx="3075813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หน้าที่ — กลยุทธ์และการนำไปปฏิบัติ</a:t>
            </a:r>
          </a:p>
        </p:txBody>
      </p:sp>
      <p:sp>
        <p:nvSpPr>
          <p:cNvPr id="388" name="text386"/>
          <p:cNvSpPr txBox="1"/>
          <p:nvPr/>
        </p:nvSpPr>
        <p:spPr>
          <a:xfrm>
            <a:off x="3438525" y="1248370"/>
            <a:ext cx="13335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389" name="text387"/>
          <p:cNvSpPr txBox="1"/>
          <p:nvPr/>
        </p:nvSpPr>
        <p:spPr>
          <a:xfrm>
            <a:off x="4410075" y="1248370"/>
            <a:ext cx="13335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390" name="text388"/>
          <p:cNvSpPr txBox="1"/>
          <p:nvPr/>
        </p:nvSpPr>
        <p:spPr>
          <a:xfrm>
            <a:off x="5257800" y="1248370"/>
            <a:ext cx="13335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391" name="text389"/>
          <p:cNvSpPr txBox="1"/>
          <p:nvPr/>
        </p:nvSpPr>
        <p:spPr>
          <a:xfrm>
            <a:off x="3352800" y="1656755"/>
            <a:ext cx="57150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92" name="text390"/>
          <p:cNvSpPr txBox="1"/>
          <p:nvPr/>
        </p:nvSpPr>
        <p:spPr>
          <a:xfrm>
            <a:off x="4953000" y="1576834"/>
            <a:ext cx="89496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2569–2570</a:t>
            </a:r>
          </a:p>
        </p:txBody>
      </p:sp>
      <p:sp>
        <p:nvSpPr>
          <p:cNvPr id="393" name="text391"/>
          <p:cNvSpPr txBox="1"/>
          <p:nvPr/>
        </p:nvSpPr>
        <p:spPr>
          <a:xfrm>
            <a:off x="4953000" y="1801564"/>
            <a:ext cx="7239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ฟื้นธุรกิจเดิม</a:t>
            </a:r>
          </a:p>
        </p:txBody>
      </p:sp>
      <p:sp>
        <p:nvSpPr>
          <p:cNvPr id="394" name="text392"/>
          <p:cNvSpPr txBox="1"/>
          <p:nvPr/>
        </p:nvSpPr>
        <p:spPr>
          <a:xfrm>
            <a:off x="6605588" y="1576834"/>
            <a:ext cx="3714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395" name="text393"/>
          <p:cNvSpPr txBox="1"/>
          <p:nvPr/>
        </p:nvSpPr>
        <p:spPr>
          <a:xfrm>
            <a:off x="6605588" y="1801564"/>
            <a:ext cx="80238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นำร่องผ้าม่าน</a:t>
            </a:r>
          </a:p>
        </p:txBody>
      </p:sp>
      <p:sp>
        <p:nvSpPr>
          <p:cNvPr id="396" name="text394"/>
          <p:cNvSpPr txBox="1"/>
          <p:nvPr/>
        </p:nvSpPr>
        <p:spPr>
          <a:xfrm>
            <a:off x="8205788" y="1576834"/>
            <a:ext cx="843534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2572–2573</a:t>
            </a:r>
          </a:p>
        </p:txBody>
      </p:sp>
      <p:sp>
        <p:nvSpPr>
          <p:cNvPr id="397" name="text395"/>
          <p:cNvSpPr txBox="1"/>
          <p:nvPr/>
        </p:nvSpPr>
        <p:spPr>
          <a:xfrm>
            <a:off x="8205788" y="1801564"/>
            <a:ext cx="86410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ขยายธุรกิจใหม่</a:t>
            </a:r>
          </a:p>
        </p:txBody>
      </p:sp>
      <p:sp>
        <p:nvSpPr>
          <p:cNvPr id="398" name="text396"/>
          <p:cNvSpPr txBox="1"/>
          <p:nvPr/>
        </p:nvSpPr>
        <p:spPr>
          <a:xfrm>
            <a:off x="9858375" y="1656755"/>
            <a:ext cx="5619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ตัวชี้วัด</a:t>
            </a:r>
          </a:p>
        </p:txBody>
      </p:sp>
      <p:sp>
        <p:nvSpPr>
          <p:cNvPr id="399" name="text397"/>
          <p:cNvSpPr txBox="1"/>
          <p:nvPr/>
        </p:nvSpPr>
        <p:spPr>
          <a:xfrm>
            <a:off x="3352800" y="2313831"/>
            <a:ext cx="89496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② ระดับองค์กร</a:t>
            </a:r>
          </a:p>
        </p:txBody>
      </p:sp>
      <p:sp>
        <p:nvSpPr>
          <p:cNvPr id="400" name="text398"/>
          <p:cNvSpPr txBox="1"/>
          <p:nvPr/>
        </p:nvSpPr>
        <p:spPr>
          <a:xfrm>
            <a:off x="3352800" y="2476054"/>
            <a:ext cx="138874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Growth Strategy</a:t>
            </a:r>
          </a:p>
        </p:txBody>
      </p:sp>
      <p:sp>
        <p:nvSpPr>
          <p:cNvPr id="401" name="text399"/>
          <p:cNvSpPr txBox="1"/>
          <p:nvPr/>
        </p:nvSpPr>
        <p:spPr>
          <a:xfrm>
            <a:off x="3371850" y="2729359"/>
            <a:ext cx="1809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02" name="text400"/>
          <p:cNvSpPr txBox="1"/>
          <p:nvPr/>
        </p:nvSpPr>
        <p:spPr>
          <a:xfrm>
            <a:off x="3619500" y="2729359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03" name="text401"/>
          <p:cNvSpPr txBox="1"/>
          <p:nvPr/>
        </p:nvSpPr>
        <p:spPr>
          <a:xfrm>
            <a:off x="3886200" y="2729359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04" name="text402"/>
          <p:cNvSpPr txBox="1"/>
          <p:nvPr/>
        </p:nvSpPr>
        <p:spPr>
          <a:xfrm>
            <a:off x="4171950" y="2729359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05" name="text403"/>
          <p:cNvSpPr txBox="1"/>
          <p:nvPr/>
        </p:nvSpPr>
        <p:spPr>
          <a:xfrm>
            <a:off x="3409950" y="2932807"/>
            <a:ext cx="3143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06" name="text404"/>
          <p:cNvSpPr txBox="1"/>
          <p:nvPr/>
        </p:nvSpPr>
        <p:spPr>
          <a:xfrm>
            <a:off x="4953000" y="2317254"/>
            <a:ext cx="1509712" cy="811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Horizontal Growth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ขยายลูกค้า OEM/ODM ในและต่างประเทศ ลดสต็อก เพิ่มกำไร</a:t>
            </a:r>
          </a:p>
        </p:txBody>
      </p:sp>
      <p:sp>
        <p:nvSpPr>
          <p:cNvPr id="407" name="text405"/>
          <p:cNvSpPr txBox="1"/>
          <p:nvPr/>
        </p:nvSpPr>
        <p:spPr>
          <a:xfrm>
            <a:off x="6605588" y="2312491"/>
            <a:ext cx="1457325" cy="8213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เริ่ม </a:t>
            </a: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Concentric Diversification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นำร่องผ้าม่านกับพันธมิตร</a:t>
            </a:r>
          </a:p>
        </p:txBody>
      </p:sp>
      <p:sp>
        <p:nvSpPr>
          <p:cNvPr id="408" name="text406"/>
          <p:cNvSpPr txBox="1"/>
          <p:nvPr/>
        </p:nvSpPr>
        <p:spPr>
          <a:xfrm>
            <a:off x="8205788" y="2422327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ขยายสิ่งทอตกแต่งอาคาร (ปลอกหมอน ผ้าคลุมเตียง)</a:t>
            </a:r>
          </a:p>
        </p:txBody>
      </p:sp>
      <p:sp>
        <p:nvSpPr>
          <p:cNvPr id="409" name="text407"/>
          <p:cNvSpPr txBox="1"/>
          <p:nvPr/>
        </p:nvSpPr>
        <p:spPr>
          <a:xfrm>
            <a:off x="9858375" y="2518023"/>
            <a:ext cx="18310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 กำไร เงินสดเพิ่มขึ้น</a:t>
            </a:r>
          </a:p>
        </p:txBody>
      </p:sp>
      <p:sp>
        <p:nvSpPr>
          <p:cNvPr id="410" name="text408"/>
          <p:cNvSpPr txBox="1"/>
          <p:nvPr/>
        </p:nvSpPr>
        <p:spPr>
          <a:xfrm>
            <a:off x="9858375" y="2728317"/>
            <a:ext cx="14813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พึ่งพาลูกค้าหลักลดลง</a:t>
            </a:r>
          </a:p>
        </p:txBody>
      </p:sp>
      <p:sp>
        <p:nvSpPr>
          <p:cNvPr id="411" name="text409"/>
          <p:cNvSpPr txBox="1"/>
          <p:nvPr/>
        </p:nvSpPr>
        <p:spPr>
          <a:xfrm>
            <a:off x="3352800" y="3716685"/>
            <a:ext cx="79209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③ ระดับธุรกิจ</a:t>
            </a:r>
          </a:p>
        </p:txBody>
      </p:sp>
      <p:sp>
        <p:nvSpPr>
          <p:cNvPr id="412" name="text410"/>
          <p:cNvSpPr txBox="1"/>
          <p:nvPr/>
        </p:nvSpPr>
        <p:spPr>
          <a:xfrm>
            <a:off x="3352800" y="3878907"/>
            <a:ext cx="1296162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Differentiation</a:t>
            </a:r>
          </a:p>
        </p:txBody>
      </p:sp>
      <p:sp>
        <p:nvSpPr>
          <p:cNvPr id="413" name="text411"/>
          <p:cNvSpPr txBox="1"/>
          <p:nvPr/>
        </p:nvSpPr>
        <p:spPr>
          <a:xfrm>
            <a:off x="3371850" y="4132213"/>
            <a:ext cx="1809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14" name="text412"/>
          <p:cNvSpPr txBox="1"/>
          <p:nvPr/>
        </p:nvSpPr>
        <p:spPr>
          <a:xfrm>
            <a:off x="3619500" y="4132213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15" name="text413"/>
          <p:cNvSpPr txBox="1"/>
          <p:nvPr/>
        </p:nvSpPr>
        <p:spPr>
          <a:xfrm>
            <a:off x="3886200" y="4132213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16" name="text414"/>
          <p:cNvSpPr txBox="1"/>
          <p:nvPr/>
        </p:nvSpPr>
        <p:spPr>
          <a:xfrm>
            <a:off x="4152900" y="4132213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17" name="text415"/>
          <p:cNvSpPr txBox="1"/>
          <p:nvPr/>
        </p:nvSpPr>
        <p:spPr>
          <a:xfrm>
            <a:off x="3409950" y="4335661"/>
            <a:ext cx="3143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18" name="text416"/>
          <p:cNvSpPr txBox="1"/>
          <p:nvPr/>
        </p:nvSpPr>
        <p:spPr>
          <a:xfrm>
            <a:off x="4953000" y="3825180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ข้อเสนอเฉพาะกลุ่มลูกค้า: คุณภาพ ดีไซน์ วัสดุมีใบรับรอง ODM ครบวงจร</a:t>
            </a:r>
          </a:p>
        </p:txBody>
      </p:sp>
      <p:sp>
        <p:nvSpPr>
          <p:cNvPr id="419" name="text417"/>
          <p:cNvSpPr txBox="1"/>
          <p:nvPr/>
        </p:nvSpPr>
        <p:spPr>
          <a:xfrm>
            <a:off x="6605588" y="3925491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ปรับข้อเสนอสำหรับลูกค้าโครงการผ้าม่าน</a:t>
            </a:r>
          </a:p>
        </p:txBody>
      </p:sp>
      <p:sp>
        <p:nvSpPr>
          <p:cNvPr id="420" name="text418"/>
          <p:cNvSpPr txBox="1"/>
          <p:nvPr/>
        </p:nvSpPr>
        <p:spPr>
          <a:xfrm>
            <a:off x="8205788" y="3825180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ขายตรงองค์กร + ผู้จัดจำหน่าย ตั้งราคาตามคุณค่า</a:t>
            </a:r>
          </a:p>
        </p:txBody>
      </p:sp>
      <p:sp>
        <p:nvSpPr>
          <p:cNvPr id="421" name="text419"/>
          <p:cNvSpPr txBox="1"/>
          <p:nvPr/>
        </p:nvSpPr>
        <p:spPr>
          <a:xfrm>
            <a:off x="9858375" y="3920728"/>
            <a:ext cx="17539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ใบเสนอราคา → คำสั่งซื้อ</a:t>
            </a:r>
          </a:p>
        </p:txBody>
      </p:sp>
      <p:sp>
        <p:nvSpPr>
          <p:cNvPr id="422" name="text420"/>
          <p:cNvSpPr txBox="1"/>
          <p:nvPr/>
        </p:nvSpPr>
        <p:spPr>
          <a:xfrm>
            <a:off x="9858375" y="4131022"/>
            <a:ext cx="146075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ความพึงพอใจ ซื้อซ้ำ</a:t>
            </a:r>
          </a:p>
        </p:txBody>
      </p:sp>
      <p:sp>
        <p:nvSpPr>
          <p:cNvPr id="423" name="text421"/>
          <p:cNvSpPr txBox="1"/>
          <p:nvPr/>
        </p:nvSpPr>
        <p:spPr>
          <a:xfrm>
            <a:off x="3352800" y="4937224"/>
            <a:ext cx="3404997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6"/>
              </a:lnSpc>
            </a:pP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④ กลยุทธ์ระดับหน้าที่ (Functional Strategy)</a:t>
            </a:r>
          </a:p>
        </p:txBody>
      </p:sp>
      <p:sp>
        <p:nvSpPr>
          <p:cNvPr id="424" name="text422"/>
          <p:cNvSpPr txBox="1"/>
          <p:nvPr/>
        </p:nvSpPr>
        <p:spPr>
          <a:xfrm>
            <a:off x="3352800" y="5634633"/>
            <a:ext cx="7334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การตลาด</a:t>
            </a:r>
          </a:p>
        </p:txBody>
      </p:sp>
      <p:sp>
        <p:nvSpPr>
          <p:cNvPr id="425" name="text423"/>
          <p:cNvSpPr txBox="1"/>
          <p:nvPr/>
        </p:nvSpPr>
        <p:spPr>
          <a:xfrm>
            <a:off x="3371850" y="5891064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26" name="text424"/>
          <p:cNvSpPr txBox="1"/>
          <p:nvPr/>
        </p:nvSpPr>
        <p:spPr>
          <a:xfrm>
            <a:off x="3657600" y="5891064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27" name="text425"/>
          <p:cNvSpPr txBox="1"/>
          <p:nvPr/>
        </p:nvSpPr>
        <p:spPr>
          <a:xfrm>
            <a:off x="3924300" y="5891064"/>
            <a:ext cx="2190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428" name="text426"/>
          <p:cNvSpPr txBox="1"/>
          <p:nvPr/>
        </p:nvSpPr>
        <p:spPr>
          <a:xfrm>
            <a:off x="4248150" y="5887938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3 ลบ.</a:t>
            </a:r>
          </a:p>
        </p:txBody>
      </p:sp>
      <p:sp>
        <p:nvSpPr>
          <p:cNvPr id="429" name="text427"/>
          <p:cNvSpPr txBox="1"/>
          <p:nvPr/>
        </p:nvSpPr>
        <p:spPr>
          <a:xfrm>
            <a:off x="4953000" y="5569744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หาลูกค้า OEM/ODM และเครื่องแบบองค์กร ศึกษาตลาดผ้าม่าน</a:t>
            </a:r>
          </a:p>
        </p:txBody>
      </p:sp>
      <p:sp>
        <p:nvSpPr>
          <p:cNvPr id="430" name="text428"/>
          <p:cNvSpPr txBox="1"/>
          <p:nvPr/>
        </p:nvSpPr>
        <p:spPr>
          <a:xfrm>
            <a:off x="6605588" y="5670203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ทดลองขายผ้าม่าน เก็บความเห็นลูกค้า</a:t>
            </a:r>
          </a:p>
        </p:txBody>
      </p:sp>
      <p:sp>
        <p:nvSpPr>
          <p:cNvPr id="431" name="text429"/>
          <p:cNvSpPr txBox="1"/>
          <p:nvPr/>
        </p:nvSpPr>
        <p:spPr>
          <a:xfrm>
            <a:off x="8205788" y="5670203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ขยายตลาด เพิ่มสินค้าเคหะสิ่งทอ</a:t>
            </a:r>
          </a:p>
        </p:txBody>
      </p:sp>
      <p:sp>
        <p:nvSpPr>
          <p:cNvPr id="432" name="text430"/>
          <p:cNvSpPr txBox="1"/>
          <p:nvPr/>
        </p:nvSpPr>
        <p:spPr>
          <a:xfrm>
            <a:off x="9858375" y="5665440"/>
            <a:ext cx="12858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ลูกค้าใหม่ที่ซื้อจริง</a:t>
            </a:r>
          </a:p>
        </p:txBody>
      </p:sp>
      <p:sp>
        <p:nvSpPr>
          <p:cNvPr id="433" name="text431"/>
          <p:cNvSpPr txBox="1"/>
          <p:nvPr/>
        </p:nvSpPr>
        <p:spPr>
          <a:xfrm>
            <a:off x="9858375" y="5875734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ยอดขายจากลูกค้าใหม่</a:t>
            </a:r>
          </a:p>
        </p:txBody>
      </p:sp>
      <p:sp>
        <p:nvSpPr>
          <p:cNvPr id="434" name="text432"/>
          <p:cNvSpPr txBox="1"/>
          <p:nvPr/>
        </p:nvSpPr>
        <p:spPr>
          <a:xfrm>
            <a:off x="3352800" y="6724055"/>
            <a:ext cx="5810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435" name="text433"/>
          <p:cNvSpPr txBox="1"/>
          <p:nvPr/>
        </p:nvSpPr>
        <p:spPr>
          <a:xfrm>
            <a:off x="3371850" y="6980486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436" name="text434"/>
          <p:cNvSpPr txBox="1"/>
          <p:nvPr/>
        </p:nvSpPr>
        <p:spPr>
          <a:xfrm>
            <a:off x="3638550" y="6980486"/>
            <a:ext cx="2381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37" name="text435"/>
          <p:cNvSpPr txBox="1"/>
          <p:nvPr/>
        </p:nvSpPr>
        <p:spPr>
          <a:xfrm>
            <a:off x="3981450" y="6977360"/>
            <a:ext cx="3143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38" name="text436"/>
          <p:cNvSpPr txBox="1"/>
          <p:nvPr/>
        </p:nvSpPr>
        <p:spPr>
          <a:xfrm>
            <a:off x="4953000" y="6659166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รายงานต้นทุน–เงินสดรายกลุ่มสินค้า เร่งเก็บหนี้ ลดเงินจมในสต็อก</a:t>
            </a:r>
          </a:p>
        </p:txBody>
      </p:sp>
      <p:sp>
        <p:nvSpPr>
          <p:cNvPr id="439" name="text437"/>
          <p:cNvSpPr txBox="1"/>
          <p:nvPr/>
        </p:nvSpPr>
        <p:spPr>
          <a:xfrm>
            <a:off x="6605588" y="6759625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ตั้งงบนำร่อง เงินมัดจำ งวดชำระ</a:t>
            </a:r>
          </a:p>
        </p:txBody>
      </p:sp>
      <p:sp>
        <p:nvSpPr>
          <p:cNvPr id="440" name="text438"/>
          <p:cNvSpPr txBox="1"/>
          <p:nvPr/>
        </p:nvSpPr>
        <p:spPr>
          <a:xfrm>
            <a:off x="8205788" y="6759625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ลงทุนเพิ่มตามผลและเงินสดจริง</a:t>
            </a:r>
          </a:p>
        </p:txBody>
      </p:sp>
      <p:sp>
        <p:nvSpPr>
          <p:cNvPr id="441" name="text439"/>
          <p:cNvSpPr txBox="1"/>
          <p:nvPr/>
        </p:nvSpPr>
        <p:spPr>
          <a:xfrm>
            <a:off x="9858375" y="6754862"/>
            <a:ext cx="109042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เงินสดเพียงพอ</a:t>
            </a:r>
          </a:p>
        </p:txBody>
      </p:sp>
      <p:sp>
        <p:nvSpPr>
          <p:cNvPr id="442" name="text440"/>
          <p:cNvSpPr txBox="1"/>
          <p:nvPr/>
        </p:nvSpPr>
        <p:spPr>
          <a:xfrm>
            <a:off x="9858375" y="6965156"/>
            <a:ext cx="169735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ผลจริงเทียบประมาณการ</a:t>
            </a:r>
          </a:p>
        </p:txBody>
      </p:sp>
      <p:sp>
        <p:nvSpPr>
          <p:cNvPr id="443" name="text441"/>
          <p:cNvSpPr txBox="1"/>
          <p:nvPr/>
        </p:nvSpPr>
        <p:spPr>
          <a:xfrm>
            <a:off x="3352800" y="7684294"/>
            <a:ext cx="110070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วิจัยและพัฒนา</a:t>
            </a:r>
          </a:p>
        </p:txBody>
      </p:sp>
      <p:sp>
        <p:nvSpPr>
          <p:cNvPr id="444" name="text442"/>
          <p:cNvSpPr txBox="1"/>
          <p:nvPr/>
        </p:nvSpPr>
        <p:spPr>
          <a:xfrm>
            <a:off x="3371850" y="7940725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45" name="text443"/>
          <p:cNvSpPr txBox="1"/>
          <p:nvPr/>
        </p:nvSpPr>
        <p:spPr>
          <a:xfrm>
            <a:off x="3638550" y="7940725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46" name="text444"/>
          <p:cNvSpPr txBox="1"/>
          <p:nvPr/>
        </p:nvSpPr>
        <p:spPr>
          <a:xfrm>
            <a:off x="3943350" y="793759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 ลบ.</a:t>
            </a:r>
          </a:p>
        </p:txBody>
      </p:sp>
      <p:sp>
        <p:nvSpPr>
          <p:cNvPr id="447" name="text445"/>
          <p:cNvSpPr txBox="1"/>
          <p:nvPr/>
        </p:nvSpPr>
        <p:spPr>
          <a:xfrm>
            <a:off x="4953000" y="7719864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พัฒนาเครื่องนุ่งห่มกับลูกค้า ทำต้นแบบผ้าม่าน</a:t>
            </a:r>
          </a:p>
        </p:txBody>
      </p:sp>
      <p:sp>
        <p:nvSpPr>
          <p:cNvPr id="448" name="text446"/>
          <p:cNvSpPr txBox="1"/>
          <p:nvPr/>
        </p:nvSpPr>
        <p:spPr>
          <a:xfrm>
            <a:off x="6605588" y="7719864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ทดสอบต้นแบบให้ผ่านข้อกำหนด</a:t>
            </a:r>
          </a:p>
        </p:txBody>
      </p:sp>
      <p:sp>
        <p:nvSpPr>
          <p:cNvPr id="449" name="text447"/>
          <p:cNvSpPr txBox="1"/>
          <p:nvPr/>
        </p:nvSpPr>
        <p:spPr>
          <a:xfrm>
            <a:off x="8205788" y="7719864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ปรับจากการใช้จริง ต่อยอดสินค้าใหม่</a:t>
            </a:r>
          </a:p>
        </p:txBody>
      </p:sp>
      <p:sp>
        <p:nvSpPr>
          <p:cNvPr id="450" name="text448"/>
          <p:cNvSpPr txBox="1"/>
          <p:nvPr/>
        </p:nvSpPr>
        <p:spPr>
          <a:xfrm>
            <a:off x="9858375" y="7715101"/>
            <a:ext cx="165620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ต้นแบบผ่านการทดสอบ</a:t>
            </a:r>
          </a:p>
        </p:txBody>
      </p:sp>
      <p:sp>
        <p:nvSpPr>
          <p:cNvPr id="451" name="text449"/>
          <p:cNvSpPr txBox="1"/>
          <p:nvPr/>
        </p:nvSpPr>
        <p:spPr>
          <a:xfrm>
            <a:off x="9858375" y="7925395"/>
            <a:ext cx="145046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ต้นแบบที่ได้คำสั่งซื้อ</a:t>
            </a:r>
          </a:p>
        </p:txBody>
      </p:sp>
      <p:sp>
        <p:nvSpPr>
          <p:cNvPr id="452" name="text450"/>
          <p:cNvSpPr txBox="1"/>
          <p:nvPr/>
        </p:nvSpPr>
        <p:spPr>
          <a:xfrm>
            <a:off x="3352800" y="8665964"/>
            <a:ext cx="108013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การดำเนินงาน</a:t>
            </a:r>
          </a:p>
        </p:txBody>
      </p:sp>
      <p:sp>
        <p:nvSpPr>
          <p:cNvPr id="453" name="text451"/>
          <p:cNvSpPr txBox="1"/>
          <p:nvPr/>
        </p:nvSpPr>
        <p:spPr>
          <a:xfrm>
            <a:off x="3371850" y="8922395"/>
            <a:ext cx="2381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54" name="text452"/>
          <p:cNvSpPr txBox="1"/>
          <p:nvPr/>
        </p:nvSpPr>
        <p:spPr>
          <a:xfrm>
            <a:off x="3676650" y="8922395"/>
            <a:ext cx="2381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55" name="text453"/>
          <p:cNvSpPr txBox="1"/>
          <p:nvPr/>
        </p:nvSpPr>
        <p:spPr>
          <a:xfrm>
            <a:off x="3981450" y="8922395"/>
            <a:ext cx="2000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56" name="text454"/>
          <p:cNvSpPr txBox="1"/>
          <p:nvPr/>
        </p:nvSpPr>
        <p:spPr>
          <a:xfrm>
            <a:off x="4286250" y="8919270"/>
            <a:ext cx="3524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4 ลบ.</a:t>
            </a:r>
          </a:p>
        </p:txBody>
      </p:sp>
      <p:sp>
        <p:nvSpPr>
          <p:cNvPr id="457" name="text455"/>
          <p:cNvSpPr txBox="1"/>
          <p:nvPr/>
        </p:nvSpPr>
        <p:spPr>
          <a:xfrm>
            <a:off x="4953000" y="8601075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ผลิตตามคำสั่งซื้อ ลดสต็อกเก่า ใช้ Semi-Automation จุดที่คุ้มค่า</a:t>
            </a:r>
          </a:p>
        </p:txBody>
      </p:sp>
      <p:sp>
        <p:nvSpPr>
          <p:cNvPr id="458" name="text456"/>
          <p:cNvSpPr txBox="1"/>
          <p:nvPr/>
        </p:nvSpPr>
        <p:spPr>
          <a:xfrm>
            <a:off x="6605588" y="8701534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ทดลองผลิต–ติดตั้งผ้าม่านกับพันธมิตร</a:t>
            </a:r>
          </a:p>
        </p:txBody>
      </p:sp>
      <p:sp>
        <p:nvSpPr>
          <p:cNvPr id="459" name="text457"/>
          <p:cNvSpPr txBox="1"/>
          <p:nvPr/>
        </p:nvSpPr>
        <p:spPr>
          <a:xfrm>
            <a:off x="8205788" y="8701534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เพิ่มกำลังผลิตตามคำสั่งซื้อจริง</a:t>
            </a:r>
          </a:p>
        </p:txBody>
      </p:sp>
      <p:sp>
        <p:nvSpPr>
          <p:cNvPr id="460" name="text458"/>
          <p:cNvSpPr txBox="1"/>
          <p:nvPr/>
        </p:nvSpPr>
        <p:spPr>
          <a:xfrm>
            <a:off x="9858375" y="8596312"/>
            <a:ext cx="17240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ต้นทุน/หน่วย ของเสียลดลง</a:t>
            </a:r>
          </a:p>
        </p:txBody>
      </p:sp>
      <p:sp>
        <p:nvSpPr>
          <p:cNvPr id="461" name="text459"/>
          <p:cNvSpPr txBox="1"/>
          <p:nvPr/>
        </p:nvSpPr>
        <p:spPr>
          <a:xfrm>
            <a:off x="9858375" y="9007376"/>
            <a:ext cx="113157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ส่งมอบตรงเวลา</a:t>
            </a:r>
          </a:p>
        </p:txBody>
      </p:sp>
      <p:sp>
        <p:nvSpPr>
          <p:cNvPr id="462" name="text460"/>
          <p:cNvSpPr txBox="1"/>
          <p:nvPr/>
        </p:nvSpPr>
        <p:spPr>
          <a:xfrm>
            <a:off x="3352800" y="9777115"/>
            <a:ext cx="120357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ทรัพยากรมนุษย์</a:t>
            </a:r>
          </a:p>
        </p:txBody>
      </p:sp>
      <p:sp>
        <p:nvSpPr>
          <p:cNvPr id="463" name="text461"/>
          <p:cNvSpPr txBox="1"/>
          <p:nvPr/>
        </p:nvSpPr>
        <p:spPr>
          <a:xfrm>
            <a:off x="3371850" y="10033546"/>
            <a:ext cx="2381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64" name="text462"/>
          <p:cNvSpPr txBox="1"/>
          <p:nvPr/>
        </p:nvSpPr>
        <p:spPr>
          <a:xfrm>
            <a:off x="3676650" y="10033546"/>
            <a:ext cx="1809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65" name="text463"/>
          <p:cNvSpPr txBox="1"/>
          <p:nvPr/>
        </p:nvSpPr>
        <p:spPr>
          <a:xfrm>
            <a:off x="3962400" y="10030420"/>
            <a:ext cx="3143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66" name="text464"/>
          <p:cNvSpPr txBox="1"/>
          <p:nvPr/>
        </p:nvSpPr>
        <p:spPr>
          <a:xfrm>
            <a:off x="4953000" y="9712226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อบรมขาย B2B ข้อมูล การผลิต ตั้งทีมข้ามสายงาน</a:t>
            </a:r>
          </a:p>
        </p:txBody>
      </p:sp>
      <p:sp>
        <p:nvSpPr>
          <p:cNvPr id="467" name="text465"/>
          <p:cNvSpPr txBox="1"/>
          <p:nvPr/>
        </p:nvSpPr>
        <p:spPr>
          <a:xfrm>
            <a:off x="6605588" y="9812685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ทีมเรียนรู้งานร่วมกับพันธมิตร</a:t>
            </a:r>
          </a:p>
        </p:txBody>
      </p:sp>
      <p:sp>
        <p:nvSpPr>
          <p:cNvPr id="468" name="text466"/>
          <p:cNvSpPr txBox="1"/>
          <p:nvPr/>
        </p:nvSpPr>
        <p:spPr>
          <a:xfrm>
            <a:off x="8205788" y="9812685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ทำคู่มือ รับบุคลากรเฉพาะทาง</a:t>
            </a:r>
          </a:p>
        </p:txBody>
      </p:sp>
      <p:sp>
        <p:nvSpPr>
          <p:cNvPr id="469" name="text467"/>
          <p:cNvSpPr txBox="1"/>
          <p:nvPr/>
        </p:nvSpPr>
        <p:spPr>
          <a:xfrm>
            <a:off x="9858375" y="9807922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ผ่านทดสอบหลังอบรม</a:t>
            </a:r>
          </a:p>
        </p:txBody>
      </p:sp>
      <p:sp>
        <p:nvSpPr>
          <p:cNvPr id="470" name="text468"/>
          <p:cNvSpPr txBox="1"/>
          <p:nvPr/>
        </p:nvSpPr>
        <p:spPr>
          <a:xfrm>
            <a:off x="9858375" y="10018216"/>
            <a:ext cx="123444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ข้อผิดพลาดลดลง</a:t>
            </a:r>
          </a:p>
        </p:txBody>
      </p:sp>
      <p:sp>
        <p:nvSpPr>
          <p:cNvPr id="471" name="text469"/>
          <p:cNvSpPr txBox="1"/>
          <p:nvPr/>
        </p:nvSpPr>
        <p:spPr>
          <a:xfrm>
            <a:off x="12192000" y="1209675"/>
            <a:ext cx="185166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การประเมินผล (BSC)</a:t>
            </a:r>
          </a:p>
        </p:txBody>
      </p:sp>
      <p:sp>
        <p:nvSpPr>
          <p:cNvPr id="472" name="text470"/>
          <p:cNvSpPr txBox="1"/>
          <p:nvPr/>
        </p:nvSpPr>
        <p:spPr>
          <a:xfrm>
            <a:off x="11925300" y="1248370"/>
            <a:ext cx="13335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473" name="text471"/>
          <p:cNvSpPr txBox="1"/>
          <p:nvPr/>
        </p:nvSpPr>
        <p:spPr>
          <a:xfrm>
            <a:off x="11963400" y="1662559"/>
            <a:ext cx="92583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ด้านการเงิน</a:t>
            </a:r>
          </a:p>
        </p:txBody>
      </p:sp>
      <p:sp>
        <p:nvSpPr>
          <p:cNvPr id="474" name="text472"/>
          <p:cNvSpPr txBox="1"/>
          <p:nvPr/>
        </p:nvSpPr>
        <p:spPr>
          <a:xfrm>
            <a:off x="12149882" y="2193727"/>
            <a:ext cx="52223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≥5%</a:t>
            </a:r>
          </a:p>
        </p:txBody>
      </p:sp>
      <p:sp>
        <p:nvSpPr>
          <p:cNvPr id="475" name="text473"/>
          <p:cNvSpPr txBox="1"/>
          <p:nvPr/>
        </p:nvSpPr>
        <p:spPr>
          <a:xfrm>
            <a:off x="12272962" y="2520851"/>
            <a:ext cx="2762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ต่อปี</a:t>
            </a:r>
          </a:p>
        </p:txBody>
      </p:sp>
      <p:sp>
        <p:nvSpPr>
          <p:cNvPr id="476" name="text474"/>
          <p:cNvSpPr txBox="1"/>
          <p:nvPr/>
        </p:nvSpPr>
        <p:spPr>
          <a:xfrm>
            <a:off x="12954000" y="2153692"/>
            <a:ext cx="99783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รายได้เติบโต</a:t>
            </a:r>
          </a:p>
        </p:txBody>
      </p:sp>
      <p:sp>
        <p:nvSpPr>
          <p:cNvPr id="477" name="text475"/>
          <p:cNvSpPr txBox="1"/>
          <p:nvPr/>
        </p:nvSpPr>
        <p:spPr>
          <a:xfrm>
            <a:off x="12954000" y="2368004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อัตราการเติบโตของรายได้จากการขาย</a:t>
            </a:r>
          </a:p>
        </p:txBody>
      </p:sp>
      <p:sp>
        <p:nvSpPr>
          <p:cNvPr id="478" name="text476"/>
          <p:cNvSpPr txBox="1"/>
          <p:nvPr/>
        </p:nvSpPr>
        <p:spPr>
          <a:xfrm>
            <a:off x="12258675" y="3004691"/>
            <a:ext cx="30480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+2</a:t>
            </a:r>
          </a:p>
        </p:txBody>
      </p:sp>
      <p:sp>
        <p:nvSpPr>
          <p:cNvPr id="479" name="text477"/>
          <p:cNvSpPr txBox="1"/>
          <p:nvPr/>
        </p:nvSpPr>
        <p:spPr>
          <a:xfrm>
            <a:off x="12139612" y="3331815"/>
            <a:ext cx="5429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จุด% ปี 73</a:t>
            </a:r>
          </a:p>
        </p:txBody>
      </p:sp>
      <p:sp>
        <p:nvSpPr>
          <p:cNvPr id="480" name="text478"/>
          <p:cNvSpPr txBox="1"/>
          <p:nvPr/>
        </p:nvSpPr>
        <p:spPr>
          <a:xfrm>
            <a:off x="12954000" y="2964656"/>
            <a:ext cx="762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กำไรดีขึ้น</a:t>
            </a:r>
          </a:p>
        </p:txBody>
      </p:sp>
      <p:sp>
        <p:nvSpPr>
          <p:cNvPr id="481" name="text479"/>
          <p:cNvSpPr txBox="1"/>
          <p:nvPr/>
        </p:nvSpPr>
        <p:spPr>
          <a:xfrm>
            <a:off x="12954000" y="3178969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อัตรากำไรขั้นต้นสูงกว่าปี 2568</a:t>
            </a:r>
          </a:p>
        </p:txBody>
      </p:sp>
      <p:sp>
        <p:nvSpPr>
          <p:cNvPr id="482" name="text480"/>
          <p:cNvSpPr txBox="1"/>
          <p:nvPr/>
        </p:nvSpPr>
        <p:spPr>
          <a:xfrm>
            <a:off x="11963400" y="3890070"/>
            <a:ext cx="77152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ด้านลูกค้า</a:t>
            </a:r>
          </a:p>
        </p:txBody>
      </p:sp>
      <p:sp>
        <p:nvSpPr>
          <p:cNvPr id="483" name="text481"/>
          <p:cNvSpPr txBox="1"/>
          <p:nvPr/>
        </p:nvSpPr>
        <p:spPr>
          <a:xfrm>
            <a:off x="12054632" y="4407991"/>
            <a:ext cx="71273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84" name="text482"/>
          <p:cNvSpPr txBox="1"/>
          <p:nvPr/>
        </p:nvSpPr>
        <p:spPr>
          <a:xfrm>
            <a:off x="12272962" y="4735116"/>
            <a:ext cx="2762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ต่อปี</a:t>
            </a:r>
          </a:p>
        </p:txBody>
      </p:sp>
      <p:sp>
        <p:nvSpPr>
          <p:cNvPr id="485" name="text483"/>
          <p:cNvSpPr txBox="1"/>
          <p:nvPr/>
        </p:nvSpPr>
        <p:spPr>
          <a:xfrm>
            <a:off x="12954000" y="4465290"/>
            <a:ext cx="1162431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รักษาลูกค้าเดิม</a:t>
            </a:r>
          </a:p>
        </p:txBody>
      </p:sp>
      <p:sp>
        <p:nvSpPr>
          <p:cNvPr id="486" name="text484"/>
          <p:cNvSpPr txBox="1"/>
          <p:nvPr/>
        </p:nvSpPr>
        <p:spPr>
          <a:xfrm>
            <a:off x="12954000" y="4679603"/>
            <a:ext cx="155333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ลูกค้าเดิมกลับมาสั่งซื้อซ้ำ</a:t>
            </a:r>
          </a:p>
        </p:txBody>
      </p:sp>
      <p:sp>
        <p:nvSpPr>
          <p:cNvPr id="487" name="text485"/>
          <p:cNvSpPr txBox="1"/>
          <p:nvPr/>
        </p:nvSpPr>
        <p:spPr>
          <a:xfrm>
            <a:off x="12245132" y="5205561"/>
            <a:ext cx="33173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≥5</a:t>
            </a:r>
          </a:p>
        </p:txBody>
      </p:sp>
      <p:sp>
        <p:nvSpPr>
          <p:cNvPr id="488" name="text486"/>
          <p:cNvSpPr txBox="1"/>
          <p:nvPr/>
        </p:nvSpPr>
        <p:spPr>
          <a:xfrm>
            <a:off x="12215812" y="5532686"/>
            <a:ext cx="3905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ราย/ปี</a:t>
            </a:r>
          </a:p>
        </p:txBody>
      </p:sp>
      <p:sp>
        <p:nvSpPr>
          <p:cNvPr id="489" name="text487"/>
          <p:cNvSpPr txBox="1"/>
          <p:nvPr/>
        </p:nvSpPr>
        <p:spPr>
          <a:xfrm>
            <a:off x="12954000" y="5165527"/>
            <a:ext cx="117271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ขยายลูกค้าใหม่</a:t>
            </a:r>
          </a:p>
        </p:txBody>
      </p:sp>
      <p:sp>
        <p:nvSpPr>
          <p:cNvPr id="490" name="text488"/>
          <p:cNvSpPr txBox="1"/>
          <p:nvPr/>
        </p:nvSpPr>
        <p:spPr>
          <a:xfrm>
            <a:off x="12954000" y="5379839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ลูกค้าใหม่ ≥5 ราย/ปี · ผ้าม่าน ≥3 ราย ปี 71</a:t>
            </a:r>
          </a:p>
        </p:txBody>
      </p:sp>
      <p:sp>
        <p:nvSpPr>
          <p:cNvPr id="491" name="text489"/>
          <p:cNvSpPr txBox="1"/>
          <p:nvPr/>
        </p:nvSpPr>
        <p:spPr>
          <a:xfrm>
            <a:off x="11963400" y="6117580"/>
            <a:ext cx="177965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ด้านกระบวนการภายใน</a:t>
            </a:r>
          </a:p>
        </p:txBody>
      </p:sp>
      <p:sp>
        <p:nvSpPr>
          <p:cNvPr id="492" name="text490"/>
          <p:cNvSpPr txBox="1"/>
          <p:nvPr/>
        </p:nvSpPr>
        <p:spPr>
          <a:xfrm>
            <a:off x="12106275" y="6675537"/>
            <a:ext cx="60960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–15%</a:t>
            </a:r>
          </a:p>
        </p:txBody>
      </p:sp>
      <p:sp>
        <p:nvSpPr>
          <p:cNvPr id="493" name="text491"/>
          <p:cNvSpPr txBox="1"/>
          <p:nvPr/>
        </p:nvSpPr>
        <p:spPr>
          <a:xfrm>
            <a:off x="12101512" y="7002661"/>
            <a:ext cx="619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ภายในปี 70</a:t>
            </a:r>
          </a:p>
        </p:txBody>
      </p:sp>
      <p:sp>
        <p:nvSpPr>
          <p:cNvPr id="494" name="text492"/>
          <p:cNvSpPr txBox="1"/>
          <p:nvPr/>
        </p:nvSpPr>
        <p:spPr>
          <a:xfrm>
            <a:off x="12954000" y="6635502"/>
            <a:ext cx="117271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ลดสินค้าคงคลัง</a:t>
            </a:r>
          </a:p>
        </p:txBody>
      </p:sp>
      <p:sp>
        <p:nvSpPr>
          <p:cNvPr id="495" name="text493"/>
          <p:cNvSpPr txBox="1"/>
          <p:nvPr/>
        </p:nvSpPr>
        <p:spPr>
          <a:xfrm>
            <a:off x="12954000" y="6849814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ระยะเวลาถือครองสต็อก เทียบปี 68</a:t>
            </a:r>
          </a:p>
        </p:txBody>
      </p:sp>
      <p:sp>
        <p:nvSpPr>
          <p:cNvPr id="496" name="text494"/>
          <p:cNvSpPr txBox="1"/>
          <p:nvPr/>
        </p:nvSpPr>
        <p:spPr>
          <a:xfrm>
            <a:off x="12073682" y="7473255"/>
            <a:ext cx="67463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≥95%</a:t>
            </a:r>
          </a:p>
        </p:txBody>
      </p:sp>
      <p:sp>
        <p:nvSpPr>
          <p:cNvPr id="497" name="text495"/>
          <p:cNvSpPr txBox="1"/>
          <p:nvPr/>
        </p:nvSpPr>
        <p:spPr>
          <a:xfrm>
            <a:off x="12120562" y="7800380"/>
            <a:ext cx="5810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ตั้งแต่ปี 70</a:t>
            </a:r>
          </a:p>
        </p:txBody>
      </p:sp>
      <p:sp>
        <p:nvSpPr>
          <p:cNvPr id="498" name="text496"/>
          <p:cNvSpPr txBox="1"/>
          <p:nvPr/>
        </p:nvSpPr>
        <p:spPr>
          <a:xfrm>
            <a:off x="12954000" y="7530554"/>
            <a:ext cx="121386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ส่งมอบตรงเวลา</a:t>
            </a:r>
          </a:p>
        </p:txBody>
      </p:sp>
      <p:sp>
        <p:nvSpPr>
          <p:cNvPr id="499" name="text497"/>
          <p:cNvSpPr txBox="1"/>
          <p:nvPr/>
        </p:nvSpPr>
        <p:spPr>
          <a:xfrm>
            <a:off x="12954000" y="7744867"/>
            <a:ext cx="184137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คำสั่งซื้อที่ส่งครบและตรงเวลา</a:t>
            </a:r>
          </a:p>
        </p:txBody>
      </p:sp>
      <p:sp>
        <p:nvSpPr>
          <p:cNvPr id="500" name="text498"/>
          <p:cNvSpPr txBox="1"/>
          <p:nvPr/>
        </p:nvSpPr>
        <p:spPr>
          <a:xfrm>
            <a:off x="11963400" y="8345091"/>
            <a:ext cx="224256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ด้านนวัตกรรมและการเรียนรู้</a:t>
            </a:r>
          </a:p>
        </p:txBody>
      </p:sp>
      <p:sp>
        <p:nvSpPr>
          <p:cNvPr id="501" name="text499"/>
          <p:cNvSpPr txBox="1"/>
          <p:nvPr/>
        </p:nvSpPr>
        <p:spPr>
          <a:xfrm>
            <a:off x="12225338" y="8889653"/>
            <a:ext cx="371475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Q2</a:t>
            </a:r>
          </a:p>
        </p:txBody>
      </p:sp>
      <p:sp>
        <p:nvSpPr>
          <p:cNvPr id="502" name="text500"/>
          <p:cNvSpPr txBox="1"/>
          <p:nvPr/>
        </p:nvSpPr>
        <p:spPr>
          <a:xfrm>
            <a:off x="12215812" y="9216777"/>
            <a:ext cx="3905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ปี 2571</a:t>
            </a:r>
          </a:p>
        </p:txBody>
      </p:sp>
      <p:sp>
        <p:nvSpPr>
          <p:cNvPr id="503" name="text501"/>
          <p:cNvSpPr txBox="1"/>
          <p:nvPr/>
        </p:nvSpPr>
        <p:spPr>
          <a:xfrm>
            <a:off x="12954000" y="8946952"/>
            <a:ext cx="1656207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ต้นแบบผ้าม่านพร้อม</a:t>
            </a:r>
          </a:p>
        </p:txBody>
      </p:sp>
      <p:sp>
        <p:nvSpPr>
          <p:cNvPr id="504" name="text502"/>
          <p:cNvSpPr txBox="1"/>
          <p:nvPr/>
        </p:nvSpPr>
        <p:spPr>
          <a:xfrm>
            <a:off x="12954000" y="9161264"/>
            <a:ext cx="19648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ผ่านข้อกำหนดก่อนทดลองขาย</a:t>
            </a:r>
          </a:p>
        </p:txBody>
      </p:sp>
      <p:sp>
        <p:nvSpPr>
          <p:cNvPr id="505" name="text503"/>
          <p:cNvSpPr txBox="1"/>
          <p:nvPr/>
        </p:nvSpPr>
        <p:spPr>
          <a:xfrm>
            <a:off x="12054632" y="9673828"/>
            <a:ext cx="71273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506" name="text504"/>
          <p:cNvSpPr txBox="1"/>
          <p:nvPr/>
        </p:nvSpPr>
        <p:spPr>
          <a:xfrm>
            <a:off x="12115800" y="10000952"/>
            <a:ext cx="5905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ผู้เข้าอบรม</a:t>
            </a:r>
          </a:p>
        </p:txBody>
      </p:sp>
      <p:sp>
        <p:nvSpPr>
          <p:cNvPr id="507" name="text505"/>
          <p:cNvSpPr txBox="1"/>
          <p:nvPr/>
        </p:nvSpPr>
        <p:spPr>
          <a:xfrm>
            <a:off x="12954000" y="9731127"/>
            <a:ext cx="117271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พนักงานพร้อม</a:t>
            </a:r>
          </a:p>
        </p:txBody>
      </p:sp>
      <p:sp>
        <p:nvSpPr>
          <p:cNvPr id="508" name="text506"/>
          <p:cNvSpPr txBox="1"/>
          <p:nvPr/>
        </p:nvSpPr>
        <p:spPr>
          <a:xfrm>
            <a:off x="12954000" y="9945439"/>
            <a:ext cx="162534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ผ่านการทดสอบหลังอบรม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